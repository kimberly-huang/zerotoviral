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Lst>
  <p:sldSz cx="9144000" cy="5143500"/>
  <p:notesSz cx="6858000" cy="9144000"/>
  <p:embeddedFontLst>
    <p:embeddedFont>
      <p:font typeface="Arimo" panose="020B0604020202020204"/>
      <p:regular r:id="rId51"/>
    </p:embeddedFont>
    <p:embeddedFont>
      <p:font typeface="Roboto Mono" panose="00000009000000000000"/>
      <p:regular r:id="rId52"/>
    </p:embeddedFont>
    <p:embeddedFont>
      <p:font typeface="Poppins" panose="00000800000000000000"/>
      <p:regular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4C7AD22-E1A8-4E6A-BEE9-2D009ED4B647}"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3" Type="http://schemas.openxmlformats.org/officeDocument/2006/relationships/font" Target="fonts/font3.fntdata"/><Relationship Id="rId52" Type="http://schemas.openxmlformats.org/officeDocument/2006/relationships/font" Target="fonts/font2.fntdata"/><Relationship Id="rId51" Type="http://schemas.openxmlformats.org/officeDocument/2006/relationships/font" Target="fonts/font1.fntdata"/><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 name="Shape 52"/>
        <p:cNvGrpSpPr/>
        <p:nvPr/>
      </p:nvGrpSpPr>
      <p:grpSpPr>
        <a:xfrm>
          <a:off x="0" y="0"/>
          <a:ext cx="0" cy="0"/>
          <a:chOff x="0" y="0"/>
          <a:chExt cx="0" cy="0"/>
        </a:xfrm>
      </p:grpSpPr>
      <p:sp>
        <p:nvSpPr>
          <p:cNvPr id="53" name="Google Shape;53;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 name="Shape 58"/>
        <p:cNvGrpSpPr/>
        <p:nvPr/>
      </p:nvGrpSpPr>
      <p:grpSpPr>
        <a:xfrm>
          <a:off x="0" y="0"/>
          <a:ext cx="0" cy="0"/>
          <a:chOff x="0" y="0"/>
          <a:chExt cx="0" cy="0"/>
        </a:xfrm>
      </p:grpSpPr>
      <p:sp>
        <p:nvSpPr>
          <p:cNvPr id="59" name="Google Shape;59;g3976bab01d0_4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0" name="Google Shape;60;g3976bab01d0_4_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 name="Shape 72"/>
        <p:cNvGrpSpPr/>
        <p:nvPr/>
      </p:nvGrpSpPr>
      <p:grpSpPr>
        <a:xfrm>
          <a:off x="0" y="0"/>
          <a:ext cx="0" cy="0"/>
          <a:chOff x="0" y="0"/>
          <a:chExt cx="0" cy="0"/>
        </a:xfrm>
      </p:grpSpPr>
      <p:sp>
        <p:nvSpPr>
          <p:cNvPr id="73" name="Google Shape;73;g397776817e9_0_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97776817e9_0_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 name="Shape 77"/>
        <p:cNvGrpSpPr/>
        <p:nvPr/>
      </p:nvGrpSpPr>
      <p:grpSpPr>
        <a:xfrm>
          <a:off x="0" y="0"/>
          <a:ext cx="0" cy="0"/>
          <a:chOff x="0" y="0"/>
          <a:chExt cx="0" cy="0"/>
        </a:xfrm>
      </p:grpSpPr>
      <p:sp>
        <p:nvSpPr>
          <p:cNvPr id="78" name="Google Shape;78;g3d7561d9078_0_5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d7561d9078_0_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g3d7561d9078_0_8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d7561d9078_0_8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 name="Shape 87"/>
        <p:cNvGrpSpPr/>
        <p:nvPr/>
      </p:nvGrpSpPr>
      <p:grpSpPr>
        <a:xfrm>
          <a:off x="0" y="0"/>
          <a:ext cx="0" cy="0"/>
          <a:chOff x="0" y="0"/>
          <a:chExt cx="0" cy="0"/>
        </a:xfrm>
      </p:grpSpPr>
      <p:sp>
        <p:nvSpPr>
          <p:cNvPr id="88" name="Google Shape;88;g3d7561d9078_0_9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d7561d9078_0_9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 name="Shape 92"/>
        <p:cNvGrpSpPr/>
        <p:nvPr/>
      </p:nvGrpSpPr>
      <p:grpSpPr>
        <a:xfrm>
          <a:off x="0" y="0"/>
          <a:ext cx="0" cy="0"/>
          <a:chOff x="0" y="0"/>
          <a:chExt cx="0" cy="0"/>
        </a:xfrm>
      </p:grpSpPr>
      <p:sp>
        <p:nvSpPr>
          <p:cNvPr id="93" name="Google Shape;93;g3d7561d9078_0_9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d7561d9078_0_9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97"/>
        <p:cNvGrpSpPr/>
        <p:nvPr/>
      </p:nvGrpSpPr>
      <p:grpSpPr>
        <a:xfrm>
          <a:off x="0" y="0"/>
          <a:ext cx="0" cy="0"/>
          <a:chOff x="0" y="0"/>
          <a:chExt cx="0" cy="0"/>
        </a:xfrm>
      </p:grpSpPr>
      <p:sp>
        <p:nvSpPr>
          <p:cNvPr id="98" name="Google Shape;98;g3d7561d9078_0_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d7561d9078_0_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g3d7561d9078_0_7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d7561d9078_0_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 name="Shape 107"/>
        <p:cNvGrpSpPr/>
        <p:nvPr/>
      </p:nvGrpSpPr>
      <p:grpSpPr>
        <a:xfrm>
          <a:off x="0" y="0"/>
          <a:ext cx="0" cy="0"/>
          <a:chOff x="0" y="0"/>
          <a:chExt cx="0" cy="0"/>
        </a:xfrm>
      </p:grpSpPr>
      <p:sp>
        <p:nvSpPr>
          <p:cNvPr id="108" name="Google Shape;108;g3976ae56828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976ae56828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 name="Shape 117"/>
        <p:cNvGrpSpPr/>
        <p:nvPr/>
      </p:nvGrpSpPr>
      <p:grpSpPr>
        <a:xfrm>
          <a:off x="0" y="0"/>
          <a:ext cx="0" cy="0"/>
          <a:chOff x="0" y="0"/>
          <a:chExt cx="0" cy="0"/>
        </a:xfrm>
      </p:grpSpPr>
      <p:sp>
        <p:nvSpPr>
          <p:cNvPr id="118" name="Google Shape;118;g3d7561d9078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d7561d9078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g3d7561d9078_0_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d7561d9078_0_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g3976ae56828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976ae56828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g39778e2df8a_30_7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9778e2df8a_30_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176"/>
        <p:cNvGrpSpPr/>
        <p:nvPr/>
      </p:nvGrpSpPr>
      <p:grpSpPr>
        <a:xfrm>
          <a:off x="0" y="0"/>
          <a:ext cx="0" cy="0"/>
          <a:chOff x="0" y="0"/>
          <a:chExt cx="0" cy="0"/>
        </a:xfrm>
      </p:grpSpPr>
      <p:sp>
        <p:nvSpPr>
          <p:cNvPr id="177" name="Google Shape;177;g39778e2df8a_30_3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9778e2df8a_30_3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g39778e2df8a_30_48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9778e2df8a_30_4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9" name="Shape 229"/>
        <p:cNvGrpSpPr/>
        <p:nvPr/>
      </p:nvGrpSpPr>
      <p:grpSpPr>
        <a:xfrm>
          <a:off x="0" y="0"/>
          <a:ext cx="0" cy="0"/>
          <a:chOff x="0" y="0"/>
          <a:chExt cx="0" cy="0"/>
        </a:xfrm>
      </p:grpSpPr>
      <p:sp>
        <p:nvSpPr>
          <p:cNvPr id="230" name="Google Shape;230;g3d75a2a2459_1_0:notes"/>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d75a2a2459_1_0:notes"/>
          <p:cNvSpPr txBox="1"/>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2" name="Google Shape;232;g3d75a2a2459_1_0:notes"/>
          <p:cNvSpPr txBox="1"/>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268"/>
        <p:cNvGrpSpPr/>
        <p:nvPr/>
      </p:nvGrpSpPr>
      <p:grpSpPr>
        <a:xfrm>
          <a:off x="0" y="0"/>
          <a:ext cx="0" cy="0"/>
          <a:chOff x="0" y="0"/>
          <a:chExt cx="0" cy="0"/>
        </a:xfrm>
      </p:grpSpPr>
      <p:sp>
        <p:nvSpPr>
          <p:cNvPr id="269" name="Google Shape;269;g3d75a2a2459_1_38:notes"/>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3d75a2a2459_1_38:notes"/>
          <p:cNvSpPr txBox="1"/>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1" name="Google Shape;271;g3d75a2a2459_1_38:notes"/>
          <p:cNvSpPr txBox="1"/>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4" name="Shape 294"/>
        <p:cNvGrpSpPr/>
        <p:nvPr/>
      </p:nvGrpSpPr>
      <p:grpSpPr>
        <a:xfrm>
          <a:off x="0" y="0"/>
          <a:ext cx="0" cy="0"/>
          <a:chOff x="0" y="0"/>
          <a:chExt cx="0" cy="0"/>
        </a:xfrm>
      </p:grpSpPr>
      <p:sp>
        <p:nvSpPr>
          <p:cNvPr id="295" name="Google Shape;295;g3d75a2a2459_1_63:notes"/>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g3d75a2a2459_1_63:notes"/>
          <p:cNvSpPr txBox="1"/>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7" name="Google Shape;297;g3d75a2a2459_1_63:notes"/>
          <p:cNvSpPr txBox="1"/>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6" name="Shape 316"/>
        <p:cNvGrpSpPr/>
        <p:nvPr/>
      </p:nvGrpSpPr>
      <p:grpSpPr>
        <a:xfrm>
          <a:off x="0" y="0"/>
          <a:ext cx="0" cy="0"/>
          <a:chOff x="0" y="0"/>
          <a:chExt cx="0" cy="0"/>
        </a:xfrm>
      </p:grpSpPr>
      <p:sp>
        <p:nvSpPr>
          <p:cNvPr id="317" name="Google Shape;317;g3d75a2a2459_1_84:notes"/>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3d75a2a2459_1_84:notes"/>
          <p:cNvSpPr txBox="1"/>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9" name="Google Shape;319;g3d75a2a2459_1_84:notes"/>
          <p:cNvSpPr txBox="1"/>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1" name="Shape 331"/>
        <p:cNvGrpSpPr/>
        <p:nvPr/>
      </p:nvGrpSpPr>
      <p:grpSpPr>
        <a:xfrm>
          <a:off x="0" y="0"/>
          <a:ext cx="0" cy="0"/>
          <a:chOff x="0" y="0"/>
          <a:chExt cx="0" cy="0"/>
        </a:xfrm>
      </p:grpSpPr>
      <p:sp>
        <p:nvSpPr>
          <p:cNvPr id="332" name="Google Shape;332;g3d75a2a2459_1_113:notes"/>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g3d75a2a2459_1_113:notes"/>
          <p:cNvSpPr txBox="1"/>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4" name="Google Shape;334;g3d75a2a2459_1_113:notes"/>
          <p:cNvSpPr txBox="1"/>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7" name="Shape 347"/>
        <p:cNvGrpSpPr/>
        <p:nvPr/>
      </p:nvGrpSpPr>
      <p:grpSpPr>
        <a:xfrm>
          <a:off x="0" y="0"/>
          <a:ext cx="0" cy="0"/>
          <a:chOff x="0" y="0"/>
          <a:chExt cx="0" cy="0"/>
        </a:xfrm>
      </p:grpSpPr>
      <p:sp>
        <p:nvSpPr>
          <p:cNvPr id="348" name="Google Shape;348;g3d75a2a2459_1_128:notes"/>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g3d75a2a2459_1_128:notes"/>
          <p:cNvSpPr txBox="1"/>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0" name="Google Shape;350;g3d75a2a2459_1_128:notes"/>
          <p:cNvSpPr txBox="1"/>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5" name="Shape 375"/>
        <p:cNvGrpSpPr/>
        <p:nvPr/>
      </p:nvGrpSpPr>
      <p:grpSpPr>
        <a:xfrm>
          <a:off x="0" y="0"/>
          <a:ext cx="0" cy="0"/>
          <a:chOff x="0" y="0"/>
          <a:chExt cx="0" cy="0"/>
        </a:xfrm>
      </p:grpSpPr>
      <p:sp>
        <p:nvSpPr>
          <p:cNvPr id="376" name="Google Shape;376;g3976bab01d0_4_4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77" name="Google Shape;377;g3976bab01d0_4_4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0" name="Shape 410"/>
        <p:cNvGrpSpPr/>
        <p:nvPr/>
      </p:nvGrpSpPr>
      <p:grpSpPr>
        <a:xfrm>
          <a:off x="0" y="0"/>
          <a:ext cx="0" cy="0"/>
          <a:chOff x="0" y="0"/>
          <a:chExt cx="0" cy="0"/>
        </a:xfrm>
      </p:grpSpPr>
      <p:sp>
        <p:nvSpPr>
          <p:cNvPr id="411" name="Google Shape;411;g3976bab01d0_4_44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12" name="Google Shape;412;g3976bab01d0_4_44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6" name="Shape 466"/>
        <p:cNvGrpSpPr/>
        <p:nvPr/>
      </p:nvGrpSpPr>
      <p:grpSpPr>
        <a:xfrm>
          <a:off x="0" y="0"/>
          <a:ext cx="0" cy="0"/>
          <a:chOff x="0" y="0"/>
          <a:chExt cx="0" cy="0"/>
        </a:xfrm>
      </p:grpSpPr>
      <p:sp>
        <p:nvSpPr>
          <p:cNvPr id="467" name="Google Shape;467;g3976bab01d0_4_49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8" name="Google Shape;468;g3976bab01d0_4_49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2" name="Shape 482"/>
        <p:cNvGrpSpPr/>
        <p:nvPr/>
      </p:nvGrpSpPr>
      <p:grpSpPr>
        <a:xfrm>
          <a:off x="0" y="0"/>
          <a:ext cx="0" cy="0"/>
          <a:chOff x="0" y="0"/>
          <a:chExt cx="0" cy="0"/>
        </a:xfrm>
      </p:grpSpPr>
      <p:sp>
        <p:nvSpPr>
          <p:cNvPr id="483" name="Google Shape;483;g3976bab01d0_4_5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84" name="Google Shape;484;g3976bab01d0_4_5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6" name="Shape 516"/>
        <p:cNvGrpSpPr/>
        <p:nvPr/>
      </p:nvGrpSpPr>
      <p:grpSpPr>
        <a:xfrm>
          <a:off x="0" y="0"/>
          <a:ext cx="0" cy="0"/>
          <a:chOff x="0" y="0"/>
          <a:chExt cx="0" cy="0"/>
        </a:xfrm>
      </p:grpSpPr>
      <p:sp>
        <p:nvSpPr>
          <p:cNvPr id="517" name="Google Shape;517;g3d7561d9078_2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3d7561d9078_2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1" name="Shape 521"/>
        <p:cNvGrpSpPr/>
        <p:nvPr/>
      </p:nvGrpSpPr>
      <p:grpSpPr>
        <a:xfrm>
          <a:off x="0" y="0"/>
          <a:ext cx="0" cy="0"/>
          <a:chOff x="0" y="0"/>
          <a:chExt cx="0" cy="0"/>
        </a:xfrm>
      </p:grpSpPr>
      <p:sp>
        <p:nvSpPr>
          <p:cNvPr id="522" name="Google Shape;522;g3d7561d9078_2_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3d7561d9078_2_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6" name="Shape 526"/>
        <p:cNvGrpSpPr/>
        <p:nvPr/>
      </p:nvGrpSpPr>
      <p:grpSpPr>
        <a:xfrm>
          <a:off x="0" y="0"/>
          <a:ext cx="0" cy="0"/>
          <a:chOff x="0" y="0"/>
          <a:chExt cx="0" cy="0"/>
        </a:xfrm>
      </p:grpSpPr>
      <p:sp>
        <p:nvSpPr>
          <p:cNvPr id="527" name="Google Shape;527;g3d7561d9078_2_10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d7561d9078_2_10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1" name="Shape 531"/>
        <p:cNvGrpSpPr/>
        <p:nvPr/>
      </p:nvGrpSpPr>
      <p:grpSpPr>
        <a:xfrm>
          <a:off x="0" y="0"/>
          <a:ext cx="0" cy="0"/>
          <a:chOff x="0" y="0"/>
          <a:chExt cx="0" cy="0"/>
        </a:xfrm>
      </p:grpSpPr>
      <p:sp>
        <p:nvSpPr>
          <p:cNvPr id="532" name="Google Shape;532;g3d7561d9078_2_5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d7561d9078_2_5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6" name="Shape 536"/>
        <p:cNvGrpSpPr/>
        <p:nvPr/>
      </p:nvGrpSpPr>
      <p:grpSpPr>
        <a:xfrm>
          <a:off x="0" y="0"/>
          <a:ext cx="0" cy="0"/>
          <a:chOff x="0" y="0"/>
          <a:chExt cx="0" cy="0"/>
        </a:xfrm>
      </p:grpSpPr>
      <p:sp>
        <p:nvSpPr>
          <p:cNvPr id="537" name="Google Shape;537;g397776817e9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397776817e9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1" name="Shape 541"/>
        <p:cNvGrpSpPr/>
        <p:nvPr/>
      </p:nvGrpSpPr>
      <p:grpSpPr>
        <a:xfrm>
          <a:off x="0" y="0"/>
          <a:ext cx="0" cy="0"/>
          <a:chOff x="0" y="0"/>
          <a:chExt cx="0" cy="0"/>
        </a:xfrm>
      </p:grpSpPr>
      <p:sp>
        <p:nvSpPr>
          <p:cNvPr id="542" name="Google Shape;542;g3976bab01d0_4_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43" name="Google Shape;543;g3976bab01d0_4_2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4" name="Shape 574"/>
        <p:cNvGrpSpPr/>
        <p:nvPr/>
      </p:nvGrpSpPr>
      <p:grpSpPr>
        <a:xfrm>
          <a:off x="0" y="0"/>
          <a:ext cx="0" cy="0"/>
          <a:chOff x="0" y="0"/>
          <a:chExt cx="0" cy="0"/>
        </a:xfrm>
      </p:grpSpPr>
      <p:sp>
        <p:nvSpPr>
          <p:cNvPr id="575" name="Google Shape;575;g3976bab01d0_4_5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76" name="Google Shape;576;g3976bab01d0_4_5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1" name="Shape 631"/>
        <p:cNvGrpSpPr/>
        <p:nvPr/>
      </p:nvGrpSpPr>
      <p:grpSpPr>
        <a:xfrm>
          <a:off x="0" y="0"/>
          <a:ext cx="0" cy="0"/>
          <a:chOff x="0" y="0"/>
          <a:chExt cx="0" cy="0"/>
        </a:xfrm>
      </p:grpSpPr>
      <p:sp>
        <p:nvSpPr>
          <p:cNvPr id="632" name="Google Shape;632;g3976bab01d0_4_1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33" name="Google Shape;633;g3976bab01d0_4_1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4" name="Shape 664"/>
        <p:cNvGrpSpPr/>
        <p:nvPr/>
      </p:nvGrpSpPr>
      <p:grpSpPr>
        <a:xfrm>
          <a:off x="0" y="0"/>
          <a:ext cx="0" cy="0"/>
          <a:chOff x="0" y="0"/>
          <a:chExt cx="0" cy="0"/>
        </a:xfrm>
      </p:grpSpPr>
      <p:sp>
        <p:nvSpPr>
          <p:cNvPr id="665" name="Google Shape;665;g3976bab01d0_4_14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66" name="Google Shape;666;g3976bab01d0_4_14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4" name="Shape 704"/>
        <p:cNvGrpSpPr/>
        <p:nvPr/>
      </p:nvGrpSpPr>
      <p:grpSpPr>
        <a:xfrm>
          <a:off x="0" y="0"/>
          <a:ext cx="0" cy="0"/>
          <a:chOff x="0" y="0"/>
          <a:chExt cx="0" cy="0"/>
        </a:xfrm>
      </p:grpSpPr>
      <p:sp>
        <p:nvSpPr>
          <p:cNvPr id="705" name="Google Shape;705;g3976bab01d0_4_1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06" name="Google Shape;706;g3976bab01d0_4_18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7" name="Shape 747"/>
        <p:cNvGrpSpPr/>
        <p:nvPr/>
      </p:nvGrpSpPr>
      <p:grpSpPr>
        <a:xfrm>
          <a:off x="0" y="0"/>
          <a:ext cx="0" cy="0"/>
          <a:chOff x="0" y="0"/>
          <a:chExt cx="0" cy="0"/>
        </a:xfrm>
      </p:grpSpPr>
      <p:sp>
        <p:nvSpPr>
          <p:cNvPr id="748" name="Google Shape;748;g3976bab01d0_4_22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49" name="Google Shape;749;g3976bab01d0_4_22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9" name="Shape 789"/>
        <p:cNvGrpSpPr/>
        <p:nvPr/>
      </p:nvGrpSpPr>
      <p:grpSpPr>
        <a:xfrm>
          <a:off x="0" y="0"/>
          <a:ext cx="0" cy="0"/>
          <a:chOff x="0" y="0"/>
          <a:chExt cx="0" cy="0"/>
        </a:xfrm>
      </p:grpSpPr>
      <p:sp>
        <p:nvSpPr>
          <p:cNvPr id="790" name="Google Shape;790;g3976bab01d0_4_26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91" name="Google Shape;791;g3976bab01d0_4_26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8" name="Shape 828"/>
        <p:cNvGrpSpPr/>
        <p:nvPr/>
      </p:nvGrpSpPr>
      <p:grpSpPr>
        <a:xfrm>
          <a:off x="0" y="0"/>
          <a:ext cx="0" cy="0"/>
          <a:chOff x="0" y="0"/>
          <a:chExt cx="0" cy="0"/>
        </a:xfrm>
      </p:grpSpPr>
      <p:sp>
        <p:nvSpPr>
          <p:cNvPr id="829" name="Google Shape;829;g3976bab01d0_4_30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30" name="Google Shape;830;g3976bab01d0_4_30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6" name="Shape 866"/>
        <p:cNvGrpSpPr/>
        <p:nvPr/>
      </p:nvGrpSpPr>
      <p:grpSpPr>
        <a:xfrm>
          <a:off x="0" y="0"/>
          <a:ext cx="0" cy="0"/>
          <a:chOff x="0" y="0"/>
          <a:chExt cx="0" cy="0"/>
        </a:xfrm>
      </p:grpSpPr>
      <p:sp>
        <p:nvSpPr>
          <p:cNvPr id="867" name="Google Shape;867;g3976bab01d0_4_3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68" name="Google Shape;868;g3976bab01d0_4_34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0" name="Shape 890"/>
        <p:cNvGrpSpPr/>
        <p:nvPr/>
      </p:nvGrpSpPr>
      <p:grpSpPr>
        <a:xfrm>
          <a:off x="0" y="0"/>
          <a:ext cx="0" cy="0"/>
          <a:chOff x="0" y="0"/>
          <a:chExt cx="0" cy="0"/>
        </a:xfrm>
      </p:grpSpPr>
      <p:sp>
        <p:nvSpPr>
          <p:cNvPr id="891" name="Google Shape;891;g3976ae56828_0_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3976ae56828_0_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2" name="Shape 902"/>
        <p:cNvGrpSpPr/>
        <p:nvPr/>
      </p:nvGrpSpPr>
      <p:grpSpPr>
        <a:xfrm>
          <a:off x="0" y="0"/>
          <a:ext cx="0" cy="0"/>
          <a:chOff x="0" y="0"/>
          <a:chExt cx="0" cy="0"/>
        </a:xfrm>
      </p:grpSpPr>
      <p:sp>
        <p:nvSpPr>
          <p:cNvPr id="903" name="Google Shape;903;g3976be7ae79_0_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3976be7ae79_0_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1" name="Shape 911"/>
        <p:cNvGrpSpPr/>
        <p:nvPr/>
      </p:nvGrpSpPr>
      <p:grpSpPr>
        <a:xfrm>
          <a:off x="0" y="0"/>
          <a:ext cx="0" cy="0"/>
          <a:chOff x="0" y="0"/>
          <a:chExt cx="0" cy="0"/>
        </a:xfrm>
      </p:grpSpPr>
      <p:sp>
        <p:nvSpPr>
          <p:cNvPr id="912" name="Google Shape;912;g3976bab01d0_4_36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13" name="Google Shape;913;g3976bab01d0_4_36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50"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1.xml"/><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3.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17.png"/><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21.png"/><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1.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1.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1.xml"/><Relationship Id="rId1"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1.xml"/><Relationship Id="rId1"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1.xml"/><Relationship Id="rId1" Type="http://schemas.openxmlformats.org/officeDocument/2006/relationships/image" Target="../media/image34.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1.xml"/><Relationship Id="rId2" Type="http://schemas.openxmlformats.org/officeDocument/2006/relationships/image" Target="../media/image35.png"/><Relationship Id="rId1" Type="http://schemas.openxmlformats.org/officeDocument/2006/relationships/image" Target="../media/image1.jpeg"/></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image" Target="../media/image42.png"/><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0" Type="http://schemas.openxmlformats.org/officeDocument/2006/relationships/notesSlide" Target="../notesSlides/notesSlide33.xml"/><Relationship Id="rId1"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1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image" Target="../media/image1.jpeg"/></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slideLayout" Target="../slideLayouts/slideLayout1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image" Target="../media/image44.png"/><Relationship Id="rId7" Type="http://schemas.openxmlformats.org/officeDocument/2006/relationships/image" Target="../media/image43.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9.png"/><Relationship Id="rId2" Type="http://schemas.openxmlformats.org/officeDocument/2006/relationships/image" Target="../media/image35.png"/><Relationship Id="rId11" Type="http://schemas.openxmlformats.org/officeDocument/2006/relationships/notesSlide" Target="../notesSlides/notesSlide36.xml"/><Relationship Id="rId10" Type="http://schemas.openxmlformats.org/officeDocument/2006/relationships/slideLayout" Target="../slideLayouts/slideLayout11.xml"/><Relationship Id="rId1" Type="http://schemas.openxmlformats.org/officeDocument/2006/relationships/image" Target="../media/image1.jpe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1.xml"/><Relationship Id="rId2" Type="http://schemas.openxmlformats.org/officeDocument/2006/relationships/image" Target="../media/image35.png"/><Relationship Id="rId1" Type="http://schemas.openxmlformats.org/officeDocument/2006/relationships/image" Target="../media/image1.jpeg"/></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35.png"/><Relationship Id="rId1" Type="http://schemas.openxmlformats.org/officeDocument/2006/relationships/image" Target="../media/image1.jpe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1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35.png"/><Relationship Id="rId1" Type="http://schemas.openxmlformats.org/officeDocument/2006/relationships/image" Target="../media/image1.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3.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1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55" name="Shape 55"/>
        <p:cNvGrpSpPr/>
        <p:nvPr/>
      </p:nvGrpSpPr>
      <p:grpSpPr>
        <a:xfrm>
          <a:off x="0" y="0"/>
          <a:ext cx="0" cy="0"/>
          <a:chOff x="0" y="0"/>
          <a:chExt cx="0" cy="0"/>
        </a:xfrm>
      </p:grpSpPr>
      <p:sp>
        <p:nvSpPr>
          <p:cNvPr id="56" name="Google Shape;56;p15"/>
          <p:cNvSpPr txBox="1"/>
          <p:nvPr>
            <p:ph type="ctrTitle"/>
          </p:nvPr>
        </p:nvSpPr>
        <p:spPr>
          <a:xfrm>
            <a:off x="311700" y="1697575"/>
            <a:ext cx="8520600" cy="10995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sz="4200"/>
              <a:t>Youtube analysis - Micro creators</a:t>
            </a:r>
            <a:endParaRPr sz="4200"/>
          </a:p>
        </p:txBody>
      </p:sp>
      <p:sp>
        <p:nvSpPr>
          <p:cNvPr id="1" name="副标题 0"/>
          <p:cNvSpPr/>
          <p:nvPr>
            <p:ph type="subTitle" idx="1"/>
          </p:nvPr>
        </p:nvSpPr>
        <p:spPr/>
        <p:txBody>
          <a:bodyPr/>
          <a:p>
            <a:endParaRPr lang="zh-CN"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61" name="Shape 61"/>
        <p:cNvGrpSpPr/>
        <p:nvPr/>
      </p:nvGrpSpPr>
      <p:grpSpPr>
        <a:xfrm>
          <a:off x="0" y="0"/>
          <a:ext cx="0" cy="0"/>
          <a:chOff x="0" y="0"/>
          <a:chExt cx="0" cy="0"/>
        </a:xfrm>
      </p:grpSpPr>
      <p:sp>
        <p:nvSpPr>
          <p:cNvPr id="62" name="Google Shape;62;p16"/>
          <p:cNvSpPr/>
          <p:nvPr/>
        </p:nvSpPr>
        <p:spPr>
          <a:xfrm>
            <a:off x="0" y="0"/>
            <a:ext cx="914400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grpSp>
        <p:nvGrpSpPr>
          <p:cNvPr id="63" name="Google Shape;63;p16"/>
          <p:cNvGrpSpPr/>
          <p:nvPr/>
        </p:nvGrpSpPr>
        <p:grpSpPr>
          <a:xfrm>
            <a:off x="7446126" y="-90413"/>
            <a:ext cx="1288572" cy="2057033"/>
            <a:chOff x="0" y="-47625"/>
            <a:chExt cx="678754" cy="1083540"/>
          </a:xfrm>
        </p:grpSpPr>
        <p:sp>
          <p:nvSpPr>
            <p:cNvPr id="64" name="Google Shape;64;p16"/>
            <p:cNvSpPr/>
            <p:nvPr/>
          </p:nvSpPr>
          <p:spPr>
            <a:xfrm>
              <a:off x="0" y="0"/>
              <a:ext cx="678754" cy="1035915"/>
            </a:xfrm>
            <a:custGeom>
              <a:avLst/>
              <a:gdLst/>
              <a:ahLst/>
              <a:cxnLst/>
              <a:rect l="l" t="t" r="r" b="b"/>
              <a:pathLst>
                <a:path w="678754" h="1035915" extrusionOk="0">
                  <a:moveTo>
                    <a:pt x="0" y="0"/>
                  </a:moveTo>
                  <a:lnTo>
                    <a:pt x="678754" y="0"/>
                  </a:lnTo>
                  <a:lnTo>
                    <a:pt x="678754" y="1035915"/>
                  </a:lnTo>
                  <a:lnTo>
                    <a:pt x="0" y="1035915"/>
                  </a:lnTo>
                  <a:close/>
                </a:path>
              </a:pathLst>
            </a:custGeom>
            <a:solidFill>
              <a:srgbClr val="BB2117"/>
            </a:solidFill>
            <a:ln>
              <a:noFill/>
            </a:ln>
          </p:spPr>
        </p:sp>
        <p:sp>
          <p:nvSpPr>
            <p:cNvPr id="65" name="Google Shape;65;p16"/>
            <p:cNvSpPr txBox="1"/>
            <p:nvPr/>
          </p:nvSpPr>
          <p:spPr>
            <a:xfrm>
              <a:off x="0" y="-47625"/>
              <a:ext cx="678754" cy="1083540"/>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66" name="Google Shape;66;p16"/>
          <p:cNvSpPr/>
          <p:nvPr/>
        </p:nvSpPr>
        <p:spPr>
          <a:xfrm>
            <a:off x="7808918" y="867913"/>
            <a:ext cx="562987" cy="562987"/>
          </a:xfrm>
          <a:custGeom>
            <a:avLst/>
            <a:gdLst/>
            <a:ahLst/>
            <a:cxnLst/>
            <a:rect l="l" t="t" r="r" b="b"/>
            <a:pathLst>
              <a:path w="1125974" h="1125974" extrusionOk="0">
                <a:moveTo>
                  <a:pt x="0" y="0"/>
                </a:moveTo>
                <a:lnTo>
                  <a:pt x="1125974" y="0"/>
                </a:lnTo>
                <a:lnTo>
                  <a:pt x="1125974" y="1125974"/>
                </a:lnTo>
                <a:lnTo>
                  <a:pt x="0" y="1125974"/>
                </a:lnTo>
                <a:lnTo>
                  <a:pt x="0" y="0"/>
                </a:lnTo>
                <a:close/>
              </a:path>
            </a:pathLst>
          </a:custGeom>
          <a:blipFill rotWithShape="1">
            <a:blip r:embed="rId2"/>
            <a:stretch>
              <a:fillRect/>
            </a:stretch>
          </a:blipFill>
          <a:ln>
            <a:noFill/>
          </a:ln>
        </p:spPr>
      </p:sp>
      <p:sp>
        <p:nvSpPr>
          <p:cNvPr id="67" name="Google Shape;67;p16"/>
          <p:cNvSpPr txBox="1"/>
          <p:nvPr/>
        </p:nvSpPr>
        <p:spPr>
          <a:xfrm>
            <a:off x="409303" y="893153"/>
            <a:ext cx="5012456" cy="83407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4800" b="1" i="0" u="none" strike="noStrike" cap="none">
                <a:solidFill>
                  <a:srgbClr val="000000"/>
                </a:solidFill>
                <a:latin typeface="Arial" panose="020B0704020202020204"/>
                <a:ea typeface="Arial" panose="020B0704020202020204"/>
                <a:cs typeface="Arial" panose="020B0704020202020204"/>
                <a:sym typeface="Arial" panose="020B0704020202020204"/>
              </a:rPr>
              <a:t>Entry Strategy</a:t>
            </a:r>
            <a:endParaRPr sz="700"/>
          </a:p>
        </p:txBody>
      </p:sp>
      <p:sp>
        <p:nvSpPr>
          <p:cNvPr id="68" name="Google Shape;68;p16"/>
          <p:cNvSpPr txBox="1"/>
          <p:nvPr/>
        </p:nvSpPr>
        <p:spPr>
          <a:xfrm>
            <a:off x="409300" y="235525"/>
            <a:ext cx="4070700" cy="738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4800" b="1" i="0" u="none" strike="noStrike" cap="none">
                <a:solidFill>
                  <a:srgbClr val="BB2117"/>
                </a:solidFill>
                <a:latin typeface="Ultra"/>
                <a:ea typeface="Ultra"/>
                <a:cs typeface="Ultra"/>
                <a:sym typeface="Ultra"/>
              </a:rPr>
              <a:t>Youtuber</a:t>
            </a:r>
            <a:endParaRPr sz="700"/>
          </a:p>
        </p:txBody>
      </p:sp>
      <p:sp>
        <p:nvSpPr>
          <p:cNvPr id="69" name="Google Shape;69;p16"/>
          <p:cNvSpPr txBox="1"/>
          <p:nvPr/>
        </p:nvSpPr>
        <p:spPr>
          <a:xfrm>
            <a:off x="7527612" y="1576963"/>
            <a:ext cx="1125600" cy="202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200" b="1" i="0" u="none" strike="noStrike" cap="none">
                <a:solidFill>
                  <a:srgbClr val="FFFFFF"/>
                </a:solidFill>
                <a:latin typeface="Arial" panose="020B0704020202020204"/>
                <a:ea typeface="Arial" panose="020B0704020202020204"/>
                <a:cs typeface="Arial" panose="020B0704020202020204"/>
                <a:sym typeface="Arial" panose="020B0704020202020204"/>
              </a:rPr>
              <a:t>Salford &amp; Co</a:t>
            </a:r>
            <a:endParaRPr sz="700"/>
          </a:p>
        </p:txBody>
      </p:sp>
      <p:sp>
        <p:nvSpPr>
          <p:cNvPr id="70" name="Google Shape;70;p16"/>
          <p:cNvSpPr txBox="1"/>
          <p:nvPr/>
        </p:nvSpPr>
        <p:spPr>
          <a:xfrm>
            <a:off x="2719753" y="1727213"/>
            <a:ext cx="4352100" cy="231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500" b="1">
                <a:latin typeface="Arimo" panose="020B0604020202020204"/>
                <a:ea typeface="Arimo" panose="020B0604020202020204"/>
                <a:cs typeface="Arimo" panose="020B0604020202020204"/>
                <a:sym typeface="Arimo" panose="020B0604020202020204"/>
              </a:rPr>
              <a:t>F</a:t>
            </a:r>
            <a:r>
              <a:rPr lang="en-GB" sz="1500" b="1" i="0" u="none" strike="noStrike" cap="none">
                <a:solidFill>
                  <a:srgbClr val="000000"/>
                </a:solidFill>
                <a:latin typeface="Arimo" panose="020B0604020202020204"/>
                <a:ea typeface="Arimo" panose="020B0604020202020204"/>
                <a:cs typeface="Arimo" panose="020B0604020202020204"/>
                <a:sym typeface="Arimo" panose="020B0604020202020204"/>
              </a:rPr>
              <a:t>or </a:t>
            </a:r>
            <a:r>
              <a:rPr lang="en-GB" sz="1500" b="1">
                <a:latin typeface="Arimo" panose="020B0604020202020204"/>
                <a:ea typeface="Arimo" panose="020B0604020202020204"/>
                <a:cs typeface="Arimo" panose="020B0604020202020204"/>
                <a:sym typeface="Arimo" panose="020B0604020202020204"/>
              </a:rPr>
              <a:t>Micro Creators</a:t>
            </a:r>
            <a:endParaRPr sz="700"/>
          </a:p>
        </p:txBody>
      </p:sp>
      <p:sp>
        <p:nvSpPr>
          <p:cNvPr id="71" name="Google Shape;71;p16"/>
          <p:cNvSpPr txBox="1"/>
          <p:nvPr>
            <p:ph type="subTitle" idx="4294967295"/>
          </p:nvPr>
        </p:nvSpPr>
        <p:spPr>
          <a:xfrm>
            <a:off x="5073200" y="3103025"/>
            <a:ext cx="3759000" cy="23094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GB" sz="2000"/>
              <a:t>Nawakamol Rojanabenjakun (nr3093)</a:t>
            </a:r>
            <a:endParaRPr sz="2000"/>
          </a:p>
          <a:p>
            <a:pPr marL="0" lvl="0" indent="0" algn="l" rtl="0">
              <a:spcBef>
                <a:spcPts val="1200"/>
              </a:spcBef>
              <a:spcAft>
                <a:spcPts val="0"/>
              </a:spcAft>
              <a:buNone/>
            </a:pPr>
            <a:r>
              <a:rPr lang="en-GB" sz="2000"/>
              <a:t>Min Yuan Shih (ms7386)</a:t>
            </a:r>
            <a:endParaRPr sz="2000"/>
          </a:p>
          <a:p>
            <a:pPr marL="0" lvl="0" indent="0" algn="l" rtl="0">
              <a:spcBef>
                <a:spcPts val="1200"/>
              </a:spcBef>
              <a:spcAft>
                <a:spcPts val="0"/>
              </a:spcAft>
              <a:buNone/>
            </a:pPr>
            <a:r>
              <a:rPr lang="en-GB" sz="2000"/>
              <a:t>Kimberly Huang (qh2306)</a:t>
            </a:r>
            <a:endParaRPr sz="2000"/>
          </a:p>
          <a:p>
            <a:pPr marL="0" lvl="0" indent="0" algn="l" rtl="0">
              <a:spcBef>
                <a:spcPts val="1200"/>
              </a:spcBef>
              <a:spcAft>
                <a:spcPts val="0"/>
              </a:spcAft>
              <a:buNone/>
            </a:pPr>
            <a:r>
              <a:rPr lang="en-GB" sz="2000"/>
              <a:t>Xinyue Fan (xf2301)</a:t>
            </a:r>
            <a:endParaRPr sz="2000"/>
          </a:p>
          <a:p>
            <a:pPr marL="0" lvl="0" indent="0" algn="l" rtl="0">
              <a:spcBef>
                <a:spcPts val="1200"/>
              </a:spcBef>
              <a:spcAft>
                <a:spcPts val="0"/>
              </a:spcAft>
              <a:buNone/>
            </a:pPr>
            <a:r>
              <a:rPr lang="en-GB" sz="2000"/>
              <a:t>Sheena Chen (hc3651)</a:t>
            </a:r>
            <a:endParaRPr sz="2000"/>
          </a:p>
          <a:p>
            <a:pPr marL="0" lvl="0" indent="0" algn="l" rtl="0">
              <a:spcBef>
                <a:spcPts val="1200"/>
              </a:spcBef>
              <a:spcAft>
                <a:spcPts val="1200"/>
              </a:spcAft>
              <a:buNone/>
            </a:p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5" name="Shape 75"/>
        <p:cNvGrpSpPr/>
        <p:nvPr/>
      </p:nvGrpSpPr>
      <p:grpSpPr>
        <a:xfrm>
          <a:off x="0" y="0"/>
          <a:ext cx="0" cy="0"/>
          <a:chOff x="0" y="0"/>
          <a:chExt cx="0" cy="0"/>
        </a:xfrm>
      </p:grpSpPr>
      <p:pic>
        <p:nvPicPr>
          <p:cNvPr id="76" name="Google Shape;76;p17" descr="can you change salford&amp;co to youtube logo"/>
          <p:cNvPicPr preferRelativeResize="0"/>
          <p:nvPr/>
        </p:nvPicPr>
        <p:blipFill>
          <a:blip r:embed="rId1"/>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80" name="Shape 80"/>
        <p:cNvGrpSpPr/>
        <p:nvPr/>
      </p:nvGrpSpPr>
      <p:grpSpPr>
        <a:xfrm>
          <a:off x="0" y="0"/>
          <a:ext cx="0" cy="0"/>
          <a:chOff x="0" y="0"/>
          <a:chExt cx="0" cy="0"/>
        </a:xfrm>
      </p:grpSpPr>
      <p:pic>
        <p:nvPicPr>
          <p:cNvPr id="81" name="Google Shape;81;p18" descr="beautify my slide to theme youtube"/>
          <p:cNvPicPr preferRelativeResize="0"/>
          <p:nvPr/>
        </p:nvPicPr>
        <p:blipFill>
          <a:blip r:embed="rId1"/>
          <a:stretch>
            <a:fillRect/>
          </a:stretch>
        </p:blipFill>
        <p:spPr>
          <a:xfrm>
            <a:off x="-35700" y="0"/>
            <a:ext cx="9210675" cy="5143500"/>
          </a:xfrm>
          <a:prstGeom prst="rect">
            <a:avLst/>
          </a:prstGeom>
          <a:noFill/>
          <a:ln>
            <a:noFill/>
          </a:ln>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5" name="Shape 85"/>
        <p:cNvGrpSpPr/>
        <p:nvPr/>
      </p:nvGrpSpPr>
      <p:grpSpPr>
        <a:xfrm>
          <a:off x="0" y="0"/>
          <a:ext cx="0" cy="0"/>
          <a:chOff x="0" y="0"/>
          <a:chExt cx="0" cy="0"/>
        </a:xfrm>
      </p:grpSpPr>
      <p:pic>
        <p:nvPicPr>
          <p:cNvPr id="86" name="Google Shape;86;p19" descr="beautify"/>
          <p:cNvPicPr preferRelativeResize="0"/>
          <p:nvPr/>
        </p:nvPicPr>
        <p:blipFill>
          <a:blip r:embed="rId1"/>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90" name="Shape 90"/>
        <p:cNvGrpSpPr/>
        <p:nvPr/>
      </p:nvGrpSpPr>
      <p:grpSpPr>
        <a:xfrm>
          <a:off x="0" y="0"/>
          <a:ext cx="0" cy="0"/>
          <a:chOff x="0" y="0"/>
          <a:chExt cx="0" cy="0"/>
        </a:xfrm>
      </p:grpSpPr>
      <p:pic>
        <p:nvPicPr>
          <p:cNvPr id="91" name="Google Shape;91;p20"/>
          <p:cNvPicPr preferRelativeResize="0"/>
          <p:nvPr/>
        </p:nvPicPr>
        <p:blipFill>
          <a:blip r:embed="rId1"/>
          <a:stretch>
            <a:fillRect/>
          </a:stretch>
        </p:blipFill>
        <p:spPr>
          <a:xfrm>
            <a:off x="0" y="0"/>
            <a:ext cx="9144001" cy="5143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95" name="Shape 95"/>
        <p:cNvGrpSpPr/>
        <p:nvPr/>
      </p:nvGrpSpPr>
      <p:grpSpPr>
        <a:xfrm>
          <a:off x="0" y="0"/>
          <a:ext cx="0" cy="0"/>
          <a:chOff x="0" y="0"/>
          <a:chExt cx="0" cy="0"/>
        </a:xfrm>
      </p:grpSpPr>
      <p:pic>
        <p:nvPicPr>
          <p:cNvPr id="96" name="Google Shape;96;p21"/>
          <p:cNvPicPr preferRelativeResize="0"/>
          <p:nvPr/>
        </p:nvPicPr>
        <p:blipFill rotWithShape="1">
          <a:blip r:embed="rId1"/>
          <a:srcRect l="1765" r="1765"/>
          <a:stretch>
            <a:fillRect/>
          </a:stretch>
        </p:blipFill>
        <p:spPr>
          <a:xfrm>
            <a:off x="0" y="-2075"/>
            <a:ext cx="9144000" cy="5147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00" name="Shape 100"/>
        <p:cNvGrpSpPr/>
        <p:nvPr/>
      </p:nvGrpSpPr>
      <p:grpSpPr>
        <a:xfrm>
          <a:off x="0" y="0"/>
          <a:ext cx="0" cy="0"/>
          <a:chOff x="0" y="0"/>
          <a:chExt cx="0" cy="0"/>
        </a:xfrm>
      </p:grpSpPr>
      <p:pic>
        <p:nvPicPr>
          <p:cNvPr id="101" name="Google Shape;101;p22" descr="beautify my slide"/>
          <p:cNvPicPr preferRelativeResize="0"/>
          <p:nvPr/>
        </p:nvPicPr>
        <p:blipFill>
          <a:blip r:embed="rId1"/>
          <a:stretch>
            <a:fillRect/>
          </a:stretch>
        </p:blipFill>
        <p:spPr>
          <a:xfrm>
            <a:off x="-35700" y="0"/>
            <a:ext cx="9210675" cy="5143500"/>
          </a:xfrm>
          <a:prstGeom prst="rect">
            <a:avLst/>
          </a:prstGeom>
          <a:noFill/>
          <a:ln>
            <a:noFill/>
          </a:ln>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05" name="Shape 105"/>
        <p:cNvGrpSpPr/>
        <p:nvPr/>
      </p:nvGrpSpPr>
      <p:grpSpPr>
        <a:xfrm>
          <a:off x="0" y="0"/>
          <a:ext cx="0" cy="0"/>
          <a:chOff x="0" y="0"/>
          <a:chExt cx="0" cy="0"/>
        </a:xfrm>
      </p:grpSpPr>
      <p:pic>
        <p:nvPicPr>
          <p:cNvPr id="106" name="Google Shape;106;p23" descr="beautify my slide"/>
          <p:cNvPicPr preferRelativeResize="0"/>
          <p:nvPr/>
        </p:nvPicPr>
        <p:blipFill>
          <a:blip r:embed="rId1"/>
          <a:stretch>
            <a:fillRect/>
          </a:stretch>
        </p:blipFill>
        <p:spPr>
          <a:xfrm>
            <a:off x="-35700" y="0"/>
            <a:ext cx="9210675" cy="5143500"/>
          </a:xfrm>
          <a:prstGeom prst="rect">
            <a:avLst/>
          </a:prstGeom>
          <a:noFill/>
          <a:ln>
            <a:noFill/>
          </a:ln>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10" name="Shape 110"/>
        <p:cNvGrpSpPr/>
        <p:nvPr/>
      </p:nvGrpSpPr>
      <p:grpSpPr>
        <a:xfrm>
          <a:off x="0" y="0"/>
          <a:ext cx="0" cy="0"/>
          <a:chOff x="0" y="0"/>
          <a:chExt cx="0" cy="0"/>
        </a:xfrm>
      </p:grpSpPr>
      <p:sp>
        <p:nvSpPr>
          <p:cNvPr id="111" name="Google Shape;111;p24"/>
          <p:cNvSpPr txBox="1"/>
          <p:nvPr>
            <p:ph type="title"/>
          </p:nvPr>
        </p:nvSpPr>
        <p:spPr>
          <a:xfrm>
            <a:off x="311700" y="0"/>
            <a:ext cx="2406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Data Suitability</a:t>
            </a:r>
            <a:endParaRPr lang="en-GB"/>
          </a:p>
        </p:txBody>
      </p:sp>
      <p:sp>
        <p:nvSpPr>
          <p:cNvPr id="112" name="Google Shape;112;p24"/>
          <p:cNvSpPr txBox="1"/>
          <p:nvPr>
            <p:ph type="body" idx="1"/>
          </p:nvPr>
        </p:nvSpPr>
        <p:spPr>
          <a:xfrm>
            <a:off x="-2400" y="1485575"/>
            <a:ext cx="3034800" cy="1408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solidFill>
                  <a:schemeClr val="dk1"/>
                </a:solidFill>
              </a:rPr>
              <a:t>Source — YouTube Data API v3</a:t>
            </a:r>
            <a:r>
              <a:rPr lang="en-GB" sz="1100">
                <a:solidFill>
                  <a:schemeClr val="dk1"/>
                </a:solidFill>
              </a:rPr>
              <a:t> Channel metadata, video metrics, and top comments pulled from the official API</a:t>
            </a:r>
            <a:endParaRPr sz="1300"/>
          </a:p>
        </p:txBody>
      </p:sp>
      <p:sp>
        <p:nvSpPr>
          <p:cNvPr id="113" name="Google Shape;113;p24"/>
          <p:cNvSpPr txBox="1"/>
          <p:nvPr/>
        </p:nvSpPr>
        <p:spPr>
          <a:xfrm>
            <a:off x="339050" y="514350"/>
            <a:ext cx="4690200" cy="38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2"/>
                </a:solidFill>
              </a:rPr>
              <a:t>Why the dataset is appropriate for studying micro-creator success</a:t>
            </a:r>
            <a:endParaRPr sz="1200">
              <a:solidFill>
                <a:schemeClr val="dk2"/>
              </a:solidFill>
            </a:endParaRPr>
          </a:p>
        </p:txBody>
      </p:sp>
      <p:sp>
        <p:nvSpPr>
          <p:cNvPr id="114" name="Google Shape;114;p24"/>
          <p:cNvSpPr txBox="1"/>
          <p:nvPr>
            <p:ph type="body" idx="1"/>
          </p:nvPr>
        </p:nvSpPr>
        <p:spPr>
          <a:xfrm>
            <a:off x="3190800" y="1427075"/>
            <a:ext cx="3034800" cy="1525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solidFill>
                  <a:schemeClr val="dk1"/>
                </a:solidFill>
              </a:rPr>
              <a:t>Scope — Micro-creators only</a:t>
            </a:r>
            <a:r>
              <a:rPr lang="en-GB" sz="1100">
                <a:solidFill>
                  <a:schemeClr val="dk1"/>
                </a:solidFill>
              </a:rPr>
              <a:t> Channels with fewer than 10,000 subscribers, matching the target population of our research question. </a:t>
            </a:r>
            <a:endParaRPr sz="1300"/>
          </a:p>
        </p:txBody>
      </p:sp>
      <p:sp>
        <p:nvSpPr>
          <p:cNvPr id="115" name="Google Shape;115;p24"/>
          <p:cNvSpPr txBox="1"/>
          <p:nvPr>
            <p:ph type="body" idx="1"/>
          </p:nvPr>
        </p:nvSpPr>
        <p:spPr>
          <a:xfrm>
            <a:off x="6384000" y="1379175"/>
            <a:ext cx="2760000" cy="1525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100" b="1">
                <a:solidFill>
                  <a:schemeClr val="dk1"/>
                </a:solidFill>
              </a:rPr>
              <a:t>Relevance — Three signals captured</a:t>
            </a:r>
            <a:r>
              <a:rPr lang="en-GB" sz="1100">
                <a:solidFill>
                  <a:schemeClr val="dk1"/>
                </a:solidFill>
              </a:rPr>
              <a:t> Engagement metrics (views, likes, comments), content metadata (title, description, hashtags, duration), and audience reactions (top comments) </a:t>
            </a:r>
            <a:endParaRPr sz="1300"/>
          </a:p>
        </p:txBody>
      </p:sp>
      <p:sp>
        <p:nvSpPr>
          <p:cNvPr id="116" name="Google Shape;116;p24"/>
          <p:cNvSpPr txBox="1"/>
          <p:nvPr/>
        </p:nvSpPr>
        <p:spPr>
          <a:xfrm>
            <a:off x="0" y="3475600"/>
            <a:ext cx="9144000" cy="9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500">
                <a:solidFill>
                  <a:schemeClr val="dk1"/>
                </a:solidFill>
              </a:rPr>
              <a:t>1,090 videos				&lt; 10,000 subscribers per channel      545 / 545 High vs. Low engagement</a:t>
            </a:r>
            <a:endParaRPr sz="1500">
              <a:solidFill>
                <a:schemeClr val="dk1"/>
              </a:solidFill>
            </a:endParaRPr>
          </a:p>
          <a:p>
            <a:pPr marL="0" lvl="0" indent="0" algn="l" rtl="0">
              <a:spcBef>
                <a:spcPts val="0"/>
              </a:spcBef>
              <a:spcAft>
                <a:spcPts val="0"/>
              </a:spcAft>
              <a:buNone/>
            </a:pPr>
            <a:r>
              <a:rPr lang="en-GB" sz="1500">
                <a:solidFill>
                  <a:schemeClr val="dk1"/>
                </a:solidFill>
              </a:rPr>
              <a:t>Videos after filtering				Subscribers per channel			High vs Low Engagement</a:t>
            </a:r>
            <a:endParaRPr sz="1500">
              <a:solidFill>
                <a:schemeClr val="dk1"/>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20" name="Shape 120"/>
        <p:cNvGrpSpPr/>
        <p:nvPr/>
      </p:nvGrpSpPr>
      <p:grpSpPr>
        <a:xfrm>
          <a:off x="0" y="0"/>
          <a:ext cx="0" cy="0"/>
          <a:chOff x="0" y="0"/>
          <a:chExt cx="0" cy="0"/>
        </a:xfrm>
      </p:grpSpPr>
      <p:sp>
        <p:nvSpPr>
          <p:cNvPr id="121" name="Google Shape;121;p25"/>
          <p:cNvSpPr txBox="1"/>
          <p:nvPr>
            <p:ph type="title"/>
          </p:nvPr>
        </p:nvSpPr>
        <p:spPr>
          <a:xfrm>
            <a:off x="311700" y="0"/>
            <a:ext cx="327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Sample Composition</a:t>
            </a:r>
            <a:endParaRPr lang="en-GB"/>
          </a:p>
        </p:txBody>
      </p:sp>
      <p:sp>
        <p:nvSpPr>
          <p:cNvPr id="122" name="Google Shape;122;p25"/>
          <p:cNvSpPr txBox="1"/>
          <p:nvPr>
            <p:ph type="body" idx="1"/>
          </p:nvPr>
        </p:nvSpPr>
        <p:spPr>
          <a:xfrm>
            <a:off x="311700" y="1152475"/>
            <a:ext cx="41691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panose="020B0704020202020204"/>
              <a:buNone/>
            </a:pPr>
            <a:r>
              <a:rPr lang="en-GB" sz="1100" b="1">
                <a:solidFill>
                  <a:schemeClr val="dk1"/>
                </a:solidFill>
              </a:rPr>
              <a:t>1,090</a:t>
            </a:r>
            <a:r>
              <a:rPr lang="en-GB" sz="1100">
                <a:solidFill>
                  <a:schemeClr val="dk1"/>
                </a:solidFill>
              </a:rPr>
              <a:t> — Total videos in the working sample</a:t>
            </a:r>
            <a:endParaRPr sz="1100">
              <a:solidFill>
                <a:schemeClr val="dk1"/>
              </a:solidFill>
            </a:endParaRPr>
          </a:p>
          <a:p>
            <a:pPr marL="0" lvl="0" indent="0" algn="l" rtl="0">
              <a:spcBef>
                <a:spcPts val="1200"/>
              </a:spcBef>
              <a:spcAft>
                <a:spcPts val="0"/>
              </a:spcAft>
              <a:buClr>
                <a:schemeClr val="dk1"/>
              </a:buClr>
              <a:buSzPts val="1100"/>
              <a:buFont typeface="Arial" panose="020B0704020202020204"/>
              <a:buNone/>
            </a:pPr>
            <a:r>
              <a:rPr lang="en-GB" sz="1100" b="1">
                <a:solidFill>
                  <a:schemeClr val="dk1"/>
                </a:solidFill>
              </a:rPr>
              <a:t>&lt; 10K</a:t>
            </a:r>
            <a:r>
              <a:rPr lang="en-GB" sz="1100">
                <a:solidFill>
                  <a:schemeClr val="dk1"/>
                </a:solidFill>
              </a:rPr>
              <a:t> — Subscriber cap applied to isolate micro-creators</a:t>
            </a:r>
            <a:endParaRPr sz="1100">
              <a:solidFill>
                <a:schemeClr val="dk1"/>
              </a:solidFill>
            </a:endParaRPr>
          </a:p>
          <a:p>
            <a:pPr marL="0" lvl="0" indent="0" algn="l" rtl="0">
              <a:spcBef>
                <a:spcPts val="1200"/>
              </a:spcBef>
              <a:spcAft>
                <a:spcPts val="0"/>
              </a:spcAft>
              <a:buClr>
                <a:schemeClr val="dk1"/>
              </a:buClr>
              <a:buSzPts val="1100"/>
              <a:buFont typeface="Arial" panose="020B0704020202020204"/>
              <a:buNone/>
            </a:pPr>
            <a:r>
              <a:rPr lang="en-GB" sz="1100" b="1">
                <a:solidFill>
                  <a:schemeClr val="dk1"/>
                </a:solidFill>
              </a:rPr>
              <a:t>545 + 545</a:t>
            </a:r>
            <a:r>
              <a:rPr lang="en-GB" sz="1100">
                <a:solidFill>
                  <a:schemeClr val="dk1"/>
                </a:solidFill>
              </a:rPr>
              <a:t> — Balanced split at the median like-rate</a:t>
            </a:r>
            <a:endParaRPr sz="1100">
              <a:solidFill>
                <a:schemeClr val="dk1"/>
              </a:solidFill>
            </a:endParaRPr>
          </a:p>
          <a:p>
            <a:pPr marL="0" lvl="0" indent="0" algn="l" rtl="0">
              <a:spcBef>
                <a:spcPts val="1200"/>
              </a:spcBef>
              <a:spcAft>
                <a:spcPts val="0"/>
              </a:spcAft>
              <a:buClr>
                <a:schemeClr val="dk1"/>
              </a:buClr>
              <a:buSzPts val="1100"/>
              <a:buFont typeface="Arial" panose="020B0704020202020204"/>
              <a:buNone/>
            </a:pPr>
            <a:r>
              <a:rPr lang="en-GB" sz="1100" b="1">
                <a:solidFill>
                  <a:schemeClr val="dk1"/>
                </a:solidFill>
              </a:rPr>
              <a:t>43</a:t>
            </a:r>
            <a:r>
              <a:rPr lang="en-GB" sz="1100">
                <a:solidFill>
                  <a:schemeClr val="dk1"/>
                </a:solidFill>
              </a:rPr>
              <a:t> — Columns after feature engineering &amp; transforms</a:t>
            </a:r>
            <a:endParaRPr sz="1100">
              <a:solidFill>
                <a:schemeClr val="dk1"/>
              </a:solidFill>
            </a:endParaRPr>
          </a:p>
          <a:p>
            <a:pPr marL="0" lvl="0" indent="0" algn="l" rtl="0">
              <a:spcBef>
                <a:spcPts val="1200"/>
              </a:spcBef>
              <a:spcAft>
                <a:spcPts val="1200"/>
              </a:spcAft>
              <a:buNone/>
            </a:pPr>
          </a:p>
        </p:txBody>
      </p:sp>
      <p:sp>
        <p:nvSpPr>
          <p:cNvPr id="123" name="Google Shape;123;p25"/>
          <p:cNvSpPr txBox="1"/>
          <p:nvPr/>
        </p:nvSpPr>
        <p:spPr>
          <a:xfrm>
            <a:off x="311700" y="428225"/>
            <a:ext cx="4169100"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2"/>
                </a:solidFill>
              </a:rPr>
              <a:t>Balanced design enables fair between-group comparison</a:t>
            </a:r>
            <a:endParaRPr sz="1200">
              <a:solidFill>
                <a:schemeClr val="dk2"/>
              </a:solidFill>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27" name="Shape 127"/>
        <p:cNvGrpSpPr/>
        <p:nvPr/>
      </p:nvGrpSpPr>
      <p:grpSpPr>
        <a:xfrm>
          <a:off x="0" y="0"/>
          <a:ext cx="0" cy="0"/>
          <a:chOff x="0" y="0"/>
          <a:chExt cx="0" cy="0"/>
        </a:xfrm>
      </p:grpSpPr>
      <p:sp>
        <p:nvSpPr>
          <p:cNvPr id="128" name="Google Shape;128;p26"/>
          <p:cNvSpPr txBox="1"/>
          <p:nvPr>
            <p:ph type="title"/>
          </p:nvPr>
        </p:nvSpPr>
        <p:spPr>
          <a:xfrm>
            <a:off x="311700" y="0"/>
            <a:ext cx="37551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Preprocessing Pipeline</a:t>
            </a:r>
            <a:endParaRPr lang="en-GB"/>
          </a:p>
        </p:txBody>
      </p:sp>
      <p:sp>
        <p:nvSpPr>
          <p:cNvPr id="129" name="Google Shape;129;p26"/>
          <p:cNvSpPr txBox="1"/>
          <p:nvPr>
            <p:ph type="body" idx="1"/>
          </p:nvPr>
        </p:nvSpPr>
        <p:spPr>
          <a:xfrm>
            <a:off x="0" y="1120725"/>
            <a:ext cx="3003000" cy="1169400"/>
          </a:xfrm>
          <a:prstGeom prst="rect">
            <a:avLst/>
          </a:prstGeom>
        </p:spPr>
        <p:txBody>
          <a:bodyPr spcFirstLastPara="1" wrap="square" lIns="91425" tIns="91425" rIns="91425" bIns="91425" anchor="t" anchorCtr="0">
            <a:normAutofit/>
          </a:bodyPr>
          <a:lstStyle/>
          <a:p>
            <a:pPr marL="457200" lvl="0" indent="-298450" algn="l" rtl="0">
              <a:spcBef>
                <a:spcPts val="0"/>
              </a:spcBef>
              <a:spcAft>
                <a:spcPts val="0"/>
              </a:spcAft>
              <a:buSzPts val="1100"/>
              <a:buAutoNum type="arabicPeriod"/>
            </a:pPr>
            <a:r>
              <a:rPr lang="en-GB" sz="1100" b="1">
                <a:solidFill>
                  <a:schemeClr val="dk1"/>
                </a:solidFill>
              </a:rPr>
              <a:t>Type Coercion</a:t>
            </a:r>
            <a:r>
              <a:rPr lang="en-GB" sz="1100">
                <a:solidFill>
                  <a:schemeClr val="dk1"/>
                </a:solidFill>
              </a:rPr>
              <a:t> — Parse </a:t>
            </a:r>
            <a:r>
              <a:rPr lang="en-GB" sz="1100">
                <a:solidFill>
                  <a:srgbClr val="188038"/>
                </a:solidFill>
              </a:rPr>
              <a:t>published_at</a:t>
            </a:r>
            <a:r>
              <a:rPr lang="en-GB" sz="1100">
                <a:solidFill>
                  <a:schemeClr val="dk1"/>
                </a:solidFill>
              </a:rPr>
              <a:t> as datetime; force view/like/comment/subscriber counts to numeric.</a:t>
            </a:r>
            <a:endParaRPr sz="1300"/>
          </a:p>
        </p:txBody>
      </p:sp>
      <p:sp>
        <p:nvSpPr>
          <p:cNvPr id="130" name="Google Shape;130;p26"/>
          <p:cNvSpPr txBox="1"/>
          <p:nvPr/>
        </p:nvSpPr>
        <p:spPr>
          <a:xfrm>
            <a:off x="311700" y="515425"/>
            <a:ext cx="4540200" cy="36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2"/>
                </a:solidFill>
              </a:rPr>
              <a:t>Six steps transform raw API data into an analysis-ready dataset</a:t>
            </a:r>
            <a:endParaRPr sz="1200">
              <a:solidFill>
                <a:schemeClr val="dk2"/>
              </a:solidFill>
            </a:endParaRPr>
          </a:p>
        </p:txBody>
      </p:sp>
      <p:sp>
        <p:nvSpPr>
          <p:cNvPr id="131" name="Google Shape;131;p26"/>
          <p:cNvSpPr txBox="1"/>
          <p:nvPr/>
        </p:nvSpPr>
        <p:spPr>
          <a:xfrm>
            <a:off x="3050100" y="1170975"/>
            <a:ext cx="2730600" cy="10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300">
                <a:solidFill>
                  <a:schemeClr val="dk2"/>
                </a:solidFill>
              </a:rPr>
              <a:t>2. </a:t>
            </a:r>
            <a:r>
              <a:rPr lang="en-GB" sz="1100" b="1">
                <a:solidFill>
                  <a:schemeClr val="dk1"/>
                </a:solidFill>
              </a:rPr>
              <a:t>Filter to Micro-Creators</a:t>
            </a:r>
            <a:r>
              <a:rPr lang="en-GB" sz="1100">
                <a:solidFill>
                  <a:schemeClr val="dk1"/>
                </a:solidFill>
              </a:rPr>
              <a:t> — Keep only channels with fewer than 10,000 subscribers to match the research scope.</a:t>
            </a:r>
            <a:endParaRPr sz="1100">
              <a:solidFill>
                <a:schemeClr val="dk2"/>
              </a:solidFill>
            </a:endParaRPr>
          </a:p>
        </p:txBody>
      </p:sp>
      <p:sp>
        <p:nvSpPr>
          <p:cNvPr id="132" name="Google Shape;132;p26"/>
          <p:cNvSpPr txBox="1"/>
          <p:nvPr/>
        </p:nvSpPr>
        <p:spPr>
          <a:xfrm>
            <a:off x="6225125" y="1075725"/>
            <a:ext cx="2730600" cy="125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300">
                <a:solidFill>
                  <a:schemeClr val="dk2"/>
                </a:solidFill>
              </a:rPr>
              <a:t>3. </a:t>
            </a:r>
            <a:r>
              <a:rPr lang="en-GB" sz="1100" b="1">
                <a:solidFill>
                  <a:schemeClr val="dk1"/>
                </a:solidFill>
              </a:rPr>
              <a:t>Feature Engineering</a:t>
            </a:r>
            <a:r>
              <a:rPr lang="en-GB" sz="1100">
                <a:solidFill>
                  <a:schemeClr val="dk1"/>
                </a:solidFill>
              </a:rPr>
              <a:t> — Derive </a:t>
            </a:r>
            <a:r>
              <a:rPr lang="en-GB" sz="1100">
                <a:solidFill>
                  <a:srgbClr val="188038"/>
                </a:solidFill>
                <a:latin typeface="Roboto Mono" panose="00000009000000000000"/>
                <a:ea typeface="Roboto Mono" panose="00000009000000000000"/>
                <a:cs typeface="Roboto Mono" panose="00000009000000000000"/>
                <a:sym typeface="Roboto Mono" panose="00000009000000000000"/>
              </a:rPr>
              <a:t>post_hour</a:t>
            </a:r>
            <a:r>
              <a:rPr lang="en-GB" sz="1100">
                <a:solidFill>
                  <a:schemeClr val="dk1"/>
                </a:solidFill>
              </a:rPr>
              <a:t>, </a:t>
            </a:r>
            <a:r>
              <a:rPr lang="en-GB" sz="1100">
                <a:solidFill>
                  <a:srgbClr val="188038"/>
                </a:solidFill>
                <a:latin typeface="Roboto Mono" panose="00000009000000000000"/>
                <a:ea typeface="Roboto Mono" panose="00000009000000000000"/>
                <a:cs typeface="Roboto Mono" panose="00000009000000000000"/>
                <a:sym typeface="Roboto Mono" panose="00000009000000000000"/>
              </a:rPr>
              <a:t>post_day</a:t>
            </a:r>
            <a:r>
              <a:rPr lang="en-GB" sz="1100">
                <a:solidFill>
                  <a:schemeClr val="dk1"/>
                </a:solidFill>
              </a:rPr>
              <a:t>, </a:t>
            </a:r>
            <a:r>
              <a:rPr lang="en-GB" sz="1100">
                <a:solidFill>
                  <a:srgbClr val="188038"/>
                </a:solidFill>
                <a:latin typeface="Roboto Mono" panose="00000009000000000000"/>
                <a:ea typeface="Roboto Mono" panose="00000009000000000000"/>
                <a:cs typeface="Roboto Mono" panose="00000009000000000000"/>
                <a:sym typeface="Roboto Mono" panose="00000009000000000000"/>
              </a:rPr>
              <a:t>desc_length</a:t>
            </a:r>
            <a:r>
              <a:rPr lang="en-GB" sz="1100">
                <a:solidFill>
                  <a:schemeClr val="dk1"/>
                </a:solidFill>
              </a:rPr>
              <a:t>, hashtag counts, content flags (</a:t>
            </a:r>
            <a:r>
              <a:rPr lang="en-GB" sz="1100">
                <a:solidFill>
                  <a:srgbClr val="188038"/>
                </a:solidFill>
                <a:latin typeface="Roboto Mono" panose="00000009000000000000"/>
                <a:ea typeface="Roboto Mono" panose="00000009000000000000"/>
                <a:cs typeface="Roboto Mono" panose="00000009000000000000"/>
                <a:sym typeface="Roboto Mono" panose="00000009000000000000"/>
              </a:rPr>
              <a:t>is_vlog</a:t>
            </a:r>
            <a:r>
              <a:rPr lang="en-GB" sz="1100">
                <a:solidFill>
                  <a:schemeClr val="dk1"/>
                </a:solidFill>
              </a:rPr>
              <a:t>, </a:t>
            </a:r>
            <a:r>
              <a:rPr lang="en-GB" sz="1100">
                <a:solidFill>
                  <a:srgbClr val="188038"/>
                </a:solidFill>
                <a:latin typeface="Roboto Mono" panose="00000009000000000000"/>
                <a:ea typeface="Roboto Mono" panose="00000009000000000000"/>
                <a:cs typeface="Roboto Mono" panose="00000009000000000000"/>
                <a:sym typeface="Roboto Mono" panose="00000009000000000000"/>
              </a:rPr>
              <a:t>is_short</a:t>
            </a:r>
            <a:r>
              <a:rPr lang="en-GB" sz="1100">
                <a:solidFill>
                  <a:schemeClr val="dk1"/>
                </a:solidFill>
              </a:rPr>
              <a:t>…), and </a:t>
            </a:r>
            <a:r>
              <a:rPr lang="en-GB" sz="1100">
                <a:solidFill>
                  <a:srgbClr val="188038"/>
                </a:solidFill>
                <a:latin typeface="Roboto Mono" panose="00000009000000000000"/>
                <a:ea typeface="Roboto Mono" panose="00000009000000000000"/>
                <a:cs typeface="Roboto Mono" panose="00000009000000000000"/>
                <a:sym typeface="Roboto Mono" panose="00000009000000000000"/>
              </a:rPr>
              <a:t>duration_seconds</a:t>
            </a:r>
            <a:r>
              <a:rPr lang="en-GB" sz="1100">
                <a:solidFill>
                  <a:schemeClr val="dk1"/>
                </a:solidFill>
              </a:rPr>
              <a:t> from ISO-8601.</a:t>
            </a:r>
            <a:endParaRPr sz="1300">
              <a:solidFill>
                <a:schemeClr val="dk2"/>
              </a:solidFill>
            </a:endParaRPr>
          </a:p>
        </p:txBody>
      </p:sp>
      <p:sp>
        <p:nvSpPr>
          <p:cNvPr id="133" name="Google Shape;133;p26"/>
          <p:cNvSpPr txBox="1"/>
          <p:nvPr/>
        </p:nvSpPr>
        <p:spPr>
          <a:xfrm>
            <a:off x="192625" y="2851150"/>
            <a:ext cx="2624700" cy="125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300">
                <a:solidFill>
                  <a:schemeClr val="dk2"/>
                </a:solidFill>
              </a:rPr>
              <a:t>4. </a:t>
            </a:r>
            <a:r>
              <a:rPr lang="en-GB" sz="1100" b="1">
                <a:solidFill>
                  <a:schemeClr val="dk1"/>
                </a:solidFill>
              </a:rPr>
              <a:t>Log Transformation</a:t>
            </a:r>
            <a:r>
              <a:rPr lang="en-GB" sz="1100">
                <a:solidFill>
                  <a:schemeClr val="dk1"/>
                </a:solidFill>
              </a:rPr>
              <a:t> — Apply </a:t>
            </a:r>
            <a:r>
              <a:rPr lang="en-GB" sz="1100">
                <a:solidFill>
                  <a:srgbClr val="188038"/>
                </a:solidFill>
                <a:latin typeface="Roboto Mono" panose="00000009000000000000"/>
                <a:ea typeface="Roboto Mono" panose="00000009000000000000"/>
                <a:cs typeface="Roboto Mono" panose="00000009000000000000"/>
                <a:sym typeface="Roboto Mono" panose="00000009000000000000"/>
              </a:rPr>
              <a:t>log1p</a:t>
            </a:r>
            <a:r>
              <a:rPr lang="en-GB" sz="1100">
                <a:solidFill>
                  <a:schemeClr val="dk1"/>
                </a:solidFill>
              </a:rPr>
              <a:t> to skewed count variables (views, likes, comments, subscribers) to stabilise variance.</a:t>
            </a:r>
            <a:endParaRPr sz="1300">
              <a:solidFill>
                <a:schemeClr val="dk2"/>
              </a:solidFill>
            </a:endParaRPr>
          </a:p>
        </p:txBody>
      </p:sp>
      <p:sp>
        <p:nvSpPr>
          <p:cNvPr id="134" name="Google Shape;134;p26"/>
          <p:cNvSpPr txBox="1"/>
          <p:nvPr/>
        </p:nvSpPr>
        <p:spPr>
          <a:xfrm>
            <a:off x="3081875" y="2946400"/>
            <a:ext cx="2730600" cy="10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300">
                <a:solidFill>
                  <a:schemeClr val="dk2"/>
                </a:solidFill>
              </a:rPr>
              <a:t>5. </a:t>
            </a:r>
            <a:r>
              <a:rPr lang="en-GB" sz="1100" b="1">
                <a:solidFill>
                  <a:schemeClr val="dk1"/>
                </a:solidFill>
              </a:rPr>
              <a:t>Standardisation</a:t>
            </a:r>
            <a:r>
              <a:rPr lang="en-GB" sz="1100">
                <a:solidFill>
                  <a:schemeClr val="dk1"/>
                </a:solidFill>
              </a:rPr>
              <a:t> — Z-score logged features using </a:t>
            </a:r>
            <a:r>
              <a:rPr lang="en-GB" sz="1100">
                <a:solidFill>
                  <a:srgbClr val="188038"/>
                </a:solidFill>
                <a:latin typeface="Roboto Mono" panose="00000009000000000000"/>
                <a:ea typeface="Roboto Mono" panose="00000009000000000000"/>
                <a:cs typeface="Roboto Mono" panose="00000009000000000000"/>
                <a:sym typeface="Roboto Mono" panose="00000009000000000000"/>
              </a:rPr>
              <a:t>StandardScaler</a:t>
            </a:r>
            <a:r>
              <a:rPr lang="en-GB" sz="1100">
                <a:solidFill>
                  <a:schemeClr val="dk1"/>
                </a:solidFill>
              </a:rPr>
              <a:t> so every feature lies on a comparable scale.</a:t>
            </a:r>
            <a:endParaRPr sz="1300">
              <a:solidFill>
                <a:schemeClr val="dk2"/>
              </a:solidFill>
            </a:endParaRPr>
          </a:p>
        </p:txBody>
      </p:sp>
      <p:sp>
        <p:nvSpPr>
          <p:cNvPr id="135" name="Google Shape;135;p26"/>
          <p:cNvSpPr txBox="1"/>
          <p:nvPr/>
        </p:nvSpPr>
        <p:spPr>
          <a:xfrm>
            <a:off x="6330950" y="2925225"/>
            <a:ext cx="2677500" cy="9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300">
                <a:solidFill>
                  <a:schemeClr val="dk2"/>
                </a:solidFill>
              </a:rPr>
              <a:t>6. </a:t>
            </a:r>
            <a:r>
              <a:rPr lang="en-GB" sz="1100" b="1">
                <a:solidFill>
                  <a:schemeClr val="dk1"/>
                </a:solidFill>
              </a:rPr>
              <a:t>Group Assignment</a:t>
            </a:r>
            <a:r>
              <a:rPr lang="en-GB" sz="1100">
                <a:solidFill>
                  <a:schemeClr val="dk1"/>
                </a:solidFill>
              </a:rPr>
              <a:t> — Split videos at the median like-rate into High and Low engagement groups for comparison.</a:t>
            </a:r>
            <a:endParaRPr sz="1300">
              <a:solidFill>
                <a:schemeClr val="dk2"/>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0"/>
            <a:ext cx="4814400" cy="522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Log Transform: Before vs. After</a:t>
            </a:r>
            <a:endParaRPr lang="en-GB"/>
          </a:p>
        </p:txBody>
      </p:sp>
      <p:sp>
        <p:nvSpPr>
          <p:cNvPr id="141" name="Google Shape;141;p27"/>
          <p:cNvSpPr txBox="1"/>
          <p:nvPr/>
        </p:nvSpPr>
        <p:spPr>
          <a:xfrm>
            <a:off x="319775" y="552875"/>
            <a:ext cx="56445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solidFill>
                  <a:schemeClr val="dk2"/>
                </a:solidFill>
              </a:rPr>
              <a:t>log1p transformation collapses extreme skewness into near-symmetric distributions</a:t>
            </a:r>
            <a:endParaRPr sz="1100">
              <a:solidFill>
                <a:schemeClr val="dk2"/>
              </a:solidFill>
            </a:endParaRPr>
          </a:p>
        </p:txBody>
      </p:sp>
      <p:pic>
        <p:nvPicPr>
          <p:cNvPr id="142" name="Google Shape;142;p27"/>
          <p:cNvPicPr preferRelativeResize="0"/>
          <p:nvPr/>
        </p:nvPicPr>
        <p:blipFill>
          <a:blip r:embed="rId1"/>
          <a:stretch>
            <a:fillRect/>
          </a:stretch>
        </p:blipFill>
        <p:spPr>
          <a:xfrm>
            <a:off x="1031928" y="1255175"/>
            <a:ext cx="7080150" cy="3225800"/>
          </a:xfrm>
          <a:prstGeom prst="rect">
            <a:avLst/>
          </a:prstGeom>
          <a:noFill/>
          <a:ln>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46" name="Shape 146"/>
        <p:cNvGrpSpPr/>
        <p:nvPr/>
      </p:nvGrpSpPr>
      <p:grpSpPr>
        <a:xfrm>
          <a:off x="0" y="0"/>
          <a:ext cx="0" cy="0"/>
          <a:chOff x="0" y="0"/>
          <a:chExt cx="0" cy="0"/>
        </a:xfrm>
      </p:grpSpPr>
      <p:sp>
        <p:nvSpPr>
          <p:cNvPr id="147" name="Google Shape;147;p28"/>
          <p:cNvSpPr/>
          <p:nvPr/>
        </p:nvSpPr>
        <p:spPr>
          <a:xfrm>
            <a:off x="0" y="0"/>
            <a:ext cx="9144000" cy="502800"/>
          </a:xfrm>
          <a:prstGeom prst="rect">
            <a:avLst/>
          </a:prstGeom>
          <a:solidFill>
            <a:srgbClr val="BB2217"/>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nvGrpSpPr>
          <p:cNvPr id="148" name="Google Shape;148;p28"/>
          <p:cNvGrpSpPr/>
          <p:nvPr/>
        </p:nvGrpSpPr>
        <p:grpSpPr>
          <a:xfrm>
            <a:off x="365760" y="73152"/>
            <a:ext cx="5486400" cy="347400"/>
            <a:chOff x="365760" y="73152"/>
            <a:chExt cx="5486400" cy="347400"/>
          </a:xfrm>
        </p:grpSpPr>
        <p:sp>
          <p:nvSpPr>
            <p:cNvPr id="149" name="Google Shape;149;p28"/>
            <p:cNvSpPr/>
            <p:nvPr/>
          </p:nvSpPr>
          <p:spPr>
            <a:xfrm>
              <a:off x="365760" y="73152"/>
              <a:ext cx="5486400" cy="347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50" name="Google Shape;150;p28"/>
            <p:cNvSpPr txBox="1"/>
            <p:nvPr/>
          </p:nvSpPr>
          <p:spPr>
            <a:xfrm>
              <a:off x="365760" y="73152"/>
              <a:ext cx="5486400" cy="34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FFFFFF"/>
                  </a:solidFill>
                  <a:latin typeface="Arial" panose="020B0704020202020204"/>
                  <a:ea typeface="Arial" panose="020B0704020202020204"/>
                  <a:cs typeface="Arial" panose="020B0704020202020204"/>
                  <a:sym typeface="Arial" panose="020B0704020202020204"/>
                </a:rPr>
                <a:t>▶ Market Segmentation</a:t>
              </a:r>
              <a:endParaRPr sz="1800" b="1">
                <a:solidFill>
                  <a:srgbClr val="FFFFFF"/>
                </a:solidFill>
                <a:latin typeface="Arial" panose="020B0704020202020204"/>
                <a:ea typeface="Arial" panose="020B0704020202020204"/>
                <a:cs typeface="Arial" panose="020B0704020202020204"/>
                <a:sym typeface="Arial" panose="020B0704020202020204"/>
              </a:endParaRPr>
            </a:p>
          </p:txBody>
        </p:sp>
      </p:grpSp>
      <p:grpSp>
        <p:nvGrpSpPr>
          <p:cNvPr id="151" name="Google Shape;151;p28"/>
          <p:cNvGrpSpPr/>
          <p:nvPr/>
        </p:nvGrpSpPr>
        <p:grpSpPr>
          <a:xfrm>
            <a:off x="365760" y="499745"/>
            <a:ext cx="8412600" cy="457200"/>
            <a:chOff x="365760" y="499745"/>
            <a:chExt cx="8412600" cy="457200"/>
          </a:xfrm>
        </p:grpSpPr>
        <p:sp>
          <p:nvSpPr>
            <p:cNvPr id="152" name="Google Shape;152;p28"/>
            <p:cNvSpPr/>
            <p:nvPr/>
          </p:nvSpPr>
          <p:spPr>
            <a:xfrm>
              <a:off x="365760" y="499745"/>
              <a:ext cx="84126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53" name="Google Shape;153;p28"/>
            <p:cNvSpPr txBox="1"/>
            <p:nvPr/>
          </p:nvSpPr>
          <p:spPr>
            <a:xfrm>
              <a:off x="365760" y="499745"/>
              <a:ext cx="84126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600" b="1">
                  <a:solidFill>
                    <a:srgbClr val="0F0F0F"/>
                  </a:solidFill>
                  <a:latin typeface="Arial" panose="020B0704020202020204"/>
                  <a:ea typeface="Arial" panose="020B0704020202020204"/>
                  <a:cs typeface="Arial" panose="020B0704020202020204"/>
                  <a:sym typeface="Arial" panose="020B0704020202020204"/>
                </a:rPr>
                <a:t>YouTube Creator Dynamics</a:t>
              </a:r>
              <a:endParaRPr sz="2600" b="1">
                <a:solidFill>
                  <a:srgbClr val="0F0F0F"/>
                </a:solidFill>
                <a:latin typeface="Arial" panose="020B0704020202020204"/>
                <a:ea typeface="Arial" panose="020B0704020202020204"/>
                <a:cs typeface="Arial" panose="020B0704020202020204"/>
                <a:sym typeface="Arial" panose="020B0704020202020204"/>
              </a:endParaRPr>
            </a:p>
          </p:txBody>
        </p:sp>
      </p:grpSp>
      <p:grpSp>
        <p:nvGrpSpPr>
          <p:cNvPr id="154" name="Google Shape;154;p28"/>
          <p:cNvGrpSpPr/>
          <p:nvPr/>
        </p:nvGrpSpPr>
        <p:grpSpPr>
          <a:xfrm>
            <a:off x="365760" y="938657"/>
            <a:ext cx="8412600" cy="274200"/>
            <a:chOff x="365760" y="938657"/>
            <a:chExt cx="8412600" cy="274200"/>
          </a:xfrm>
        </p:grpSpPr>
        <p:sp>
          <p:nvSpPr>
            <p:cNvPr id="155" name="Google Shape;155;p28"/>
            <p:cNvSpPr/>
            <p:nvPr/>
          </p:nvSpPr>
          <p:spPr>
            <a:xfrm>
              <a:off x="365760" y="938657"/>
              <a:ext cx="8412600" cy="274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56" name="Google Shape;156;p28"/>
            <p:cNvSpPr txBox="1"/>
            <p:nvPr/>
          </p:nvSpPr>
          <p:spPr>
            <a:xfrm>
              <a:off x="365760" y="938657"/>
              <a:ext cx="8412600" cy="274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0">
                  <a:solidFill>
                    <a:srgbClr val="606060"/>
                  </a:solidFill>
                  <a:latin typeface="Arial" panose="020B0704020202020204"/>
                  <a:ea typeface="Arial" panose="020B0704020202020204"/>
                  <a:cs typeface="Arial" panose="020B0704020202020204"/>
                  <a:sym typeface="Arial" panose="020B0704020202020204"/>
                </a:rPr>
                <a:t>Clustering YouTube Creators via K-Means reveals four distinct strategic profiles.</a:t>
              </a:r>
              <a:endParaRPr sz="1200" b="0">
                <a:solidFill>
                  <a:srgbClr val="606060"/>
                </a:solidFill>
                <a:latin typeface="Arial" panose="020B0704020202020204"/>
                <a:ea typeface="Arial" panose="020B0704020202020204"/>
                <a:cs typeface="Arial" panose="020B0704020202020204"/>
                <a:sym typeface="Arial" panose="020B0704020202020204"/>
              </a:endParaRPr>
            </a:p>
          </p:txBody>
        </p:sp>
      </p:grpSp>
      <p:grpSp>
        <p:nvGrpSpPr>
          <p:cNvPr id="157" name="Google Shape;157;p28"/>
          <p:cNvGrpSpPr/>
          <p:nvPr/>
        </p:nvGrpSpPr>
        <p:grpSpPr>
          <a:xfrm>
            <a:off x="365760" y="3188125"/>
            <a:ext cx="4191000" cy="857400"/>
            <a:chOff x="365760" y="1333500"/>
            <a:chExt cx="4191000" cy="857400"/>
          </a:xfrm>
        </p:grpSpPr>
        <p:sp>
          <p:nvSpPr>
            <p:cNvPr id="158" name="Google Shape;158;p28"/>
            <p:cNvSpPr/>
            <p:nvPr/>
          </p:nvSpPr>
          <p:spPr>
            <a:xfrm>
              <a:off x="365760" y="1333500"/>
              <a:ext cx="4191000" cy="857400"/>
            </a:xfrm>
            <a:prstGeom prst="roundRect">
              <a:avLst>
                <a:gd name="adj" fmla="val 4444"/>
              </a:avLst>
            </a:prstGeom>
            <a:solidFill>
              <a:srgbClr val="FFFFFF"/>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59" name="Google Shape;159;p28"/>
            <p:cNvSpPr/>
            <p:nvPr/>
          </p:nvSpPr>
          <p:spPr>
            <a:xfrm>
              <a:off x="365760" y="1333500"/>
              <a:ext cx="57300" cy="857400"/>
            </a:xfrm>
            <a:prstGeom prst="rect">
              <a:avLst/>
            </a:prstGeom>
            <a:solidFill>
              <a:srgbClr val="67A0AE"/>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60" name="Google Shape;160;p28"/>
            <p:cNvSpPr txBox="1"/>
            <p:nvPr/>
          </p:nvSpPr>
          <p:spPr>
            <a:xfrm>
              <a:off x="518160" y="1333500"/>
              <a:ext cx="39432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300" b="1">
                  <a:solidFill>
                    <a:srgbClr val="0F0F0F"/>
                  </a:solidFill>
                  <a:latin typeface="Arial" panose="020B0704020202020204"/>
                  <a:ea typeface="Arial" panose="020B0704020202020204"/>
                  <a:cs typeface="Arial" panose="020B0704020202020204"/>
                  <a:sym typeface="Arial" panose="020B0704020202020204"/>
                </a:rPr>
                <a:t>Viral Elite</a:t>
              </a:r>
              <a:endParaRPr sz="1300" b="1">
                <a:solidFill>
                  <a:srgbClr val="0F0F0F"/>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a:solidFill>
                    <a:srgbClr val="606060"/>
                  </a:solidFill>
                  <a:latin typeface="Arial" panose="020B0704020202020204"/>
                  <a:ea typeface="Arial" panose="020B0704020202020204"/>
                  <a:cs typeface="Arial" panose="020B0704020202020204"/>
                  <a:sym typeface="Arial" panose="020B0704020202020204"/>
                </a:rPr>
                <a:t>Efficiency-driven; optimized for instant algorithm velocity. </a:t>
              </a:r>
              <a:endParaRPr sz="1000">
                <a:solidFill>
                  <a:srgbClr val="606060"/>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b="1">
                  <a:solidFill>
                    <a:srgbClr val="67A0AE"/>
                  </a:solidFill>
                  <a:latin typeface="Arial" panose="020B0704020202020204"/>
                  <a:ea typeface="Arial" panose="020B0704020202020204"/>
                  <a:cs typeface="Arial" panose="020B0704020202020204"/>
                  <a:sym typeface="Arial" panose="020B0704020202020204"/>
                </a:rPr>
                <a:t>Avg Subs: 83K</a:t>
              </a:r>
              <a:endParaRPr sz="1000">
                <a:solidFill>
                  <a:srgbClr val="67A0AE"/>
                </a:solidFill>
                <a:latin typeface="Arial" panose="020B0704020202020204"/>
                <a:ea typeface="Arial" panose="020B0704020202020204"/>
                <a:cs typeface="Arial" panose="020B0704020202020204"/>
                <a:sym typeface="Arial" panose="020B0704020202020204"/>
              </a:endParaRPr>
            </a:p>
          </p:txBody>
        </p:sp>
      </p:grpSp>
      <p:grpSp>
        <p:nvGrpSpPr>
          <p:cNvPr id="161" name="Google Shape;161;p28"/>
          <p:cNvGrpSpPr/>
          <p:nvPr/>
        </p:nvGrpSpPr>
        <p:grpSpPr>
          <a:xfrm>
            <a:off x="365740" y="1283133"/>
            <a:ext cx="4191000" cy="857400"/>
            <a:chOff x="4587240" y="1333500"/>
            <a:chExt cx="4191000" cy="857400"/>
          </a:xfrm>
        </p:grpSpPr>
        <p:sp>
          <p:nvSpPr>
            <p:cNvPr id="162" name="Google Shape;162;p28"/>
            <p:cNvSpPr/>
            <p:nvPr/>
          </p:nvSpPr>
          <p:spPr>
            <a:xfrm>
              <a:off x="4587240" y="1333500"/>
              <a:ext cx="4191000" cy="857400"/>
            </a:xfrm>
            <a:prstGeom prst="roundRect">
              <a:avLst>
                <a:gd name="adj" fmla="val 4444"/>
              </a:avLst>
            </a:prstGeom>
            <a:solidFill>
              <a:srgbClr val="FFFFFF"/>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63" name="Google Shape;163;p28"/>
            <p:cNvSpPr/>
            <p:nvPr/>
          </p:nvSpPr>
          <p:spPr>
            <a:xfrm>
              <a:off x="4587240" y="1333500"/>
              <a:ext cx="57300" cy="857400"/>
            </a:xfrm>
            <a:prstGeom prst="rect">
              <a:avLst/>
            </a:prstGeom>
            <a:solidFill>
              <a:srgbClr val="65C1A7"/>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64" name="Google Shape;164;p28"/>
            <p:cNvSpPr txBox="1"/>
            <p:nvPr/>
          </p:nvSpPr>
          <p:spPr>
            <a:xfrm>
              <a:off x="4739640" y="1333500"/>
              <a:ext cx="39432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300" b="1">
                  <a:solidFill>
                    <a:srgbClr val="0F0F0F"/>
                  </a:solidFill>
                  <a:latin typeface="Arial" panose="020B0704020202020204"/>
                  <a:ea typeface="Arial" panose="020B0704020202020204"/>
                  <a:cs typeface="Arial" panose="020B0704020202020204"/>
                  <a:sym typeface="Arial" panose="020B0704020202020204"/>
                </a:rPr>
                <a:t>Authority Archives</a:t>
              </a:r>
              <a:endParaRPr sz="1300" b="1">
                <a:solidFill>
                  <a:srgbClr val="0F0F0F"/>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a:solidFill>
                    <a:srgbClr val="606060"/>
                  </a:solidFill>
                  <a:latin typeface="Arial" panose="020B0704020202020204"/>
                  <a:ea typeface="Arial" panose="020B0704020202020204"/>
                  <a:cs typeface="Arial" panose="020B0704020202020204"/>
                  <a:sym typeface="Arial" panose="020B0704020202020204"/>
                </a:rPr>
                <a:t>Asset-driven; optimized for long-term brand equity. </a:t>
              </a:r>
              <a:endParaRPr sz="1000">
                <a:solidFill>
                  <a:srgbClr val="606060"/>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b="1">
                  <a:solidFill>
                    <a:srgbClr val="65C1A7"/>
                  </a:solidFill>
                  <a:latin typeface="Arial" panose="020B0704020202020204"/>
                  <a:ea typeface="Arial" panose="020B0704020202020204"/>
                  <a:cs typeface="Arial" panose="020B0704020202020204"/>
                  <a:sym typeface="Arial" panose="020B0704020202020204"/>
                </a:rPr>
                <a:t>Avg Subs: 2.5M</a:t>
              </a:r>
              <a:endParaRPr sz="1000">
                <a:solidFill>
                  <a:srgbClr val="65C1A7"/>
                </a:solidFill>
                <a:latin typeface="Arial" panose="020B0704020202020204"/>
                <a:ea typeface="Arial" panose="020B0704020202020204"/>
                <a:cs typeface="Arial" panose="020B0704020202020204"/>
                <a:sym typeface="Arial" panose="020B0704020202020204"/>
              </a:endParaRPr>
            </a:p>
          </p:txBody>
        </p:sp>
      </p:grpSp>
      <p:grpSp>
        <p:nvGrpSpPr>
          <p:cNvPr id="165" name="Google Shape;165;p28"/>
          <p:cNvGrpSpPr/>
          <p:nvPr/>
        </p:nvGrpSpPr>
        <p:grpSpPr>
          <a:xfrm>
            <a:off x="365760" y="4140625"/>
            <a:ext cx="4191000" cy="857400"/>
            <a:chOff x="365760" y="2286000"/>
            <a:chExt cx="4191000" cy="857400"/>
          </a:xfrm>
        </p:grpSpPr>
        <p:sp>
          <p:nvSpPr>
            <p:cNvPr id="166" name="Google Shape;166;p28"/>
            <p:cNvSpPr/>
            <p:nvPr/>
          </p:nvSpPr>
          <p:spPr>
            <a:xfrm>
              <a:off x="365760" y="2286000"/>
              <a:ext cx="4191000" cy="857400"/>
            </a:xfrm>
            <a:prstGeom prst="roundRect">
              <a:avLst>
                <a:gd name="adj" fmla="val 4444"/>
              </a:avLst>
            </a:prstGeom>
            <a:solidFill>
              <a:srgbClr val="FFFFFF"/>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67" name="Google Shape;167;p28"/>
            <p:cNvSpPr/>
            <p:nvPr/>
          </p:nvSpPr>
          <p:spPr>
            <a:xfrm>
              <a:off x="365760" y="2286000"/>
              <a:ext cx="57300" cy="857400"/>
            </a:xfrm>
            <a:prstGeom prst="rect">
              <a:avLst/>
            </a:prstGeom>
            <a:solidFill>
              <a:srgbClr val="A0DE83"/>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68" name="Google Shape;168;p28"/>
            <p:cNvSpPr txBox="1"/>
            <p:nvPr/>
          </p:nvSpPr>
          <p:spPr>
            <a:xfrm>
              <a:off x="518160" y="2286000"/>
              <a:ext cx="39432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300" b="1">
                  <a:solidFill>
                    <a:srgbClr val="0F0F0F"/>
                  </a:solidFill>
                  <a:latin typeface="Arial" panose="020B0704020202020204"/>
                  <a:ea typeface="Arial" panose="020B0704020202020204"/>
                  <a:cs typeface="Arial" panose="020B0704020202020204"/>
                  <a:sym typeface="Arial" panose="020B0704020202020204"/>
                </a:rPr>
                <a:t>Community Builders</a:t>
              </a:r>
              <a:endParaRPr sz="1300" b="1">
                <a:solidFill>
                  <a:srgbClr val="0F0F0F"/>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a:solidFill>
                    <a:srgbClr val="606060"/>
                  </a:solidFill>
                  <a:latin typeface="Arial" panose="020B0704020202020204"/>
                  <a:ea typeface="Arial" panose="020B0704020202020204"/>
                  <a:cs typeface="Arial" panose="020B0704020202020204"/>
                  <a:sym typeface="Arial" panose="020B0704020202020204"/>
                </a:rPr>
                <a:t>Loyalty-driven; optimized for deep audience engagement. </a:t>
              </a:r>
              <a:endParaRPr sz="1000">
                <a:solidFill>
                  <a:srgbClr val="606060"/>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b="1">
                  <a:solidFill>
                    <a:srgbClr val="A0DE83"/>
                  </a:solidFill>
                  <a:latin typeface="Arial" panose="020B0704020202020204"/>
                  <a:ea typeface="Arial" panose="020B0704020202020204"/>
                  <a:cs typeface="Arial" panose="020B0704020202020204"/>
                  <a:sym typeface="Arial" panose="020B0704020202020204"/>
                </a:rPr>
                <a:t>Avg Subs: 391</a:t>
              </a:r>
              <a:endParaRPr sz="1000">
                <a:solidFill>
                  <a:srgbClr val="A0DE83"/>
                </a:solidFill>
                <a:latin typeface="Arial" panose="020B0704020202020204"/>
                <a:ea typeface="Arial" panose="020B0704020202020204"/>
                <a:cs typeface="Arial" panose="020B0704020202020204"/>
                <a:sym typeface="Arial" panose="020B0704020202020204"/>
              </a:endParaRPr>
            </a:p>
          </p:txBody>
        </p:sp>
      </p:grpSp>
      <p:grpSp>
        <p:nvGrpSpPr>
          <p:cNvPr id="169" name="Google Shape;169;p28"/>
          <p:cNvGrpSpPr/>
          <p:nvPr/>
        </p:nvGrpSpPr>
        <p:grpSpPr>
          <a:xfrm>
            <a:off x="365740" y="2235633"/>
            <a:ext cx="4191000" cy="857400"/>
            <a:chOff x="4587240" y="2286000"/>
            <a:chExt cx="4191000" cy="857400"/>
          </a:xfrm>
        </p:grpSpPr>
        <p:sp>
          <p:nvSpPr>
            <p:cNvPr id="170" name="Google Shape;170;p28"/>
            <p:cNvSpPr/>
            <p:nvPr/>
          </p:nvSpPr>
          <p:spPr>
            <a:xfrm>
              <a:off x="4587240" y="2286000"/>
              <a:ext cx="4191000" cy="857400"/>
            </a:xfrm>
            <a:prstGeom prst="roundRect">
              <a:avLst>
                <a:gd name="adj" fmla="val 4444"/>
              </a:avLst>
            </a:prstGeom>
            <a:solidFill>
              <a:srgbClr val="FFFFFF"/>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71" name="Google Shape;171;p28"/>
            <p:cNvSpPr/>
            <p:nvPr/>
          </p:nvSpPr>
          <p:spPr>
            <a:xfrm>
              <a:off x="4587240" y="2286000"/>
              <a:ext cx="57300" cy="857400"/>
            </a:xfrm>
            <a:prstGeom prst="rect">
              <a:avLst/>
            </a:prstGeom>
            <a:solidFill>
              <a:srgbClr val="787CA8"/>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72" name="Google Shape;172;p28"/>
            <p:cNvSpPr txBox="1"/>
            <p:nvPr/>
          </p:nvSpPr>
          <p:spPr>
            <a:xfrm>
              <a:off x="4739640" y="2286000"/>
              <a:ext cx="39432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300" b="1">
                  <a:solidFill>
                    <a:srgbClr val="0F0F0F"/>
                  </a:solidFill>
                  <a:latin typeface="Arial" panose="020B0704020202020204"/>
                  <a:ea typeface="Arial" panose="020B0704020202020204"/>
                  <a:cs typeface="Arial" panose="020B0704020202020204"/>
                  <a:sym typeface="Arial" panose="020B0704020202020204"/>
                </a:rPr>
                <a:t>Rising Stars</a:t>
              </a:r>
              <a:endParaRPr sz="1300" b="1">
                <a:solidFill>
                  <a:srgbClr val="0F0F0F"/>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a:solidFill>
                    <a:srgbClr val="606060"/>
                  </a:solidFill>
                  <a:latin typeface="Arial" panose="020B0704020202020204"/>
                  <a:ea typeface="Arial" panose="020B0704020202020204"/>
                  <a:cs typeface="Arial" panose="020B0704020202020204"/>
                  <a:sym typeface="Arial" panose="020B0704020202020204"/>
                </a:rPr>
                <a:t>Growth-driven; the transition phase for new entrants. </a:t>
              </a:r>
              <a:endParaRPr sz="1000">
                <a:solidFill>
                  <a:srgbClr val="606060"/>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b="1">
                  <a:solidFill>
                    <a:srgbClr val="787CA8"/>
                  </a:solidFill>
                  <a:latin typeface="Arial" panose="020B0704020202020204"/>
                  <a:ea typeface="Arial" panose="020B0704020202020204"/>
                  <a:cs typeface="Arial" panose="020B0704020202020204"/>
                  <a:sym typeface="Arial" panose="020B0704020202020204"/>
                </a:rPr>
                <a:t>Avg Subs: 756K</a:t>
              </a:r>
              <a:endParaRPr sz="1000">
                <a:solidFill>
                  <a:srgbClr val="787CA8"/>
                </a:solidFill>
                <a:latin typeface="Arial" panose="020B0704020202020204"/>
                <a:ea typeface="Arial" panose="020B0704020202020204"/>
                <a:cs typeface="Arial" panose="020B0704020202020204"/>
                <a:sym typeface="Arial" panose="020B0704020202020204"/>
              </a:endParaRPr>
            </a:p>
          </p:txBody>
        </p:sp>
      </p:grpSp>
      <p:grpSp>
        <p:nvGrpSpPr>
          <p:cNvPr id="173" name="Google Shape;173;p28"/>
          <p:cNvGrpSpPr/>
          <p:nvPr/>
        </p:nvGrpSpPr>
        <p:grpSpPr>
          <a:xfrm>
            <a:off x="4735889" y="1212856"/>
            <a:ext cx="4254773" cy="3855436"/>
            <a:chOff x="311700" y="1295075"/>
            <a:chExt cx="4084451" cy="3701100"/>
          </a:xfrm>
        </p:grpSpPr>
        <p:pic>
          <p:nvPicPr>
            <p:cNvPr id="174" name="Google Shape;174;p28" title="截圖 2026-04-19 凌晨4.04.40.png"/>
            <p:cNvPicPr preferRelativeResize="0"/>
            <p:nvPr/>
          </p:nvPicPr>
          <p:blipFill rotWithShape="1">
            <a:blip r:embed="rId2"/>
            <a:srcRect r="23465"/>
            <a:stretch>
              <a:fillRect/>
            </a:stretch>
          </p:blipFill>
          <p:spPr>
            <a:xfrm>
              <a:off x="311700" y="1295075"/>
              <a:ext cx="4084451" cy="3701100"/>
            </a:xfrm>
            <a:prstGeom prst="rect">
              <a:avLst/>
            </a:prstGeom>
            <a:noFill/>
            <a:ln>
              <a:noFill/>
            </a:ln>
          </p:spPr>
        </p:pic>
        <p:pic>
          <p:nvPicPr>
            <p:cNvPr id="175" name="Google Shape;175;p28" title="截圖 2026-04-19 凌晨4.04.40.png"/>
            <p:cNvPicPr preferRelativeResize="0"/>
            <p:nvPr/>
          </p:nvPicPr>
          <p:blipFill rotWithShape="1">
            <a:blip r:embed="rId2"/>
            <a:srcRect l="78839" t="6217" r="1855" b="78309"/>
            <a:stretch>
              <a:fillRect/>
            </a:stretch>
          </p:blipFill>
          <p:spPr>
            <a:xfrm>
              <a:off x="3332375" y="1607325"/>
              <a:ext cx="870899" cy="484100"/>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79" name="Shape 179"/>
        <p:cNvGrpSpPr/>
        <p:nvPr/>
      </p:nvGrpSpPr>
      <p:grpSpPr>
        <a:xfrm>
          <a:off x="0" y="0"/>
          <a:ext cx="0" cy="0"/>
          <a:chOff x="0" y="0"/>
          <a:chExt cx="0" cy="0"/>
        </a:xfrm>
      </p:grpSpPr>
      <p:sp>
        <p:nvSpPr>
          <p:cNvPr id="180" name="Google Shape;180;p29"/>
          <p:cNvSpPr/>
          <p:nvPr/>
        </p:nvSpPr>
        <p:spPr>
          <a:xfrm>
            <a:off x="0" y="0"/>
            <a:ext cx="9144000" cy="502800"/>
          </a:xfrm>
          <a:prstGeom prst="rect">
            <a:avLst/>
          </a:prstGeom>
          <a:solidFill>
            <a:srgbClr val="BB2217"/>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nvGrpSpPr>
          <p:cNvPr id="181" name="Google Shape;181;p29"/>
          <p:cNvGrpSpPr/>
          <p:nvPr/>
        </p:nvGrpSpPr>
        <p:grpSpPr>
          <a:xfrm>
            <a:off x="365760" y="73152"/>
            <a:ext cx="5486400" cy="347400"/>
            <a:chOff x="365760" y="73152"/>
            <a:chExt cx="5486400" cy="347400"/>
          </a:xfrm>
        </p:grpSpPr>
        <p:sp>
          <p:nvSpPr>
            <p:cNvPr id="182" name="Google Shape;182;p29"/>
            <p:cNvSpPr/>
            <p:nvPr/>
          </p:nvSpPr>
          <p:spPr>
            <a:xfrm>
              <a:off x="365760" y="73152"/>
              <a:ext cx="5486400" cy="347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83" name="Google Shape;183;p29"/>
            <p:cNvSpPr txBox="1"/>
            <p:nvPr/>
          </p:nvSpPr>
          <p:spPr>
            <a:xfrm>
              <a:off x="365760" y="73152"/>
              <a:ext cx="5486400" cy="34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FFFFFF"/>
                  </a:solidFill>
                  <a:latin typeface="Arial" panose="020B0704020202020204"/>
                  <a:ea typeface="Arial" panose="020B0704020202020204"/>
                  <a:cs typeface="Arial" panose="020B0704020202020204"/>
                  <a:sym typeface="Arial" panose="020B0704020202020204"/>
                </a:rPr>
                <a:t>▶ Market Segmentation</a:t>
              </a:r>
              <a:endParaRPr sz="1800" b="1">
                <a:solidFill>
                  <a:srgbClr val="FFFFFF"/>
                </a:solidFill>
                <a:latin typeface="Arial" panose="020B0704020202020204"/>
                <a:ea typeface="Arial" panose="020B0704020202020204"/>
                <a:cs typeface="Arial" panose="020B0704020202020204"/>
                <a:sym typeface="Arial" panose="020B0704020202020204"/>
              </a:endParaRPr>
            </a:p>
          </p:txBody>
        </p:sp>
      </p:grpSp>
      <p:grpSp>
        <p:nvGrpSpPr>
          <p:cNvPr id="184" name="Google Shape;184;p29"/>
          <p:cNvGrpSpPr/>
          <p:nvPr/>
        </p:nvGrpSpPr>
        <p:grpSpPr>
          <a:xfrm>
            <a:off x="365760" y="499745"/>
            <a:ext cx="8412600" cy="457200"/>
            <a:chOff x="365760" y="499745"/>
            <a:chExt cx="8412600" cy="457200"/>
          </a:xfrm>
        </p:grpSpPr>
        <p:sp>
          <p:nvSpPr>
            <p:cNvPr id="185" name="Google Shape;185;p29"/>
            <p:cNvSpPr/>
            <p:nvPr/>
          </p:nvSpPr>
          <p:spPr>
            <a:xfrm>
              <a:off x="365760" y="499745"/>
              <a:ext cx="84126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86" name="Google Shape;186;p29"/>
            <p:cNvSpPr txBox="1"/>
            <p:nvPr/>
          </p:nvSpPr>
          <p:spPr>
            <a:xfrm>
              <a:off x="365760" y="499745"/>
              <a:ext cx="84126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600" b="1">
                  <a:solidFill>
                    <a:srgbClr val="0F0F0F"/>
                  </a:solidFill>
                  <a:latin typeface="Arial" panose="020B0704020202020204"/>
                  <a:ea typeface="Arial" panose="020B0704020202020204"/>
                  <a:cs typeface="Arial" panose="020B0704020202020204"/>
                  <a:sym typeface="Arial" panose="020B0704020202020204"/>
                </a:rPr>
                <a:t>YouTube Creator Dynamics</a:t>
              </a:r>
              <a:endParaRPr sz="2600" b="1">
                <a:solidFill>
                  <a:srgbClr val="0F0F0F"/>
                </a:solidFill>
                <a:latin typeface="Arial" panose="020B0704020202020204"/>
                <a:ea typeface="Arial" panose="020B0704020202020204"/>
                <a:cs typeface="Arial" panose="020B0704020202020204"/>
                <a:sym typeface="Arial" panose="020B0704020202020204"/>
              </a:endParaRPr>
            </a:p>
          </p:txBody>
        </p:sp>
      </p:grpSp>
      <p:grpSp>
        <p:nvGrpSpPr>
          <p:cNvPr id="187" name="Google Shape;187;p29"/>
          <p:cNvGrpSpPr/>
          <p:nvPr/>
        </p:nvGrpSpPr>
        <p:grpSpPr>
          <a:xfrm>
            <a:off x="365760" y="938657"/>
            <a:ext cx="8412600" cy="274200"/>
            <a:chOff x="365760" y="938657"/>
            <a:chExt cx="8412600" cy="274200"/>
          </a:xfrm>
        </p:grpSpPr>
        <p:sp>
          <p:nvSpPr>
            <p:cNvPr id="188" name="Google Shape;188;p29"/>
            <p:cNvSpPr/>
            <p:nvPr/>
          </p:nvSpPr>
          <p:spPr>
            <a:xfrm>
              <a:off x="365760" y="938657"/>
              <a:ext cx="8412600" cy="274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89" name="Google Shape;189;p29"/>
            <p:cNvSpPr txBox="1"/>
            <p:nvPr/>
          </p:nvSpPr>
          <p:spPr>
            <a:xfrm>
              <a:off x="365760" y="938657"/>
              <a:ext cx="8412600" cy="274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0">
                  <a:solidFill>
                    <a:srgbClr val="606060"/>
                  </a:solidFill>
                  <a:latin typeface="Arial" panose="020B0704020202020204"/>
                  <a:ea typeface="Arial" panose="020B0704020202020204"/>
                  <a:cs typeface="Arial" panose="020B0704020202020204"/>
                  <a:sym typeface="Arial" panose="020B0704020202020204"/>
                </a:rPr>
                <a:t>Clustering YouTube Creators via K-Means reveals four distinct strategic profiles.</a:t>
              </a:r>
              <a:endParaRPr sz="1200" b="0">
                <a:solidFill>
                  <a:srgbClr val="606060"/>
                </a:solidFill>
                <a:latin typeface="Arial" panose="020B0704020202020204"/>
                <a:ea typeface="Arial" panose="020B0704020202020204"/>
                <a:cs typeface="Arial" panose="020B0704020202020204"/>
                <a:sym typeface="Arial" panose="020B0704020202020204"/>
              </a:endParaRPr>
            </a:p>
          </p:txBody>
        </p:sp>
      </p:grpSp>
      <p:grpSp>
        <p:nvGrpSpPr>
          <p:cNvPr id="190" name="Google Shape;190;p29"/>
          <p:cNvGrpSpPr/>
          <p:nvPr/>
        </p:nvGrpSpPr>
        <p:grpSpPr>
          <a:xfrm>
            <a:off x="4572012" y="1730947"/>
            <a:ext cx="4572035" cy="2767980"/>
            <a:chOff x="4572000" y="2322050"/>
            <a:chExt cx="4310800" cy="2609825"/>
          </a:xfrm>
        </p:grpSpPr>
        <p:pic>
          <p:nvPicPr>
            <p:cNvPr id="191" name="Google Shape;191;p29" title="截圖 2026-04-19 凌晨4.05.08.png"/>
            <p:cNvPicPr preferRelativeResize="0"/>
            <p:nvPr/>
          </p:nvPicPr>
          <p:blipFill rotWithShape="1">
            <a:blip r:embed="rId2"/>
            <a:srcRect r="18019"/>
            <a:stretch>
              <a:fillRect/>
            </a:stretch>
          </p:blipFill>
          <p:spPr>
            <a:xfrm>
              <a:off x="4572000" y="2322050"/>
              <a:ext cx="4310800" cy="2609825"/>
            </a:xfrm>
            <a:prstGeom prst="rect">
              <a:avLst/>
            </a:prstGeom>
            <a:noFill/>
            <a:ln>
              <a:noFill/>
            </a:ln>
          </p:spPr>
        </p:pic>
        <p:pic>
          <p:nvPicPr>
            <p:cNvPr id="192" name="Google Shape;192;p29" title="截圖 2026-04-19 凌晨4.05.08.png"/>
            <p:cNvPicPr preferRelativeResize="0"/>
            <p:nvPr/>
          </p:nvPicPr>
          <p:blipFill rotWithShape="1">
            <a:blip r:embed="rId2"/>
            <a:srcRect l="84676" t="6576" r="941" b="67078"/>
            <a:stretch>
              <a:fillRect/>
            </a:stretch>
          </p:blipFill>
          <p:spPr>
            <a:xfrm>
              <a:off x="5520075" y="2764625"/>
              <a:ext cx="707226" cy="642949"/>
            </a:xfrm>
            <a:prstGeom prst="rect">
              <a:avLst/>
            </a:prstGeom>
            <a:noFill/>
            <a:ln>
              <a:noFill/>
            </a:ln>
          </p:spPr>
        </p:pic>
      </p:grpSp>
      <p:grpSp>
        <p:nvGrpSpPr>
          <p:cNvPr id="193" name="Google Shape;193;p29"/>
          <p:cNvGrpSpPr/>
          <p:nvPr/>
        </p:nvGrpSpPr>
        <p:grpSpPr>
          <a:xfrm>
            <a:off x="365760" y="3188125"/>
            <a:ext cx="4191000" cy="857400"/>
            <a:chOff x="365760" y="1333500"/>
            <a:chExt cx="4191000" cy="857400"/>
          </a:xfrm>
        </p:grpSpPr>
        <p:sp>
          <p:nvSpPr>
            <p:cNvPr id="194" name="Google Shape;194;p29"/>
            <p:cNvSpPr/>
            <p:nvPr/>
          </p:nvSpPr>
          <p:spPr>
            <a:xfrm>
              <a:off x="365760" y="1333500"/>
              <a:ext cx="4191000" cy="857400"/>
            </a:xfrm>
            <a:prstGeom prst="roundRect">
              <a:avLst>
                <a:gd name="adj" fmla="val 4444"/>
              </a:avLst>
            </a:prstGeom>
            <a:solidFill>
              <a:srgbClr val="FFFFFF"/>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95" name="Google Shape;195;p29"/>
            <p:cNvSpPr/>
            <p:nvPr/>
          </p:nvSpPr>
          <p:spPr>
            <a:xfrm>
              <a:off x="365760" y="1333500"/>
              <a:ext cx="57300" cy="857400"/>
            </a:xfrm>
            <a:prstGeom prst="rect">
              <a:avLst/>
            </a:prstGeom>
            <a:solidFill>
              <a:srgbClr val="67A0AE"/>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96" name="Google Shape;196;p29"/>
            <p:cNvSpPr txBox="1"/>
            <p:nvPr/>
          </p:nvSpPr>
          <p:spPr>
            <a:xfrm>
              <a:off x="518160" y="1333500"/>
              <a:ext cx="39432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300" b="1">
                  <a:solidFill>
                    <a:srgbClr val="0F0F0F"/>
                  </a:solidFill>
                  <a:latin typeface="Arial" panose="020B0704020202020204"/>
                  <a:ea typeface="Arial" panose="020B0704020202020204"/>
                  <a:cs typeface="Arial" panose="020B0704020202020204"/>
                  <a:sym typeface="Arial" panose="020B0704020202020204"/>
                </a:rPr>
                <a:t>Viral Elite</a:t>
              </a:r>
              <a:endParaRPr sz="1300" b="1">
                <a:solidFill>
                  <a:srgbClr val="0F0F0F"/>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a:solidFill>
                    <a:srgbClr val="606060"/>
                  </a:solidFill>
                  <a:latin typeface="Arial" panose="020B0704020202020204"/>
                  <a:ea typeface="Arial" panose="020B0704020202020204"/>
                  <a:cs typeface="Arial" panose="020B0704020202020204"/>
                  <a:sym typeface="Arial" panose="020B0704020202020204"/>
                </a:rPr>
                <a:t>Efficiency-driven; optimized for instant algorithm velocity. </a:t>
              </a:r>
              <a:endParaRPr sz="1000">
                <a:solidFill>
                  <a:srgbClr val="606060"/>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b="1">
                  <a:solidFill>
                    <a:srgbClr val="67A0AE"/>
                  </a:solidFill>
                  <a:latin typeface="Arial" panose="020B0704020202020204"/>
                  <a:ea typeface="Arial" panose="020B0704020202020204"/>
                  <a:cs typeface="Arial" panose="020B0704020202020204"/>
                  <a:sym typeface="Arial" panose="020B0704020202020204"/>
                </a:rPr>
                <a:t>Avg Subs: 83K</a:t>
              </a:r>
              <a:endParaRPr sz="1000">
                <a:solidFill>
                  <a:srgbClr val="67A0AE"/>
                </a:solidFill>
                <a:latin typeface="Arial" panose="020B0704020202020204"/>
                <a:ea typeface="Arial" panose="020B0704020202020204"/>
                <a:cs typeface="Arial" panose="020B0704020202020204"/>
                <a:sym typeface="Arial" panose="020B0704020202020204"/>
              </a:endParaRPr>
            </a:p>
          </p:txBody>
        </p:sp>
      </p:grpSp>
      <p:grpSp>
        <p:nvGrpSpPr>
          <p:cNvPr id="197" name="Google Shape;197;p29"/>
          <p:cNvGrpSpPr/>
          <p:nvPr/>
        </p:nvGrpSpPr>
        <p:grpSpPr>
          <a:xfrm>
            <a:off x="365740" y="1283133"/>
            <a:ext cx="4191000" cy="857400"/>
            <a:chOff x="4587240" y="1333500"/>
            <a:chExt cx="4191000" cy="857400"/>
          </a:xfrm>
        </p:grpSpPr>
        <p:sp>
          <p:nvSpPr>
            <p:cNvPr id="198" name="Google Shape;198;p29"/>
            <p:cNvSpPr/>
            <p:nvPr/>
          </p:nvSpPr>
          <p:spPr>
            <a:xfrm>
              <a:off x="4587240" y="1333500"/>
              <a:ext cx="4191000" cy="857400"/>
            </a:xfrm>
            <a:prstGeom prst="roundRect">
              <a:avLst>
                <a:gd name="adj" fmla="val 4444"/>
              </a:avLst>
            </a:prstGeom>
            <a:solidFill>
              <a:srgbClr val="FFFFFF"/>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99" name="Google Shape;199;p29"/>
            <p:cNvSpPr/>
            <p:nvPr/>
          </p:nvSpPr>
          <p:spPr>
            <a:xfrm>
              <a:off x="4587240" y="1333500"/>
              <a:ext cx="57300" cy="857400"/>
            </a:xfrm>
            <a:prstGeom prst="rect">
              <a:avLst/>
            </a:prstGeom>
            <a:solidFill>
              <a:srgbClr val="65C1A7"/>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00" name="Google Shape;200;p29"/>
            <p:cNvSpPr txBox="1"/>
            <p:nvPr/>
          </p:nvSpPr>
          <p:spPr>
            <a:xfrm>
              <a:off x="4739640" y="1333500"/>
              <a:ext cx="39432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300" b="1">
                  <a:solidFill>
                    <a:srgbClr val="0F0F0F"/>
                  </a:solidFill>
                  <a:latin typeface="Arial" panose="020B0704020202020204"/>
                  <a:ea typeface="Arial" panose="020B0704020202020204"/>
                  <a:cs typeface="Arial" panose="020B0704020202020204"/>
                  <a:sym typeface="Arial" panose="020B0704020202020204"/>
                </a:rPr>
                <a:t>Authority Archives</a:t>
              </a:r>
              <a:endParaRPr sz="1300" b="1">
                <a:solidFill>
                  <a:srgbClr val="0F0F0F"/>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a:solidFill>
                    <a:srgbClr val="606060"/>
                  </a:solidFill>
                  <a:latin typeface="Arial" panose="020B0704020202020204"/>
                  <a:ea typeface="Arial" panose="020B0704020202020204"/>
                  <a:cs typeface="Arial" panose="020B0704020202020204"/>
                  <a:sym typeface="Arial" panose="020B0704020202020204"/>
                </a:rPr>
                <a:t>Asset-driven; optimized for long-term brand equity. </a:t>
              </a:r>
              <a:endParaRPr sz="1000">
                <a:solidFill>
                  <a:srgbClr val="606060"/>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b="1">
                  <a:solidFill>
                    <a:srgbClr val="65C1A7"/>
                  </a:solidFill>
                  <a:latin typeface="Arial" panose="020B0704020202020204"/>
                  <a:ea typeface="Arial" panose="020B0704020202020204"/>
                  <a:cs typeface="Arial" panose="020B0704020202020204"/>
                  <a:sym typeface="Arial" panose="020B0704020202020204"/>
                </a:rPr>
                <a:t>Avg Subs: 2.5M</a:t>
              </a:r>
              <a:endParaRPr sz="1000">
                <a:solidFill>
                  <a:srgbClr val="65C1A7"/>
                </a:solidFill>
                <a:latin typeface="Arial" panose="020B0704020202020204"/>
                <a:ea typeface="Arial" panose="020B0704020202020204"/>
                <a:cs typeface="Arial" panose="020B0704020202020204"/>
                <a:sym typeface="Arial" panose="020B0704020202020204"/>
              </a:endParaRPr>
            </a:p>
          </p:txBody>
        </p:sp>
      </p:grpSp>
      <p:grpSp>
        <p:nvGrpSpPr>
          <p:cNvPr id="201" name="Google Shape;201;p29"/>
          <p:cNvGrpSpPr/>
          <p:nvPr/>
        </p:nvGrpSpPr>
        <p:grpSpPr>
          <a:xfrm>
            <a:off x="365760" y="4140625"/>
            <a:ext cx="4191000" cy="857400"/>
            <a:chOff x="365760" y="2286000"/>
            <a:chExt cx="4191000" cy="857400"/>
          </a:xfrm>
        </p:grpSpPr>
        <p:sp>
          <p:nvSpPr>
            <p:cNvPr id="202" name="Google Shape;202;p29"/>
            <p:cNvSpPr/>
            <p:nvPr/>
          </p:nvSpPr>
          <p:spPr>
            <a:xfrm>
              <a:off x="365760" y="2286000"/>
              <a:ext cx="4191000" cy="857400"/>
            </a:xfrm>
            <a:prstGeom prst="roundRect">
              <a:avLst>
                <a:gd name="adj" fmla="val 4444"/>
              </a:avLst>
            </a:prstGeom>
            <a:solidFill>
              <a:srgbClr val="FFFFFF"/>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03" name="Google Shape;203;p29"/>
            <p:cNvSpPr/>
            <p:nvPr/>
          </p:nvSpPr>
          <p:spPr>
            <a:xfrm>
              <a:off x="365760" y="2286000"/>
              <a:ext cx="57300" cy="857400"/>
            </a:xfrm>
            <a:prstGeom prst="rect">
              <a:avLst/>
            </a:prstGeom>
            <a:solidFill>
              <a:srgbClr val="A0DE83"/>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04" name="Google Shape;204;p29"/>
            <p:cNvSpPr txBox="1"/>
            <p:nvPr/>
          </p:nvSpPr>
          <p:spPr>
            <a:xfrm>
              <a:off x="518160" y="2286000"/>
              <a:ext cx="39432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300" b="1">
                  <a:solidFill>
                    <a:srgbClr val="0F0F0F"/>
                  </a:solidFill>
                  <a:latin typeface="Arial" panose="020B0704020202020204"/>
                  <a:ea typeface="Arial" panose="020B0704020202020204"/>
                  <a:cs typeface="Arial" panose="020B0704020202020204"/>
                  <a:sym typeface="Arial" panose="020B0704020202020204"/>
                </a:rPr>
                <a:t>Community Builders</a:t>
              </a:r>
              <a:endParaRPr sz="1300" b="1">
                <a:solidFill>
                  <a:srgbClr val="0F0F0F"/>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a:solidFill>
                    <a:srgbClr val="606060"/>
                  </a:solidFill>
                  <a:latin typeface="Arial" panose="020B0704020202020204"/>
                  <a:ea typeface="Arial" panose="020B0704020202020204"/>
                  <a:cs typeface="Arial" panose="020B0704020202020204"/>
                  <a:sym typeface="Arial" panose="020B0704020202020204"/>
                </a:rPr>
                <a:t>Loyalty-driven; optimized for deep audience engagement. </a:t>
              </a:r>
              <a:endParaRPr sz="1000">
                <a:solidFill>
                  <a:srgbClr val="606060"/>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b="1">
                  <a:solidFill>
                    <a:srgbClr val="A0DE83"/>
                  </a:solidFill>
                  <a:latin typeface="Arial" panose="020B0704020202020204"/>
                  <a:ea typeface="Arial" panose="020B0704020202020204"/>
                  <a:cs typeface="Arial" panose="020B0704020202020204"/>
                  <a:sym typeface="Arial" panose="020B0704020202020204"/>
                </a:rPr>
                <a:t>Avg Subs: 391</a:t>
              </a:r>
              <a:endParaRPr sz="1000">
                <a:solidFill>
                  <a:srgbClr val="A0DE83"/>
                </a:solidFill>
                <a:latin typeface="Arial" panose="020B0704020202020204"/>
                <a:ea typeface="Arial" panose="020B0704020202020204"/>
                <a:cs typeface="Arial" panose="020B0704020202020204"/>
                <a:sym typeface="Arial" panose="020B0704020202020204"/>
              </a:endParaRPr>
            </a:p>
          </p:txBody>
        </p:sp>
      </p:grpSp>
      <p:grpSp>
        <p:nvGrpSpPr>
          <p:cNvPr id="205" name="Google Shape;205;p29"/>
          <p:cNvGrpSpPr/>
          <p:nvPr/>
        </p:nvGrpSpPr>
        <p:grpSpPr>
          <a:xfrm>
            <a:off x="365740" y="2235633"/>
            <a:ext cx="4191000" cy="857400"/>
            <a:chOff x="4587240" y="2286000"/>
            <a:chExt cx="4191000" cy="857400"/>
          </a:xfrm>
        </p:grpSpPr>
        <p:sp>
          <p:nvSpPr>
            <p:cNvPr id="206" name="Google Shape;206;p29"/>
            <p:cNvSpPr/>
            <p:nvPr/>
          </p:nvSpPr>
          <p:spPr>
            <a:xfrm>
              <a:off x="4587240" y="2286000"/>
              <a:ext cx="4191000" cy="857400"/>
            </a:xfrm>
            <a:prstGeom prst="roundRect">
              <a:avLst>
                <a:gd name="adj" fmla="val 4444"/>
              </a:avLst>
            </a:prstGeom>
            <a:solidFill>
              <a:srgbClr val="FFFFFF"/>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07" name="Google Shape;207;p29"/>
            <p:cNvSpPr/>
            <p:nvPr/>
          </p:nvSpPr>
          <p:spPr>
            <a:xfrm>
              <a:off x="4587240" y="2286000"/>
              <a:ext cx="57300" cy="857400"/>
            </a:xfrm>
            <a:prstGeom prst="rect">
              <a:avLst/>
            </a:prstGeom>
            <a:solidFill>
              <a:srgbClr val="787CA8"/>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08" name="Google Shape;208;p29"/>
            <p:cNvSpPr txBox="1"/>
            <p:nvPr/>
          </p:nvSpPr>
          <p:spPr>
            <a:xfrm>
              <a:off x="4739640" y="2286000"/>
              <a:ext cx="39432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300" b="1">
                  <a:solidFill>
                    <a:srgbClr val="0F0F0F"/>
                  </a:solidFill>
                  <a:latin typeface="Arial" panose="020B0704020202020204"/>
                  <a:ea typeface="Arial" panose="020B0704020202020204"/>
                  <a:cs typeface="Arial" panose="020B0704020202020204"/>
                  <a:sym typeface="Arial" panose="020B0704020202020204"/>
                </a:rPr>
                <a:t>Rising Stars</a:t>
              </a:r>
              <a:endParaRPr sz="1300" b="1">
                <a:solidFill>
                  <a:srgbClr val="0F0F0F"/>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a:solidFill>
                    <a:srgbClr val="606060"/>
                  </a:solidFill>
                  <a:latin typeface="Arial" panose="020B0704020202020204"/>
                  <a:ea typeface="Arial" panose="020B0704020202020204"/>
                  <a:cs typeface="Arial" panose="020B0704020202020204"/>
                  <a:sym typeface="Arial" panose="020B0704020202020204"/>
                </a:rPr>
                <a:t>Growth-driven; the transition phase for new entrants. </a:t>
              </a:r>
              <a:endParaRPr sz="1000">
                <a:solidFill>
                  <a:srgbClr val="606060"/>
                </a:solidFill>
                <a:latin typeface="Arial" panose="020B0704020202020204"/>
                <a:ea typeface="Arial" panose="020B0704020202020204"/>
                <a:cs typeface="Arial" panose="020B0704020202020204"/>
                <a:sym typeface="Arial" panose="020B0704020202020204"/>
              </a:endParaRPr>
            </a:p>
            <a:p>
              <a:pPr marL="0" lvl="0" indent="0" algn="l" rtl="0">
                <a:spcBef>
                  <a:spcPts val="300"/>
                </a:spcBef>
                <a:spcAft>
                  <a:spcPts val="0"/>
                </a:spcAft>
                <a:buNone/>
              </a:pPr>
              <a:r>
                <a:rPr lang="en-GB" sz="1000" b="1">
                  <a:solidFill>
                    <a:srgbClr val="787CA8"/>
                  </a:solidFill>
                  <a:latin typeface="Arial" panose="020B0704020202020204"/>
                  <a:ea typeface="Arial" panose="020B0704020202020204"/>
                  <a:cs typeface="Arial" panose="020B0704020202020204"/>
                  <a:sym typeface="Arial" panose="020B0704020202020204"/>
                </a:rPr>
                <a:t>Avg Subs: 756K</a:t>
              </a:r>
              <a:endParaRPr sz="1000">
                <a:solidFill>
                  <a:srgbClr val="787CA8"/>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12" name="Shape 212"/>
        <p:cNvGrpSpPr/>
        <p:nvPr/>
      </p:nvGrpSpPr>
      <p:grpSpPr>
        <a:xfrm>
          <a:off x="0" y="0"/>
          <a:ext cx="0" cy="0"/>
          <a:chOff x="0" y="0"/>
          <a:chExt cx="0" cy="0"/>
        </a:xfrm>
      </p:grpSpPr>
      <p:sp>
        <p:nvSpPr>
          <p:cNvPr id="213" name="Google Shape;213;p30"/>
          <p:cNvSpPr/>
          <p:nvPr/>
        </p:nvSpPr>
        <p:spPr>
          <a:xfrm>
            <a:off x="0" y="0"/>
            <a:ext cx="9144000" cy="502800"/>
          </a:xfrm>
          <a:prstGeom prst="rect">
            <a:avLst/>
          </a:prstGeom>
          <a:solidFill>
            <a:srgbClr val="BB2217"/>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14" name="Google Shape;214;p30"/>
          <p:cNvSpPr txBox="1"/>
          <p:nvPr/>
        </p:nvSpPr>
        <p:spPr>
          <a:xfrm>
            <a:off x="365760" y="73152"/>
            <a:ext cx="5486400" cy="34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FFFFFF"/>
                </a:solidFill>
                <a:latin typeface="Arial" panose="020B0704020202020204"/>
                <a:ea typeface="Arial" panose="020B0704020202020204"/>
                <a:cs typeface="Arial" panose="020B0704020202020204"/>
                <a:sym typeface="Arial" panose="020B0704020202020204"/>
              </a:rPr>
              <a:t>▶ Strategic Framework</a:t>
            </a:r>
            <a:endParaRPr sz="1800" b="1">
              <a:solidFill>
                <a:srgbClr val="FFFFFF"/>
              </a:solidFill>
              <a:latin typeface="Arial" panose="020B0704020202020204"/>
              <a:ea typeface="Arial" panose="020B0704020202020204"/>
              <a:cs typeface="Arial" panose="020B0704020202020204"/>
              <a:sym typeface="Arial" panose="020B0704020202020204"/>
            </a:endParaRPr>
          </a:p>
        </p:txBody>
      </p:sp>
      <p:sp>
        <p:nvSpPr>
          <p:cNvPr id="215" name="Google Shape;215;p30"/>
          <p:cNvSpPr txBox="1"/>
          <p:nvPr/>
        </p:nvSpPr>
        <p:spPr>
          <a:xfrm>
            <a:off x="365760" y="499745"/>
            <a:ext cx="84126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600" b="1">
                <a:solidFill>
                  <a:srgbClr val="0F0F0F"/>
                </a:solidFill>
                <a:latin typeface="Arial" panose="020B0704020202020204"/>
                <a:ea typeface="Arial" panose="020B0704020202020204"/>
                <a:cs typeface="Arial" panose="020B0704020202020204"/>
                <a:sym typeface="Arial" panose="020B0704020202020204"/>
              </a:rPr>
              <a:t>Creator Growth Roadmap &amp; Blue Oceans</a:t>
            </a:r>
            <a:endParaRPr sz="2600" b="1">
              <a:solidFill>
                <a:srgbClr val="0F0F0F"/>
              </a:solidFill>
              <a:latin typeface="Arial" panose="020B0704020202020204"/>
              <a:ea typeface="Arial" panose="020B0704020202020204"/>
              <a:cs typeface="Arial" panose="020B0704020202020204"/>
              <a:sym typeface="Arial" panose="020B0704020202020204"/>
            </a:endParaRPr>
          </a:p>
        </p:txBody>
      </p:sp>
      <p:grpSp>
        <p:nvGrpSpPr>
          <p:cNvPr id="216" name="Google Shape;216;p30"/>
          <p:cNvGrpSpPr/>
          <p:nvPr/>
        </p:nvGrpSpPr>
        <p:grpSpPr>
          <a:xfrm>
            <a:off x="365750" y="1095371"/>
            <a:ext cx="4191000" cy="4013760"/>
            <a:chOff x="365760" y="1095375"/>
            <a:chExt cx="4191000" cy="7153377"/>
          </a:xfrm>
        </p:grpSpPr>
        <p:sp>
          <p:nvSpPr>
            <p:cNvPr id="217" name="Google Shape;217;p30"/>
            <p:cNvSpPr/>
            <p:nvPr/>
          </p:nvSpPr>
          <p:spPr>
            <a:xfrm>
              <a:off x="365760" y="1095375"/>
              <a:ext cx="4191000" cy="381000"/>
            </a:xfrm>
            <a:prstGeom prst="roundRect">
              <a:avLst>
                <a:gd name="adj" fmla="val 10000"/>
              </a:avLst>
            </a:prstGeom>
            <a:solidFill>
              <a:srgbClr val="BB2217"/>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18" name="Google Shape;218;p30"/>
            <p:cNvSpPr txBox="1"/>
            <p:nvPr/>
          </p:nvSpPr>
          <p:spPr>
            <a:xfrm>
              <a:off x="461010" y="1095375"/>
              <a:ext cx="40005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1">
                  <a:solidFill>
                    <a:srgbClr val="FFFFFF"/>
                  </a:solidFill>
                  <a:latin typeface="Arial" panose="020B0704020202020204"/>
                  <a:ea typeface="Arial" panose="020B0704020202020204"/>
                  <a:cs typeface="Arial" panose="020B0704020202020204"/>
                  <a:sym typeface="Arial" panose="020B0704020202020204"/>
                </a:rPr>
                <a:t>Strategic Pivots to Scale Your Impact</a:t>
              </a:r>
              <a:endParaRPr sz="1200" b="1">
                <a:solidFill>
                  <a:srgbClr val="FFFFFF"/>
                </a:solidFill>
                <a:latin typeface="Arial" panose="020B0704020202020204"/>
                <a:ea typeface="Arial" panose="020B0704020202020204"/>
                <a:cs typeface="Arial" panose="020B0704020202020204"/>
                <a:sym typeface="Arial" panose="020B0704020202020204"/>
              </a:endParaRPr>
            </a:p>
          </p:txBody>
        </p:sp>
        <p:sp>
          <p:nvSpPr>
            <p:cNvPr id="219" name="Google Shape;219;p30"/>
            <p:cNvSpPr/>
            <p:nvPr/>
          </p:nvSpPr>
          <p:spPr>
            <a:xfrm>
              <a:off x="365760" y="1571652"/>
              <a:ext cx="4191000" cy="6677100"/>
            </a:xfrm>
            <a:prstGeom prst="roundRect">
              <a:avLst>
                <a:gd name="adj" fmla="val 1538"/>
              </a:avLst>
            </a:prstGeom>
            <a:solidFill>
              <a:srgbClr val="FFFFFF"/>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20" name="Google Shape;220;p30"/>
            <p:cNvSpPr/>
            <p:nvPr/>
          </p:nvSpPr>
          <p:spPr>
            <a:xfrm>
              <a:off x="365760" y="1571652"/>
              <a:ext cx="57300" cy="6677100"/>
            </a:xfrm>
            <a:prstGeom prst="rect">
              <a:avLst/>
            </a:prstGeom>
            <a:solidFill>
              <a:srgbClr val="BB2217"/>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21" name="Google Shape;221;p30"/>
            <p:cNvSpPr txBox="1"/>
            <p:nvPr/>
          </p:nvSpPr>
          <p:spPr>
            <a:xfrm>
              <a:off x="518160" y="1666892"/>
              <a:ext cx="3943200" cy="196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000" b="1">
                  <a:solidFill>
                    <a:srgbClr val="BB2217"/>
                  </a:solidFill>
                  <a:latin typeface="Arial" panose="020B0704020202020204"/>
                  <a:ea typeface="Arial" panose="020B0704020202020204"/>
                  <a:cs typeface="Arial" panose="020B0704020202020204"/>
                  <a:sym typeface="Arial" panose="020B0704020202020204"/>
                </a:rPr>
                <a:t>Phase 1 (Survival):</a:t>
              </a:r>
              <a:r>
                <a:rPr lang="en-GB" sz="1000">
                  <a:solidFill>
                    <a:srgbClr val="0F0F0F"/>
                  </a:solidFill>
                  <a:latin typeface="Arial" panose="020B0704020202020204"/>
                  <a:ea typeface="Arial" panose="020B0704020202020204"/>
                  <a:cs typeface="Arial" panose="020B0704020202020204"/>
                  <a:sym typeface="Arial" panose="020B0704020202020204"/>
                </a:rPr>
                <a:t> Master </a:t>
              </a:r>
              <a:r>
                <a:rPr lang="en-GB" sz="1000" i="1">
                  <a:solidFill>
                    <a:srgbClr val="0F0F0F"/>
                  </a:solidFill>
                  <a:latin typeface="Arial" panose="020B0704020202020204"/>
                  <a:ea typeface="Arial" panose="020B0704020202020204"/>
                  <a:cs typeface="Arial" panose="020B0704020202020204"/>
                  <a:sym typeface="Arial" panose="020B0704020202020204"/>
                </a:rPr>
                <a:t>Efficiency</a:t>
              </a:r>
              <a:r>
                <a:rPr lang="en-GB" sz="1000">
                  <a:solidFill>
                    <a:srgbClr val="0F0F0F"/>
                  </a:solidFill>
                  <a:latin typeface="Arial" panose="020B0704020202020204"/>
                  <a:ea typeface="Arial" panose="020B0704020202020204"/>
                  <a:cs typeface="Arial" panose="020B0704020202020204"/>
                  <a:sym typeface="Arial" panose="020B0704020202020204"/>
                </a:rPr>
                <a:t> to get into the algorithm.</a:t>
              </a:r>
              <a:endParaRPr sz="1000">
                <a:solidFill>
                  <a:srgbClr val="0F0F0F"/>
                </a:solidFill>
                <a:latin typeface="Arial" panose="020B0704020202020204"/>
                <a:ea typeface="Arial" panose="020B0704020202020204"/>
                <a:cs typeface="Arial" panose="020B0704020202020204"/>
                <a:sym typeface="Arial" panose="020B0704020202020204"/>
              </a:endParaRPr>
            </a:p>
            <a:p>
              <a:pPr marL="0" lvl="0" indent="0" algn="l" rtl="0">
                <a:spcBef>
                  <a:spcPts val="1200"/>
                </a:spcBef>
                <a:spcAft>
                  <a:spcPts val="0"/>
                </a:spcAft>
                <a:buNone/>
              </a:pPr>
              <a:r>
                <a:rPr lang="en-GB" sz="1000" b="1">
                  <a:solidFill>
                    <a:srgbClr val="BB2217"/>
                  </a:solidFill>
                  <a:latin typeface="Arial" panose="020B0704020202020204"/>
                  <a:ea typeface="Arial" panose="020B0704020202020204"/>
                  <a:cs typeface="Arial" panose="020B0704020202020204"/>
                  <a:sym typeface="Arial" panose="020B0704020202020204"/>
                </a:rPr>
                <a:t>Phase 2 (Loyalty):</a:t>
              </a:r>
              <a:r>
                <a:rPr lang="en-GB" sz="1000">
                  <a:solidFill>
                    <a:srgbClr val="0F0F0F"/>
                  </a:solidFill>
                  <a:latin typeface="Arial" panose="020B0704020202020204"/>
                  <a:ea typeface="Arial" panose="020B0704020202020204"/>
                  <a:cs typeface="Arial" panose="020B0704020202020204"/>
                  <a:sym typeface="Arial" panose="020B0704020202020204"/>
                </a:rPr>
                <a:t> Pivot to </a:t>
              </a:r>
              <a:r>
                <a:rPr lang="en-GB" sz="1000" i="1">
                  <a:solidFill>
                    <a:srgbClr val="0F0F0F"/>
                  </a:solidFill>
                  <a:latin typeface="Arial" panose="020B0704020202020204"/>
                  <a:ea typeface="Arial" panose="020B0704020202020204"/>
                  <a:cs typeface="Arial" panose="020B0704020202020204"/>
                  <a:sym typeface="Arial" panose="020B0704020202020204"/>
                </a:rPr>
                <a:t>Like Rate</a:t>
              </a:r>
              <a:r>
                <a:rPr lang="en-GB" sz="1000">
                  <a:solidFill>
                    <a:srgbClr val="0F0F0F"/>
                  </a:solidFill>
                  <a:latin typeface="Arial" panose="020B0704020202020204"/>
                  <a:ea typeface="Arial" panose="020B0704020202020204"/>
                  <a:cs typeface="Arial" panose="020B0704020202020204"/>
                  <a:sym typeface="Arial" panose="020B0704020202020204"/>
                </a:rPr>
                <a:t> to build a community.</a:t>
              </a:r>
              <a:endParaRPr sz="1000">
                <a:solidFill>
                  <a:srgbClr val="0F0F0F"/>
                </a:solidFill>
                <a:latin typeface="Arial" panose="020B0704020202020204"/>
                <a:ea typeface="Arial" panose="020B0704020202020204"/>
                <a:cs typeface="Arial" panose="020B0704020202020204"/>
                <a:sym typeface="Arial" panose="020B0704020202020204"/>
              </a:endParaRPr>
            </a:p>
            <a:p>
              <a:pPr marL="0" lvl="0" indent="0" algn="l" rtl="0">
                <a:spcBef>
                  <a:spcPts val="1200"/>
                </a:spcBef>
                <a:spcAft>
                  <a:spcPts val="0"/>
                </a:spcAft>
                <a:buNone/>
              </a:pPr>
              <a:r>
                <a:rPr lang="en-GB" sz="1000" b="1">
                  <a:solidFill>
                    <a:srgbClr val="BB2217"/>
                  </a:solidFill>
                  <a:latin typeface="Arial" panose="020B0704020202020204"/>
                  <a:ea typeface="Arial" panose="020B0704020202020204"/>
                  <a:cs typeface="Arial" panose="020B0704020202020204"/>
                  <a:sym typeface="Arial" panose="020B0704020202020204"/>
                </a:rPr>
                <a:t>Phase 3 (Authority):</a:t>
              </a:r>
              <a:r>
                <a:rPr lang="en-GB" sz="1000">
                  <a:solidFill>
                    <a:srgbClr val="0F0F0F"/>
                  </a:solidFill>
                  <a:latin typeface="Arial" panose="020B0704020202020204"/>
                  <a:ea typeface="Arial" panose="020B0704020202020204"/>
                  <a:cs typeface="Arial" panose="020B0704020202020204"/>
                  <a:sym typeface="Arial" panose="020B0704020202020204"/>
                </a:rPr>
                <a:t> Shift to </a:t>
              </a:r>
              <a:r>
                <a:rPr lang="en-GB" sz="1000" i="1">
                  <a:solidFill>
                    <a:srgbClr val="0F0F0F"/>
                  </a:solidFill>
                  <a:latin typeface="Arial" panose="020B0704020202020204"/>
                  <a:ea typeface="Arial" panose="020B0704020202020204"/>
                  <a:cs typeface="Arial" panose="020B0704020202020204"/>
                  <a:sym typeface="Arial" panose="020B0704020202020204"/>
                </a:rPr>
                <a:t>Duration</a:t>
              </a:r>
              <a:r>
                <a:rPr lang="en-GB" sz="1000">
                  <a:solidFill>
                    <a:srgbClr val="0F0F0F"/>
                  </a:solidFill>
                  <a:latin typeface="Arial" panose="020B0704020202020204"/>
                  <a:ea typeface="Arial" panose="020B0704020202020204"/>
                  <a:cs typeface="Arial" panose="020B0704020202020204"/>
                  <a:sym typeface="Arial" panose="020B0704020202020204"/>
                </a:rPr>
                <a:t> and depth to secure a market moat.</a:t>
              </a:r>
              <a:endParaRPr sz="1000">
                <a:solidFill>
                  <a:srgbClr val="0F0F0F"/>
                </a:solidFill>
                <a:latin typeface="Arial" panose="020B0704020202020204"/>
                <a:ea typeface="Arial" panose="020B0704020202020204"/>
                <a:cs typeface="Arial" panose="020B0704020202020204"/>
                <a:sym typeface="Arial" panose="020B0704020202020204"/>
              </a:endParaRPr>
            </a:p>
          </p:txBody>
        </p:sp>
      </p:grpSp>
      <p:sp>
        <p:nvSpPr>
          <p:cNvPr id="222" name="Google Shape;222;p30"/>
          <p:cNvSpPr/>
          <p:nvPr/>
        </p:nvSpPr>
        <p:spPr>
          <a:xfrm>
            <a:off x="4667250" y="1095405"/>
            <a:ext cx="4191000" cy="213779"/>
          </a:xfrm>
          <a:prstGeom prst="roundRect">
            <a:avLst>
              <a:gd name="adj" fmla="val 10000"/>
            </a:avLst>
          </a:prstGeom>
          <a:solidFill>
            <a:srgbClr val="FF8C00"/>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23" name="Google Shape;223;p30"/>
          <p:cNvSpPr txBox="1"/>
          <p:nvPr/>
        </p:nvSpPr>
        <p:spPr>
          <a:xfrm>
            <a:off x="4762500" y="1095405"/>
            <a:ext cx="4000500" cy="213779"/>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1">
                <a:solidFill>
                  <a:srgbClr val="FFFFFF"/>
                </a:solidFill>
                <a:latin typeface="Arial" panose="020B0704020202020204"/>
                <a:ea typeface="Arial" panose="020B0704020202020204"/>
                <a:cs typeface="Arial" panose="020B0704020202020204"/>
                <a:sym typeface="Arial" panose="020B0704020202020204"/>
              </a:rPr>
              <a:t>Finding Your Niche: Content Blue Oceans</a:t>
            </a:r>
            <a:endParaRPr sz="1200" b="1">
              <a:solidFill>
                <a:srgbClr val="FFFFFF"/>
              </a:solidFill>
              <a:latin typeface="Arial" panose="020B0704020202020204"/>
              <a:ea typeface="Arial" panose="020B0704020202020204"/>
              <a:cs typeface="Arial" panose="020B0704020202020204"/>
              <a:sym typeface="Arial" panose="020B0704020202020204"/>
            </a:endParaRPr>
          </a:p>
        </p:txBody>
      </p:sp>
      <p:sp>
        <p:nvSpPr>
          <p:cNvPr id="224" name="Google Shape;224;p30"/>
          <p:cNvSpPr/>
          <p:nvPr/>
        </p:nvSpPr>
        <p:spPr>
          <a:xfrm>
            <a:off x="4667250" y="1362625"/>
            <a:ext cx="4280100" cy="3746400"/>
          </a:xfrm>
          <a:prstGeom prst="roundRect">
            <a:avLst>
              <a:gd name="adj" fmla="val 1538"/>
            </a:avLst>
          </a:prstGeom>
          <a:solidFill>
            <a:srgbClr val="FFFFFF"/>
          </a:solidFill>
          <a:ln w="9525" cap="flat" cmpd="sng">
            <a:solidFill>
              <a:srgbClr val="E5E5E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25" name="Google Shape;225;p30"/>
          <p:cNvSpPr/>
          <p:nvPr/>
        </p:nvSpPr>
        <p:spPr>
          <a:xfrm>
            <a:off x="4667250" y="1362619"/>
            <a:ext cx="57300" cy="3746400"/>
          </a:xfrm>
          <a:prstGeom prst="rect">
            <a:avLst/>
          </a:prstGeom>
          <a:solidFill>
            <a:srgbClr val="FF8C00"/>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26" name="Google Shape;226;p30"/>
          <p:cNvSpPr txBox="1"/>
          <p:nvPr/>
        </p:nvSpPr>
        <p:spPr>
          <a:xfrm>
            <a:off x="4835050" y="1373040"/>
            <a:ext cx="3943200" cy="345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000" b="1">
                <a:solidFill>
                  <a:srgbClr val="FF8C00"/>
                </a:solidFill>
                <a:latin typeface="Arial" panose="020B0704020202020204"/>
                <a:ea typeface="Arial" panose="020B0704020202020204"/>
                <a:cs typeface="Arial" panose="020B0704020202020204"/>
                <a:sym typeface="Arial" panose="020B0704020202020204"/>
              </a:rPr>
              <a:t>The Opportunity Formula:</a:t>
            </a:r>
            <a:r>
              <a:rPr lang="en-GB" sz="1000">
                <a:solidFill>
                  <a:srgbClr val="0F0F0F"/>
                </a:solidFill>
                <a:latin typeface="Arial" panose="020B0704020202020204"/>
                <a:ea typeface="Arial" panose="020B0704020202020204"/>
                <a:cs typeface="Arial" panose="020B0704020202020204"/>
                <a:sym typeface="Arial" panose="020B0704020202020204"/>
              </a:rPr>
              <a:t> Identifying niches with high audience demand but low creator saturation.</a:t>
            </a:r>
            <a:endParaRPr sz="1000">
              <a:solidFill>
                <a:srgbClr val="0F0F0F"/>
              </a:solidFill>
              <a:latin typeface="Arial" panose="020B0704020202020204"/>
              <a:ea typeface="Arial" panose="020B0704020202020204"/>
              <a:cs typeface="Arial" panose="020B0704020202020204"/>
              <a:sym typeface="Arial" panose="020B0704020202020204"/>
            </a:endParaRPr>
          </a:p>
          <a:p>
            <a:pPr marL="0" lvl="0" indent="0" algn="l" rtl="0">
              <a:spcBef>
                <a:spcPts val="1200"/>
              </a:spcBef>
              <a:spcAft>
                <a:spcPts val="0"/>
              </a:spcAft>
              <a:buNone/>
            </a:pPr>
            <a:r>
              <a:rPr lang="en-GB" sz="1000">
                <a:solidFill>
                  <a:srgbClr val="606060"/>
                </a:solidFill>
                <a:latin typeface="Arial" panose="020B0704020202020204"/>
                <a:ea typeface="Arial" panose="020B0704020202020204"/>
                <a:cs typeface="Arial" panose="020B0704020202020204"/>
                <a:sym typeface="Arial" panose="020B0704020202020204"/>
              </a:rPr>
              <a:t>New entrants should pivot away from crowded 'People &amp; Blogs' towards high-leverage categories to reduce initial acquisition costs.</a:t>
            </a:r>
            <a:endParaRPr sz="1000">
              <a:solidFill>
                <a:srgbClr val="606060"/>
              </a:solidFill>
              <a:latin typeface="Arial" panose="020B0704020202020204"/>
              <a:ea typeface="Arial" panose="020B0704020202020204"/>
              <a:cs typeface="Arial" panose="020B0704020202020204"/>
              <a:sym typeface="Arial" panose="020B0704020202020204"/>
            </a:endParaRPr>
          </a:p>
        </p:txBody>
      </p:sp>
      <p:pic>
        <p:nvPicPr>
          <p:cNvPr id="227" name="Google Shape;227;p30" title="截圖 2026-04-19 凌晨4.05.16.png"/>
          <p:cNvPicPr preferRelativeResize="0"/>
          <p:nvPr/>
        </p:nvPicPr>
        <p:blipFill>
          <a:blip r:embed="rId2"/>
          <a:stretch>
            <a:fillRect/>
          </a:stretch>
        </p:blipFill>
        <p:spPr>
          <a:xfrm>
            <a:off x="770625" y="2316325"/>
            <a:ext cx="3381249" cy="2717075"/>
          </a:xfrm>
          <a:prstGeom prst="rect">
            <a:avLst/>
          </a:prstGeom>
          <a:noFill/>
          <a:ln>
            <a:noFill/>
          </a:ln>
        </p:spPr>
      </p:pic>
      <p:pic>
        <p:nvPicPr>
          <p:cNvPr id="228" name="Google Shape;228;p30" title="截圖 2026-04-19 凌晨4.05.27.png"/>
          <p:cNvPicPr preferRelativeResize="0"/>
          <p:nvPr/>
        </p:nvPicPr>
        <p:blipFill>
          <a:blip r:embed="rId3"/>
          <a:stretch>
            <a:fillRect/>
          </a:stretch>
        </p:blipFill>
        <p:spPr>
          <a:xfrm>
            <a:off x="4835050" y="2298300"/>
            <a:ext cx="4112424" cy="27531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233" name="Shape 233"/>
        <p:cNvGrpSpPr/>
        <p:nvPr/>
      </p:nvGrpSpPr>
      <p:grpSpPr>
        <a:xfrm>
          <a:off x="0" y="0"/>
          <a:ext cx="0" cy="0"/>
          <a:chOff x="0" y="0"/>
          <a:chExt cx="0" cy="0"/>
        </a:xfrm>
      </p:grpSpPr>
      <p:sp>
        <p:nvSpPr>
          <p:cNvPr id="234" name="Google Shape;234;p31"/>
          <p:cNvSpPr/>
          <p:nvPr/>
        </p:nvSpPr>
        <p:spPr>
          <a:xfrm>
            <a:off x="0" y="0"/>
            <a:ext cx="9144000" cy="5028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 name="Google Shape;235;p31"/>
          <p:cNvSpPr/>
          <p:nvPr/>
        </p:nvSpPr>
        <p:spPr>
          <a:xfrm>
            <a:off x="365760" y="73152"/>
            <a:ext cx="54864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Arial" panose="020B0704020202020204"/>
              <a:buNone/>
            </a:pPr>
            <a:r>
              <a:rPr lang="en-GB" sz="1800" b="1" i="0" u="none" strike="noStrike" cap="none">
                <a:solidFill>
                  <a:srgbClr val="FFFFFF"/>
                </a:solidFill>
                <a:latin typeface="Arial" panose="020B0704020202020204"/>
                <a:ea typeface="Arial" panose="020B0704020202020204"/>
                <a:cs typeface="Arial" panose="020B0704020202020204"/>
                <a:sym typeface="Arial" panose="020B0704020202020204"/>
              </a:rPr>
              <a:t>▶  Methodology</a:t>
            </a:r>
            <a:endParaRPr sz="1800" b="0" i="0" u="none" strike="noStrike" cap="none">
              <a:solidFill>
                <a:schemeClr val="dk1"/>
              </a:solidFill>
              <a:latin typeface="Calibri"/>
              <a:ea typeface="Calibri"/>
              <a:cs typeface="Calibri"/>
              <a:sym typeface="Calibri"/>
            </a:endParaRPr>
          </a:p>
        </p:txBody>
      </p:sp>
      <p:sp>
        <p:nvSpPr>
          <p:cNvPr id="236" name="Google Shape;236;p31"/>
          <p:cNvSpPr/>
          <p:nvPr/>
        </p:nvSpPr>
        <p:spPr>
          <a:xfrm>
            <a:off x="365760" y="499745"/>
            <a:ext cx="8412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0F0F"/>
              </a:buClr>
              <a:buSzPts val="2600"/>
              <a:buFont typeface="Arial" panose="020B0704020202020204"/>
              <a:buNone/>
            </a:pPr>
            <a:r>
              <a:rPr lang="en-GB" sz="2600" b="1">
                <a:solidFill>
                  <a:srgbClr val="0F0F0F"/>
                </a:solidFill>
              </a:rPr>
              <a:t>NLP Analyse</a:t>
            </a:r>
            <a:r>
              <a:rPr lang="en-GB" sz="2600" b="1" i="0" u="none" strike="noStrike" cap="none">
                <a:solidFill>
                  <a:srgbClr val="0F0F0F"/>
                </a:solidFill>
                <a:latin typeface="Arial" panose="020B0704020202020204"/>
                <a:ea typeface="Arial" panose="020B0704020202020204"/>
                <a:cs typeface="Arial" panose="020B0704020202020204"/>
                <a:sym typeface="Arial" panose="020B0704020202020204"/>
              </a:rPr>
              <a:t> Pipeline</a:t>
            </a:r>
            <a:endParaRPr sz="2600" b="0" i="0" u="none" strike="noStrike" cap="none">
              <a:solidFill>
                <a:schemeClr val="dk1"/>
              </a:solidFill>
              <a:latin typeface="Calibri"/>
              <a:ea typeface="Calibri"/>
              <a:cs typeface="Calibri"/>
              <a:sym typeface="Calibri"/>
            </a:endParaRPr>
          </a:p>
        </p:txBody>
      </p:sp>
      <p:sp>
        <p:nvSpPr>
          <p:cNvPr id="237" name="Google Shape;237;p31"/>
          <p:cNvSpPr/>
          <p:nvPr/>
        </p:nvSpPr>
        <p:spPr>
          <a:xfrm>
            <a:off x="365760" y="938657"/>
            <a:ext cx="8412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200"/>
              <a:buFont typeface="Arial" panose="020B0704020202020204"/>
              <a:buNone/>
            </a:pPr>
            <a:r>
              <a:rPr lang="en-GB" sz="1200" b="0" i="0" u="none" strike="noStrike" cap="none">
                <a:solidFill>
                  <a:srgbClr val="606060"/>
                </a:solidFill>
                <a:latin typeface="Arial" panose="020B0704020202020204"/>
                <a:ea typeface="Arial" panose="020B0704020202020204"/>
                <a:cs typeface="Arial" panose="020B0704020202020204"/>
                <a:sym typeface="Arial" panose="020B0704020202020204"/>
              </a:rPr>
              <a:t>Custom stopword removal surfaces distinctive signals — generic platform noise eliminated</a:t>
            </a:r>
            <a:endParaRPr sz="1200" b="0" i="0" u="none" strike="noStrike" cap="none">
              <a:solidFill>
                <a:schemeClr val="dk1"/>
              </a:solidFill>
              <a:latin typeface="Calibri"/>
              <a:ea typeface="Calibri"/>
              <a:cs typeface="Calibri"/>
              <a:sym typeface="Calibri"/>
            </a:endParaRPr>
          </a:p>
        </p:txBody>
      </p:sp>
      <p:sp>
        <p:nvSpPr>
          <p:cNvPr id="238" name="Google Shape;238;p31"/>
          <p:cNvSpPr/>
          <p:nvPr/>
        </p:nvSpPr>
        <p:spPr>
          <a:xfrm>
            <a:off x="365760" y="1340993"/>
            <a:ext cx="4114800" cy="1170300"/>
          </a:xfrm>
          <a:prstGeom prst="rect">
            <a:avLst/>
          </a:prstGeom>
          <a:solidFill>
            <a:srgbClr val="FFFFFF"/>
          </a:solidFill>
          <a:ln w="12700" cap="flat" cmpd="sng">
            <a:solidFill>
              <a:srgbClr val="E5E5E5"/>
            </a:solidFill>
            <a:prstDash val="solid"/>
            <a:round/>
            <a:headEnd type="none" w="sm" len="sm"/>
            <a:tailEnd type="none" w="sm" len="sm"/>
          </a:ln>
          <a:effectLst>
            <a:outerShdw blurRad="101600" dist="25400" dir="8100000" algn="bl" rotWithShape="0">
              <a:srgbClr val="000000">
                <a:alpha val="588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 name="Google Shape;239;p31"/>
          <p:cNvSpPr/>
          <p:nvPr/>
        </p:nvSpPr>
        <p:spPr>
          <a:xfrm>
            <a:off x="365760" y="1340993"/>
            <a:ext cx="54900" cy="11703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 name="Google Shape;240;p31"/>
          <p:cNvSpPr/>
          <p:nvPr/>
        </p:nvSpPr>
        <p:spPr>
          <a:xfrm>
            <a:off x="493776" y="1432433"/>
            <a:ext cx="384000" cy="292500"/>
          </a:xfrm>
          <a:prstGeom prst="rect">
            <a:avLst/>
          </a:prstGeom>
          <a:solidFill>
            <a:srgbClr val="FF0000"/>
          </a:solidFill>
          <a:ln w="127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241;p31"/>
          <p:cNvSpPr/>
          <p:nvPr/>
        </p:nvSpPr>
        <p:spPr>
          <a:xfrm>
            <a:off x="493776" y="1432433"/>
            <a:ext cx="384000" cy="292500"/>
          </a:xfrm>
          <a:prstGeom prst="rect">
            <a:avLst/>
          </a:prstGeom>
          <a:solidFill>
            <a:srgbClr val="BB2217"/>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panose="020B0704020202020204"/>
              <a:buNone/>
            </a:pPr>
            <a:r>
              <a:rPr lang="en-GB" sz="1300" b="1" i="0" u="none" strike="noStrike" cap="none">
                <a:solidFill>
                  <a:srgbClr val="FFFFFF"/>
                </a:solidFill>
                <a:latin typeface="Arial" panose="020B0704020202020204"/>
                <a:ea typeface="Arial" panose="020B0704020202020204"/>
                <a:cs typeface="Arial" panose="020B0704020202020204"/>
                <a:sym typeface="Arial" panose="020B0704020202020204"/>
              </a:rPr>
              <a:t>01</a:t>
            </a:r>
            <a:endParaRPr sz="1300" b="0" i="0" u="none" strike="noStrike" cap="none">
              <a:solidFill>
                <a:schemeClr val="dk1"/>
              </a:solidFill>
              <a:latin typeface="Calibri"/>
              <a:ea typeface="Calibri"/>
              <a:cs typeface="Calibri"/>
              <a:sym typeface="Calibri"/>
            </a:endParaRPr>
          </a:p>
        </p:txBody>
      </p:sp>
      <p:sp>
        <p:nvSpPr>
          <p:cNvPr id="242" name="Google Shape;242;p31"/>
          <p:cNvSpPr/>
          <p:nvPr/>
        </p:nvSpPr>
        <p:spPr>
          <a:xfrm>
            <a:off x="960120" y="1432433"/>
            <a:ext cx="34017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0F0F"/>
              </a:buClr>
              <a:buSzPts val="1300"/>
              <a:buFont typeface="Arial" panose="020B0704020202020204"/>
              <a:buNone/>
            </a:pPr>
            <a:r>
              <a:rPr lang="en-GB" sz="1300" b="1" i="0" u="none" strike="noStrike" cap="none">
                <a:solidFill>
                  <a:srgbClr val="0F0F0F"/>
                </a:solidFill>
                <a:latin typeface="Arial" panose="020B0704020202020204"/>
                <a:ea typeface="Arial" panose="020B0704020202020204"/>
                <a:cs typeface="Arial" panose="020B0704020202020204"/>
                <a:sym typeface="Arial" panose="020B0704020202020204"/>
              </a:rPr>
              <a:t>Text Construction</a:t>
            </a:r>
            <a:endParaRPr sz="1300" b="0" i="0" u="none" strike="noStrike" cap="none">
              <a:solidFill>
                <a:schemeClr val="dk1"/>
              </a:solidFill>
              <a:latin typeface="Calibri"/>
              <a:ea typeface="Calibri"/>
              <a:cs typeface="Calibri"/>
              <a:sym typeface="Calibri"/>
            </a:endParaRPr>
          </a:p>
        </p:txBody>
      </p:sp>
      <p:sp>
        <p:nvSpPr>
          <p:cNvPr id="243" name="Google Shape;243;p31"/>
          <p:cNvSpPr/>
          <p:nvPr/>
        </p:nvSpPr>
        <p:spPr>
          <a:xfrm>
            <a:off x="493776" y="1798193"/>
            <a:ext cx="38952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Merged title + description + comments → "full_text". Separate "content_text" (title + desc) used for LDA to reduce comment noise.</a:t>
            </a:r>
            <a:endParaRPr sz="1000" b="0" i="0" u="none" strike="noStrike" cap="none">
              <a:solidFill>
                <a:schemeClr val="dk1"/>
              </a:solidFill>
              <a:latin typeface="Calibri"/>
              <a:ea typeface="Calibri"/>
              <a:cs typeface="Calibri"/>
              <a:sym typeface="Calibri"/>
            </a:endParaRPr>
          </a:p>
        </p:txBody>
      </p:sp>
      <p:sp>
        <p:nvSpPr>
          <p:cNvPr id="244" name="Google Shape;244;p31"/>
          <p:cNvSpPr/>
          <p:nvPr/>
        </p:nvSpPr>
        <p:spPr>
          <a:xfrm>
            <a:off x="4663440" y="1340993"/>
            <a:ext cx="4114800" cy="1170300"/>
          </a:xfrm>
          <a:prstGeom prst="rect">
            <a:avLst/>
          </a:prstGeom>
          <a:solidFill>
            <a:srgbClr val="FFFFFF"/>
          </a:solidFill>
          <a:ln w="12700" cap="flat" cmpd="sng">
            <a:solidFill>
              <a:srgbClr val="E5E5E5"/>
            </a:solidFill>
            <a:prstDash val="solid"/>
            <a:round/>
            <a:headEnd type="none" w="sm" len="sm"/>
            <a:tailEnd type="none" w="sm" len="sm"/>
          </a:ln>
          <a:effectLst>
            <a:outerShdw blurRad="101600" dist="25400" dir="8100000" algn="bl" rotWithShape="0">
              <a:srgbClr val="000000">
                <a:alpha val="588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245;p31"/>
          <p:cNvSpPr/>
          <p:nvPr/>
        </p:nvSpPr>
        <p:spPr>
          <a:xfrm>
            <a:off x="4663440" y="1340993"/>
            <a:ext cx="54900" cy="1170300"/>
          </a:xfrm>
          <a:prstGeom prst="rect">
            <a:avLst/>
          </a:prstGeom>
          <a:solidFill>
            <a:srgbClr val="FF6B35"/>
          </a:solidFill>
          <a:ln w="12700" cap="flat" cmpd="sng">
            <a:solidFill>
              <a:srgbClr val="FF6B3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 name="Google Shape;246;p31"/>
          <p:cNvSpPr/>
          <p:nvPr/>
        </p:nvSpPr>
        <p:spPr>
          <a:xfrm>
            <a:off x="4791456" y="1432433"/>
            <a:ext cx="384000" cy="292500"/>
          </a:xfrm>
          <a:prstGeom prst="rect">
            <a:avLst/>
          </a:prstGeom>
          <a:solidFill>
            <a:srgbClr val="FF6B35"/>
          </a:solidFill>
          <a:ln w="12700" cap="flat" cmpd="sng">
            <a:solidFill>
              <a:srgbClr val="FF6B3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 name="Google Shape;247;p31"/>
          <p:cNvSpPr/>
          <p:nvPr/>
        </p:nvSpPr>
        <p:spPr>
          <a:xfrm>
            <a:off x="4791456" y="1432433"/>
            <a:ext cx="384000" cy="29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panose="020B0704020202020204"/>
              <a:buNone/>
            </a:pPr>
            <a:r>
              <a:rPr lang="en-GB" sz="1300" b="1" i="0" u="none" strike="noStrike" cap="none">
                <a:solidFill>
                  <a:srgbClr val="FFFFFF"/>
                </a:solidFill>
                <a:latin typeface="Arial" panose="020B0704020202020204"/>
                <a:ea typeface="Arial" panose="020B0704020202020204"/>
                <a:cs typeface="Arial" panose="020B0704020202020204"/>
                <a:sym typeface="Arial" panose="020B0704020202020204"/>
              </a:rPr>
              <a:t>02</a:t>
            </a:r>
            <a:endParaRPr sz="1300" b="0" i="0" u="none" strike="noStrike" cap="none">
              <a:solidFill>
                <a:schemeClr val="dk1"/>
              </a:solidFill>
              <a:latin typeface="Calibri"/>
              <a:ea typeface="Calibri"/>
              <a:cs typeface="Calibri"/>
              <a:sym typeface="Calibri"/>
            </a:endParaRPr>
          </a:p>
        </p:txBody>
      </p:sp>
      <p:sp>
        <p:nvSpPr>
          <p:cNvPr id="248" name="Google Shape;248;p31"/>
          <p:cNvSpPr/>
          <p:nvPr/>
        </p:nvSpPr>
        <p:spPr>
          <a:xfrm>
            <a:off x="5257800" y="1432433"/>
            <a:ext cx="34017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0F0F"/>
              </a:buClr>
              <a:buSzPts val="1300"/>
              <a:buFont typeface="Arial" panose="020B0704020202020204"/>
              <a:buNone/>
            </a:pPr>
            <a:r>
              <a:rPr lang="en-GB" sz="1300" b="1" i="0" u="none" strike="noStrike" cap="none">
                <a:solidFill>
                  <a:srgbClr val="0F0F0F"/>
                </a:solidFill>
                <a:latin typeface="Arial" panose="020B0704020202020204"/>
                <a:ea typeface="Arial" panose="020B0704020202020204"/>
                <a:cs typeface="Arial" panose="020B0704020202020204"/>
                <a:sym typeface="Arial" panose="020B0704020202020204"/>
              </a:rPr>
              <a:t>Custom Stopwords</a:t>
            </a:r>
            <a:endParaRPr sz="1300" b="0" i="0" u="none" strike="noStrike" cap="none">
              <a:solidFill>
                <a:schemeClr val="dk1"/>
              </a:solidFill>
              <a:latin typeface="Calibri"/>
              <a:ea typeface="Calibri"/>
              <a:cs typeface="Calibri"/>
              <a:sym typeface="Calibri"/>
            </a:endParaRPr>
          </a:p>
        </p:txBody>
      </p:sp>
      <p:sp>
        <p:nvSpPr>
          <p:cNvPr id="249" name="Google Shape;249;p31"/>
          <p:cNvSpPr/>
          <p:nvPr/>
        </p:nvSpPr>
        <p:spPr>
          <a:xfrm>
            <a:off x="4791456" y="1798193"/>
            <a:ext cx="38952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Removed: video, vlog, study, youtube, shorts, subscribe + English stopwords. Only niche-differentiating vocabulary remains.</a:t>
            </a:r>
            <a:endParaRPr sz="1000" b="0" i="0" u="none" strike="noStrike" cap="none">
              <a:solidFill>
                <a:schemeClr val="dk1"/>
              </a:solidFill>
              <a:latin typeface="Calibri"/>
              <a:ea typeface="Calibri"/>
              <a:cs typeface="Calibri"/>
              <a:sym typeface="Calibri"/>
            </a:endParaRPr>
          </a:p>
        </p:txBody>
      </p:sp>
      <p:sp>
        <p:nvSpPr>
          <p:cNvPr id="250" name="Google Shape;250;p31"/>
          <p:cNvSpPr/>
          <p:nvPr/>
        </p:nvSpPr>
        <p:spPr>
          <a:xfrm>
            <a:off x="365760" y="2694305"/>
            <a:ext cx="4114800" cy="1170300"/>
          </a:xfrm>
          <a:prstGeom prst="rect">
            <a:avLst/>
          </a:prstGeom>
          <a:solidFill>
            <a:srgbClr val="FFFFFF"/>
          </a:solidFill>
          <a:ln w="12700" cap="flat" cmpd="sng">
            <a:solidFill>
              <a:srgbClr val="E5E5E5"/>
            </a:solidFill>
            <a:prstDash val="solid"/>
            <a:round/>
            <a:headEnd type="none" w="sm" len="sm"/>
            <a:tailEnd type="none" w="sm" len="sm"/>
          </a:ln>
          <a:effectLst>
            <a:outerShdw blurRad="101600" dist="25400" dir="8100000" algn="bl" rotWithShape="0">
              <a:srgbClr val="000000">
                <a:alpha val="588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251;p31"/>
          <p:cNvSpPr/>
          <p:nvPr/>
        </p:nvSpPr>
        <p:spPr>
          <a:xfrm>
            <a:off x="365760" y="2694305"/>
            <a:ext cx="54900" cy="1170300"/>
          </a:xfrm>
          <a:prstGeom prst="rect">
            <a:avLst/>
          </a:prstGeom>
          <a:solidFill>
            <a:srgbClr val="FF8C00"/>
          </a:solidFill>
          <a:ln w="12700" cap="flat" cmpd="sng">
            <a:solidFill>
              <a:srgbClr val="FF8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31"/>
          <p:cNvSpPr/>
          <p:nvPr/>
        </p:nvSpPr>
        <p:spPr>
          <a:xfrm>
            <a:off x="493776" y="2785745"/>
            <a:ext cx="384000" cy="292500"/>
          </a:xfrm>
          <a:prstGeom prst="rect">
            <a:avLst/>
          </a:prstGeom>
          <a:solidFill>
            <a:srgbClr val="FF8C00"/>
          </a:solidFill>
          <a:ln w="12700" cap="flat" cmpd="sng">
            <a:solidFill>
              <a:srgbClr val="FF8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Google Shape;253;p31"/>
          <p:cNvSpPr/>
          <p:nvPr/>
        </p:nvSpPr>
        <p:spPr>
          <a:xfrm>
            <a:off x="493776" y="2785745"/>
            <a:ext cx="384000" cy="29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panose="020B0704020202020204"/>
              <a:buNone/>
            </a:pPr>
            <a:r>
              <a:rPr lang="en-GB" sz="1300" b="1" i="0" u="none" strike="noStrike" cap="none">
                <a:solidFill>
                  <a:srgbClr val="FFFFFF"/>
                </a:solidFill>
                <a:latin typeface="Arial" panose="020B0704020202020204"/>
                <a:ea typeface="Arial" panose="020B0704020202020204"/>
                <a:cs typeface="Arial" panose="020B0704020202020204"/>
                <a:sym typeface="Arial" panose="020B0704020202020204"/>
              </a:rPr>
              <a:t>03</a:t>
            </a:r>
            <a:endParaRPr sz="1300" b="0" i="0" u="none" strike="noStrike" cap="none">
              <a:solidFill>
                <a:schemeClr val="dk1"/>
              </a:solidFill>
              <a:latin typeface="Calibri"/>
              <a:ea typeface="Calibri"/>
              <a:cs typeface="Calibri"/>
              <a:sym typeface="Calibri"/>
            </a:endParaRPr>
          </a:p>
        </p:txBody>
      </p:sp>
      <p:sp>
        <p:nvSpPr>
          <p:cNvPr id="254" name="Google Shape;254;p31"/>
          <p:cNvSpPr/>
          <p:nvPr/>
        </p:nvSpPr>
        <p:spPr>
          <a:xfrm>
            <a:off x="960120" y="2785745"/>
            <a:ext cx="34017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0F0F"/>
              </a:buClr>
              <a:buSzPts val="1300"/>
              <a:buFont typeface="Arial" panose="020B0704020202020204"/>
              <a:buNone/>
            </a:pPr>
            <a:r>
              <a:rPr lang="en-GB" sz="1300" b="1" i="0" u="none" strike="noStrike" cap="none">
                <a:solidFill>
                  <a:srgbClr val="0F0F0F"/>
                </a:solidFill>
                <a:latin typeface="Arial" panose="020B0704020202020204"/>
                <a:ea typeface="Arial" panose="020B0704020202020204"/>
                <a:cs typeface="Arial" panose="020B0704020202020204"/>
                <a:sym typeface="Arial" panose="020B0704020202020204"/>
              </a:rPr>
              <a:t>VADER Sentiment</a:t>
            </a:r>
            <a:endParaRPr sz="1300" b="0" i="0" u="none" strike="noStrike" cap="none">
              <a:solidFill>
                <a:schemeClr val="dk1"/>
              </a:solidFill>
              <a:latin typeface="Calibri"/>
              <a:ea typeface="Calibri"/>
              <a:cs typeface="Calibri"/>
              <a:sym typeface="Calibri"/>
            </a:endParaRPr>
          </a:p>
        </p:txBody>
      </p:sp>
      <p:sp>
        <p:nvSpPr>
          <p:cNvPr id="255" name="Google Shape;255;p31"/>
          <p:cNvSpPr/>
          <p:nvPr/>
        </p:nvSpPr>
        <p:spPr>
          <a:xfrm>
            <a:off x="493776" y="3151505"/>
            <a:ext cx="38952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Scored raw full_text (uncleaned) — preserves !, ?, CAPS signals. Added "strongly positive" flag: compound score &gt; 0.8.</a:t>
            </a:r>
            <a:endParaRPr sz="1000" b="0" i="0" u="none" strike="noStrike" cap="none">
              <a:solidFill>
                <a:schemeClr val="dk1"/>
              </a:solidFill>
              <a:latin typeface="Calibri"/>
              <a:ea typeface="Calibri"/>
              <a:cs typeface="Calibri"/>
              <a:sym typeface="Calibri"/>
            </a:endParaRPr>
          </a:p>
        </p:txBody>
      </p:sp>
      <p:sp>
        <p:nvSpPr>
          <p:cNvPr id="256" name="Google Shape;256;p31"/>
          <p:cNvSpPr/>
          <p:nvPr/>
        </p:nvSpPr>
        <p:spPr>
          <a:xfrm>
            <a:off x="4663440" y="2694305"/>
            <a:ext cx="4114800" cy="1170300"/>
          </a:xfrm>
          <a:prstGeom prst="rect">
            <a:avLst/>
          </a:prstGeom>
          <a:solidFill>
            <a:srgbClr val="FFFFFF"/>
          </a:solidFill>
          <a:ln w="12700" cap="flat" cmpd="sng">
            <a:solidFill>
              <a:srgbClr val="E5E5E5"/>
            </a:solidFill>
            <a:prstDash val="solid"/>
            <a:round/>
            <a:headEnd type="none" w="sm" len="sm"/>
            <a:tailEnd type="none" w="sm" len="sm"/>
          </a:ln>
          <a:effectLst>
            <a:outerShdw blurRad="101600" dist="25400" dir="8100000" algn="bl" rotWithShape="0">
              <a:srgbClr val="000000">
                <a:alpha val="588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31"/>
          <p:cNvSpPr/>
          <p:nvPr/>
        </p:nvSpPr>
        <p:spPr>
          <a:xfrm>
            <a:off x="4663440" y="2694305"/>
            <a:ext cx="54900" cy="1170300"/>
          </a:xfrm>
          <a:prstGeom prst="rect">
            <a:avLst/>
          </a:prstGeom>
          <a:solidFill>
            <a:srgbClr val="00A86B"/>
          </a:solidFill>
          <a:ln w="12700" cap="flat" cmpd="sng">
            <a:solidFill>
              <a:srgbClr val="00A8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 name="Google Shape;258;p31"/>
          <p:cNvSpPr/>
          <p:nvPr/>
        </p:nvSpPr>
        <p:spPr>
          <a:xfrm>
            <a:off x="4791456" y="2785745"/>
            <a:ext cx="384000" cy="292500"/>
          </a:xfrm>
          <a:prstGeom prst="rect">
            <a:avLst/>
          </a:prstGeom>
          <a:solidFill>
            <a:srgbClr val="00A86B"/>
          </a:solidFill>
          <a:ln w="12700" cap="flat" cmpd="sng">
            <a:solidFill>
              <a:srgbClr val="00A8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9" name="Google Shape;259;p31"/>
          <p:cNvSpPr/>
          <p:nvPr/>
        </p:nvSpPr>
        <p:spPr>
          <a:xfrm>
            <a:off x="4791456" y="2785745"/>
            <a:ext cx="384000" cy="29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panose="020B0704020202020204"/>
              <a:buNone/>
            </a:pPr>
            <a:r>
              <a:rPr lang="en-GB" sz="1300" b="1" i="0" u="none" strike="noStrike" cap="none">
                <a:solidFill>
                  <a:srgbClr val="FFFFFF"/>
                </a:solidFill>
                <a:latin typeface="Arial" panose="020B0704020202020204"/>
                <a:ea typeface="Arial" panose="020B0704020202020204"/>
                <a:cs typeface="Arial" panose="020B0704020202020204"/>
                <a:sym typeface="Arial" panose="020B0704020202020204"/>
              </a:rPr>
              <a:t>04</a:t>
            </a:r>
            <a:endParaRPr sz="1300" b="0" i="0" u="none" strike="noStrike" cap="none">
              <a:solidFill>
                <a:schemeClr val="dk1"/>
              </a:solidFill>
              <a:latin typeface="Calibri"/>
              <a:ea typeface="Calibri"/>
              <a:cs typeface="Calibri"/>
              <a:sym typeface="Calibri"/>
            </a:endParaRPr>
          </a:p>
        </p:txBody>
      </p:sp>
      <p:sp>
        <p:nvSpPr>
          <p:cNvPr id="260" name="Google Shape;260;p31"/>
          <p:cNvSpPr/>
          <p:nvPr/>
        </p:nvSpPr>
        <p:spPr>
          <a:xfrm>
            <a:off x="5257800" y="2785745"/>
            <a:ext cx="34017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0F0F"/>
              </a:buClr>
              <a:buSzPts val="1300"/>
              <a:buFont typeface="Arial" panose="020B0704020202020204"/>
              <a:buNone/>
            </a:pPr>
            <a:r>
              <a:rPr lang="en-GB" sz="1300" b="1" i="0" u="none" strike="noStrike" cap="none">
                <a:solidFill>
                  <a:srgbClr val="0F0F0F"/>
                </a:solidFill>
                <a:latin typeface="Arial" panose="020B0704020202020204"/>
                <a:ea typeface="Arial" panose="020B0704020202020204"/>
                <a:cs typeface="Arial" panose="020B0704020202020204"/>
                <a:sym typeface="Arial" panose="020B0704020202020204"/>
              </a:rPr>
              <a:t>Distinctive Bigrams</a:t>
            </a:r>
            <a:endParaRPr sz="1300" b="0" i="0" u="none" strike="noStrike" cap="none">
              <a:solidFill>
                <a:schemeClr val="dk1"/>
              </a:solidFill>
              <a:latin typeface="Calibri"/>
              <a:ea typeface="Calibri"/>
              <a:cs typeface="Calibri"/>
              <a:sym typeface="Calibri"/>
            </a:endParaRPr>
          </a:p>
        </p:txBody>
      </p:sp>
      <p:sp>
        <p:nvSpPr>
          <p:cNvPr id="261" name="Google Shape;261;p31"/>
          <p:cNvSpPr/>
          <p:nvPr/>
        </p:nvSpPr>
        <p:spPr>
          <a:xfrm>
            <a:off x="4791456" y="3151505"/>
            <a:ext cx="38952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Positive comment bigrams (compound &gt; 0.5) extracted per group. TF-difference ranking reveals authentic engagement language.</a:t>
            </a:r>
            <a:endParaRPr sz="1000" b="0" i="0" u="none" strike="noStrike" cap="none">
              <a:solidFill>
                <a:schemeClr val="dk1"/>
              </a:solidFill>
              <a:latin typeface="Calibri"/>
              <a:ea typeface="Calibri"/>
              <a:cs typeface="Calibri"/>
              <a:sym typeface="Calibri"/>
            </a:endParaRPr>
          </a:p>
        </p:txBody>
      </p:sp>
      <p:sp>
        <p:nvSpPr>
          <p:cNvPr id="262" name="Google Shape;262;p31"/>
          <p:cNvSpPr/>
          <p:nvPr/>
        </p:nvSpPr>
        <p:spPr>
          <a:xfrm>
            <a:off x="365760" y="4047490"/>
            <a:ext cx="8412600" cy="911100"/>
          </a:xfrm>
          <a:prstGeom prst="rect">
            <a:avLst/>
          </a:prstGeom>
          <a:solidFill>
            <a:srgbClr val="FFFFFF"/>
          </a:solidFill>
          <a:ln w="12700" cap="flat" cmpd="sng">
            <a:solidFill>
              <a:srgbClr val="E5E5E5"/>
            </a:solidFill>
            <a:prstDash val="solid"/>
            <a:round/>
            <a:headEnd type="none" w="sm" len="sm"/>
            <a:tailEnd type="none" w="sm" len="sm"/>
          </a:ln>
          <a:effectLst>
            <a:outerShdw blurRad="101600" dist="25400" dir="8100000" algn="bl" rotWithShape="0">
              <a:srgbClr val="000000">
                <a:alpha val="588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 name="Google Shape;263;p31"/>
          <p:cNvSpPr/>
          <p:nvPr/>
        </p:nvSpPr>
        <p:spPr>
          <a:xfrm>
            <a:off x="365760" y="4049395"/>
            <a:ext cx="86400" cy="910500"/>
          </a:xfrm>
          <a:prstGeom prst="rect">
            <a:avLst/>
          </a:prstGeom>
          <a:solidFill>
            <a:srgbClr val="0066CC"/>
          </a:solidFill>
          <a:ln w="12700" cap="flat" cmpd="sng">
            <a:solidFill>
              <a:srgbClr val="0066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31"/>
          <p:cNvSpPr/>
          <p:nvPr/>
        </p:nvSpPr>
        <p:spPr>
          <a:xfrm>
            <a:off x="493776" y="4139057"/>
            <a:ext cx="384000" cy="292500"/>
          </a:xfrm>
          <a:prstGeom prst="rect">
            <a:avLst/>
          </a:prstGeom>
          <a:solidFill>
            <a:srgbClr val="0066CC"/>
          </a:solidFill>
          <a:ln w="12700" cap="flat" cmpd="sng">
            <a:solidFill>
              <a:srgbClr val="0066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31"/>
          <p:cNvSpPr/>
          <p:nvPr/>
        </p:nvSpPr>
        <p:spPr>
          <a:xfrm>
            <a:off x="493776" y="4139057"/>
            <a:ext cx="384000" cy="29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panose="020B0704020202020204"/>
              <a:buNone/>
            </a:pPr>
            <a:r>
              <a:rPr lang="en-GB" sz="1300" b="1" i="0" u="none" strike="noStrike" cap="none">
                <a:solidFill>
                  <a:srgbClr val="FFFFFF"/>
                </a:solidFill>
                <a:latin typeface="Arial" panose="020B0704020202020204"/>
                <a:ea typeface="Arial" panose="020B0704020202020204"/>
                <a:cs typeface="Arial" panose="020B0704020202020204"/>
                <a:sym typeface="Arial" panose="020B0704020202020204"/>
              </a:rPr>
              <a:t>05</a:t>
            </a:r>
            <a:endParaRPr sz="1300" b="0" i="0" u="none" strike="noStrike" cap="none">
              <a:solidFill>
                <a:schemeClr val="dk1"/>
              </a:solidFill>
              <a:latin typeface="Calibri"/>
              <a:ea typeface="Calibri"/>
              <a:cs typeface="Calibri"/>
              <a:sym typeface="Calibri"/>
            </a:endParaRPr>
          </a:p>
        </p:txBody>
      </p:sp>
      <p:sp>
        <p:nvSpPr>
          <p:cNvPr id="266" name="Google Shape;266;p31"/>
          <p:cNvSpPr/>
          <p:nvPr/>
        </p:nvSpPr>
        <p:spPr>
          <a:xfrm>
            <a:off x="960120" y="4139057"/>
            <a:ext cx="76992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0F0F"/>
              </a:buClr>
              <a:buSzPts val="1300"/>
              <a:buFont typeface="Arial" panose="020B0704020202020204"/>
              <a:buNone/>
            </a:pPr>
            <a:r>
              <a:rPr lang="en-GB" sz="1300" b="1" i="0" u="none" strike="noStrike" cap="none">
                <a:solidFill>
                  <a:srgbClr val="0F0F0F"/>
                </a:solidFill>
                <a:latin typeface="Arial" panose="020B0704020202020204"/>
                <a:ea typeface="Arial" panose="020B0704020202020204"/>
                <a:cs typeface="Arial" panose="020B0704020202020204"/>
                <a:sym typeface="Arial" panose="020B0704020202020204"/>
              </a:rPr>
              <a:t>LDA Topic Modeling</a:t>
            </a:r>
            <a:endParaRPr sz="1300" b="0" i="0" u="none" strike="noStrike" cap="none">
              <a:solidFill>
                <a:schemeClr val="dk1"/>
              </a:solidFill>
              <a:latin typeface="Calibri"/>
              <a:ea typeface="Calibri"/>
              <a:cs typeface="Calibri"/>
              <a:sym typeface="Calibri"/>
            </a:endParaRPr>
          </a:p>
        </p:txBody>
      </p:sp>
      <p:sp>
        <p:nvSpPr>
          <p:cNvPr id="267" name="Google Shape;267;p31"/>
          <p:cNvSpPr/>
          <p:nvPr/>
        </p:nvSpPr>
        <p:spPr>
          <a:xfrm>
            <a:off x="493776" y="4504817"/>
            <a:ext cx="81930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sklearn LDA, 5 topics per group on content_text. Entropy + max-share measured to quantify topic saturation.</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272" name="Shape 272"/>
        <p:cNvGrpSpPr/>
        <p:nvPr/>
      </p:nvGrpSpPr>
      <p:grpSpPr>
        <a:xfrm>
          <a:off x="0" y="0"/>
          <a:ext cx="0" cy="0"/>
          <a:chOff x="0" y="0"/>
          <a:chExt cx="0" cy="0"/>
        </a:xfrm>
      </p:grpSpPr>
      <p:sp>
        <p:nvSpPr>
          <p:cNvPr id="273" name="Google Shape;273;p32"/>
          <p:cNvSpPr/>
          <p:nvPr/>
        </p:nvSpPr>
        <p:spPr>
          <a:xfrm>
            <a:off x="0" y="0"/>
            <a:ext cx="9144000" cy="5028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32"/>
          <p:cNvSpPr/>
          <p:nvPr/>
        </p:nvSpPr>
        <p:spPr>
          <a:xfrm>
            <a:off x="365760" y="73152"/>
            <a:ext cx="73152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Arial" panose="020B0704020202020204"/>
              <a:buNone/>
            </a:pPr>
            <a:r>
              <a:rPr lang="en-GB" sz="1800" b="1" i="0" u="none" strike="noStrike" cap="none">
                <a:solidFill>
                  <a:srgbClr val="FFFFFF"/>
                </a:solidFill>
                <a:latin typeface="Arial" panose="020B0704020202020204"/>
                <a:ea typeface="Arial" panose="020B0704020202020204"/>
                <a:cs typeface="Arial" panose="020B0704020202020204"/>
                <a:sym typeface="Arial" panose="020B0704020202020204"/>
              </a:rPr>
              <a:t>▶  VADER Sentiment Analysis</a:t>
            </a:r>
            <a:endParaRPr sz="1800" b="0" i="0" u="none" strike="noStrike" cap="none">
              <a:solidFill>
                <a:schemeClr val="dk1"/>
              </a:solidFill>
              <a:latin typeface="Calibri"/>
              <a:ea typeface="Calibri"/>
              <a:cs typeface="Calibri"/>
              <a:sym typeface="Calibri"/>
            </a:endParaRPr>
          </a:p>
        </p:txBody>
      </p:sp>
      <p:sp>
        <p:nvSpPr>
          <p:cNvPr id="275" name="Google Shape;275;p32"/>
          <p:cNvSpPr/>
          <p:nvPr/>
        </p:nvSpPr>
        <p:spPr>
          <a:xfrm>
            <a:off x="365760" y="515620"/>
            <a:ext cx="84126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400"/>
              <a:buFont typeface="Arial" panose="020B0704020202020204"/>
              <a:buNone/>
            </a:pPr>
            <a:r>
              <a:rPr lang="en-GB" sz="1400" b="0" i="0" u="none" strike="noStrike" cap="none">
                <a:solidFill>
                  <a:srgbClr val="606060"/>
                </a:solidFill>
                <a:latin typeface="Arial" panose="020B0704020202020204"/>
                <a:ea typeface="Arial" panose="020B0704020202020204"/>
                <a:cs typeface="Arial" panose="020B0704020202020204"/>
                <a:sym typeface="Arial" panose="020B0704020202020204"/>
              </a:rPr>
              <a:t>High creators produce significantly warmer, more expressive content</a:t>
            </a:r>
            <a:endParaRPr sz="1400" b="0" i="0" u="none" strike="noStrike" cap="none">
              <a:solidFill>
                <a:schemeClr val="dk1"/>
              </a:solidFill>
              <a:latin typeface="Calibri"/>
              <a:ea typeface="Calibri"/>
              <a:cs typeface="Calibri"/>
              <a:sym typeface="Calibri"/>
            </a:endParaRPr>
          </a:p>
        </p:txBody>
      </p:sp>
      <p:pic>
        <p:nvPicPr>
          <p:cNvPr id="276" name="Google Shape;276;p32" descr="/home/claude/nlp_outputs_revised/sentiment_compound_bar.png"/>
          <p:cNvPicPr preferRelativeResize="0"/>
          <p:nvPr/>
        </p:nvPicPr>
        <p:blipFill rotWithShape="1">
          <a:blip r:embed="rId1"/>
          <a:srcRect/>
          <a:stretch>
            <a:fillRect/>
          </a:stretch>
        </p:blipFill>
        <p:spPr>
          <a:xfrm>
            <a:off x="365760" y="987552"/>
            <a:ext cx="4023359" cy="2816351"/>
          </a:xfrm>
          <a:prstGeom prst="rect">
            <a:avLst/>
          </a:prstGeom>
          <a:noFill/>
          <a:ln>
            <a:noFill/>
          </a:ln>
        </p:spPr>
      </p:pic>
      <p:pic>
        <p:nvPicPr>
          <p:cNvPr id="277" name="Google Shape;277;p32" descr="/home/claude/nlp_outputs_revised/strongly_positive_ratio_bar.png"/>
          <p:cNvPicPr preferRelativeResize="0"/>
          <p:nvPr/>
        </p:nvPicPr>
        <p:blipFill rotWithShape="1">
          <a:blip r:embed="rId2"/>
          <a:srcRect/>
          <a:stretch>
            <a:fillRect/>
          </a:stretch>
        </p:blipFill>
        <p:spPr>
          <a:xfrm>
            <a:off x="4663440" y="987552"/>
            <a:ext cx="4023359" cy="2816351"/>
          </a:xfrm>
          <a:prstGeom prst="rect">
            <a:avLst/>
          </a:prstGeom>
          <a:noFill/>
          <a:ln>
            <a:noFill/>
          </a:ln>
        </p:spPr>
      </p:pic>
      <p:sp>
        <p:nvSpPr>
          <p:cNvPr id="278" name="Google Shape;278;p32"/>
          <p:cNvSpPr/>
          <p:nvPr/>
        </p:nvSpPr>
        <p:spPr>
          <a:xfrm>
            <a:off x="1652270" y="802640"/>
            <a:ext cx="1516500" cy="2202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 name="Google Shape;279;p32"/>
          <p:cNvSpPr/>
          <p:nvPr/>
        </p:nvSpPr>
        <p:spPr>
          <a:xfrm>
            <a:off x="1725295" y="802005"/>
            <a:ext cx="1450200" cy="192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Arial" panose="020B0704020202020204"/>
              <a:buNone/>
            </a:pPr>
            <a:r>
              <a:rPr lang="en-GB" sz="1000" b="1" i="0" u="none" strike="noStrike" cap="none">
                <a:solidFill>
                  <a:srgbClr val="FFFFFF"/>
                </a:solidFill>
                <a:latin typeface="Arial" panose="020B0704020202020204"/>
                <a:ea typeface="Arial" panose="020B0704020202020204"/>
                <a:cs typeface="Arial" panose="020B0704020202020204"/>
                <a:sym typeface="Arial" panose="020B0704020202020204"/>
              </a:rPr>
              <a:t>Avg Compound Score</a:t>
            </a:r>
            <a:endParaRPr sz="1000" b="0" i="0" u="none" strike="noStrike" cap="none">
              <a:solidFill>
                <a:schemeClr val="dk1"/>
              </a:solidFill>
              <a:latin typeface="Calibri"/>
              <a:ea typeface="Calibri"/>
              <a:cs typeface="Calibri"/>
              <a:sym typeface="Calibri"/>
            </a:endParaRPr>
          </a:p>
        </p:txBody>
      </p:sp>
      <p:sp>
        <p:nvSpPr>
          <p:cNvPr id="280" name="Google Shape;280;p32"/>
          <p:cNvSpPr/>
          <p:nvPr/>
        </p:nvSpPr>
        <p:spPr>
          <a:xfrm>
            <a:off x="5438775" y="784860"/>
            <a:ext cx="2625600" cy="2559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 name="Google Shape;281;p32"/>
          <p:cNvSpPr/>
          <p:nvPr/>
        </p:nvSpPr>
        <p:spPr>
          <a:xfrm>
            <a:off x="5511165" y="833120"/>
            <a:ext cx="2553300" cy="189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Arial" panose="020B0704020202020204"/>
              <a:buNone/>
            </a:pPr>
            <a:r>
              <a:rPr lang="en-GB" sz="1000" b="1" i="0" u="none" strike="noStrike" cap="none">
                <a:solidFill>
                  <a:srgbClr val="FFFFFF"/>
                </a:solidFill>
                <a:latin typeface="Arial" panose="020B0704020202020204"/>
                <a:ea typeface="Arial" panose="020B0704020202020204"/>
                <a:cs typeface="Arial" panose="020B0704020202020204"/>
                <a:sym typeface="Arial" panose="020B0704020202020204"/>
              </a:rPr>
              <a:t>Strongly Positive Share (compound &gt; 0.8)</a:t>
            </a:r>
            <a:endParaRPr sz="1000" b="0" i="0" u="none" strike="noStrike" cap="none">
              <a:solidFill>
                <a:schemeClr val="dk1"/>
              </a:solidFill>
              <a:latin typeface="Calibri"/>
              <a:ea typeface="Calibri"/>
              <a:cs typeface="Calibri"/>
              <a:sym typeface="Calibri"/>
            </a:endParaRPr>
          </a:p>
        </p:txBody>
      </p:sp>
      <p:sp>
        <p:nvSpPr>
          <p:cNvPr id="282" name="Google Shape;282;p32"/>
          <p:cNvSpPr/>
          <p:nvPr/>
        </p:nvSpPr>
        <p:spPr>
          <a:xfrm>
            <a:off x="365760" y="3913632"/>
            <a:ext cx="1938600" cy="1005900"/>
          </a:xfrm>
          <a:prstGeom prst="rect">
            <a:avLst/>
          </a:prstGeom>
          <a:solidFill>
            <a:srgbClr val="E6F7F1"/>
          </a:solidFill>
          <a:ln w="12700" cap="flat" cmpd="sng">
            <a:solidFill>
              <a:srgbClr val="00A8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 name="Google Shape;283;p32"/>
          <p:cNvSpPr/>
          <p:nvPr/>
        </p:nvSpPr>
        <p:spPr>
          <a:xfrm>
            <a:off x="420624" y="3950208"/>
            <a:ext cx="18288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6B"/>
              </a:buClr>
              <a:buSzPts val="2200"/>
              <a:buFont typeface="Arial" panose="020B0704020202020204"/>
              <a:buNone/>
            </a:pPr>
            <a:r>
              <a:rPr lang="en-GB" sz="2200" b="1" i="0" u="none" strike="noStrike" cap="none">
                <a:solidFill>
                  <a:srgbClr val="00A86B"/>
                </a:solidFill>
                <a:latin typeface="Arial" panose="020B0704020202020204"/>
                <a:ea typeface="Arial" panose="020B0704020202020204"/>
                <a:cs typeface="Arial" panose="020B0704020202020204"/>
                <a:sym typeface="Arial" panose="020B0704020202020204"/>
              </a:rPr>
              <a:t>0.419</a:t>
            </a:r>
            <a:endParaRPr sz="2200" b="0" i="0" u="none" strike="noStrike" cap="none">
              <a:solidFill>
                <a:schemeClr val="dk1"/>
              </a:solidFill>
              <a:latin typeface="Calibri"/>
              <a:ea typeface="Calibri"/>
              <a:cs typeface="Calibri"/>
              <a:sym typeface="Calibri"/>
            </a:endParaRPr>
          </a:p>
        </p:txBody>
      </p:sp>
      <p:sp>
        <p:nvSpPr>
          <p:cNvPr id="284" name="Google Shape;284;p32"/>
          <p:cNvSpPr/>
          <p:nvPr/>
        </p:nvSpPr>
        <p:spPr>
          <a:xfrm>
            <a:off x="420624" y="4389120"/>
            <a:ext cx="1828800" cy="475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High Compound</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avg VADER</a:t>
            </a:r>
            <a:endParaRPr sz="1000" b="0" i="0" u="none" strike="noStrike" cap="none">
              <a:solidFill>
                <a:schemeClr val="dk1"/>
              </a:solidFill>
              <a:latin typeface="Calibri"/>
              <a:ea typeface="Calibri"/>
              <a:cs typeface="Calibri"/>
              <a:sym typeface="Calibri"/>
            </a:endParaRPr>
          </a:p>
        </p:txBody>
      </p:sp>
      <p:sp>
        <p:nvSpPr>
          <p:cNvPr id="285" name="Google Shape;285;p32"/>
          <p:cNvSpPr/>
          <p:nvPr/>
        </p:nvSpPr>
        <p:spPr>
          <a:xfrm>
            <a:off x="2468880" y="3913632"/>
            <a:ext cx="1938600" cy="1005900"/>
          </a:xfrm>
          <a:prstGeom prst="rect">
            <a:avLst/>
          </a:prstGeom>
          <a:solidFill>
            <a:srgbClr val="FFF0F0"/>
          </a:solidFill>
          <a:ln w="12700" cap="flat" cmpd="sng">
            <a:solidFill>
              <a:srgbClr val="BB22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 name="Google Shape;286;p32"/>
          <p:cNvSpPr/>
          <p:nvPr/>
        </p:nvSpPr>
        <p:spPr>
          <a:xfrm>
            <a:off x="2523744" y="3950208"/>
            <a:ext cx="18288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0000"/>
              </a:buClr>
              <a:buSzPts val="2200"/>
              <a:buFont typeface="Arial" panose="020B0704020202020204"/>
              <a:buNone/>
            </a:pPr>
            <a:r>
              <a:rPr lang="en-GB" sz="2200" b="1" i="0" u="none" strike="noStrike" cap="none">
                <a:solidFill>
                  <a:srgbClr val="BB2217"/>
                </a:solidFill>
                <a:latin typeface="Arial" panose="020B0704020202020204"/>
                <a:ea typeface="Arial" panose="020B0704020202020204"/>
                <a:cs typeface="Arial" panose="020B0704020202020204"/>
                <a:sym typeface="Arial" panose="020B0704020202020204"/>
              </a:rPr>
              <a:t>0.327</a:t>
            </a:r>
            <a:endParaRPr sz="2200" b="0" i="0" u="none" strike="noStrike" cap="none">
              <a:solidFill>
                <a:srgbClr val="BB2217"/>
              </a:solidFill>
              <a:latin typeface="Calibri"/>
              <a:ea typeface="Calibri"/>
              <a:cs typeface="Calibri"/>
              <a:sym typeface="Calibri"/>
            </a:endParaRPr>
          </a:p>
        </p:txBody>
      </p:sp>
      <p:sp>
        <p:nvSpPr>
          <p:cNvPr id="287" name="Google Shape;287;p32"/>
          <p:cNvSpPr/>
          <p:nvPr/>
        </p:nvSpPr>
        <p:spPr>
          <a:xfrm>
            <a:off x="2523744" y="4389120"/>
            <a:ext cx="1828800" cy="475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Low Compound</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avg VADER</a:t>
            </a:r>
            <a:endParaRPr sz="1000" b="0" i="0" u="none" strike="noStrike" cap="none">
              <a:solidFill>
                <a:schemeClr val="dk1"/>
              </a:solidFill>
              <a:latin typeface="Calibri"/>
              <a:ea typeface="Calibri"/>
              <a:cs typeface="Calibri"/>
              <a:sym typeface="Calibri"/>
            </a:endParaRPr>
          </a:p>
        </p:txBody>
      </p:sp>
      <p:sp>
        <p:nvSpPr>
          <p:cNvPr id="288" name="Google Shape;288;p32"/>
          <p:cNvSpPr/>
          <p:nvPr/>
        </p:nvSpPr>
        <p:spPr>
          <a:xfrm>
            <a:off x="4572000" y="3913632"/>
            <a:ext cx="1938600" cy="1005900"/>
          </a:xfrm>
          <a:prstGeom prst="rect">
            <a:avLst/>
          </a:prstGeom>
          <a:solidFill>
            <a:srgbClr val="E6F7F1"/>
          </a:solidFill>
          <a:ln w="12700" cap="flat" cmpd="sng">
            <a:solidFill>
              <a:srgbClr val="00A8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 name="Google Shape;289;p32"/>
          <p:cNvSpPr/>
          <p:nvPr/>
        </p:nvSpPr>
        <p:spPr>
          <a:xfrm>
            <a:off x="4626864" y="3950208"/>
            <a:ext cx="18288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6B"/>
              </a:buClr>
              <a:buSzPts val="2200"/>
              <a:buFont typeface="Arial" panose="020B0704020202020204"/>
              <a:buNone/>
            </a:pPr>
            <a:r>
              <a:rPr lang="en-GB" sz="2200" b="1" i="0" u="none" strike="noStrike" cap="none">
                <a:solidFill>
                  <a:srgbClr val="00A86B"/>
                </a:solidFill>
                <a:latin typeface="Arial" panose="020B0704020202020204"/>
                <a:ea typeface="Arial" panose="020B0704020202020204"/>
                <a:cs typeface="Arial" panose="020B0704020202020204"/>
                <a:sym typeface="Arial" panose="020B0704020202020204"/>
              </a:rPr>
              <a:t>33.0%</a:t>
            </a:r>
            <a:endParaRPr sz="2200" b="0" i="0" u="none" strike="noStrike" cap="none">
              <a:solidFill>
                <a:schemeClr val="dk1"/>
              </a:solidFill>
              <a:latin typeface="Calibri"/>
              <a:ea typeface="Calibri"/>
              <a:cs typeface="Calibri"/>
              <a:sym typeface="Calibri"/>
            </a:endParaRPr>
          </a:p>
        </p:txBody>
      </p:sp>
      <p:sp>
        <p:nvSpPr>
          <p:cNvPr id="290" name="Google Shape;290;p32"/>
          <p:cNvSpPr/>
          <p:nvPr/>
        </p:nvSpPr>
        <p:spPr>
          <a:xfrm>
            <a:off x="4626864" y="4389120"/>
            <a:ext cx="1828800" cy="475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High Strongly+</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cpd &gt; 0.8</a:t>
            </a:r>
            <a:endParaRPr sz="1000" b="0" i="0" u="none" strike="noStrike" cap="none">
              <a:solidFill>
                <a:schemeClr val="dk1"/>
              </a:solidFill>
              <a:latin typeface="Calibri"/>
              <a:ea typeface="Calibri"/>
              <a:cs typeface="Calibri"/>
              <a:sym typeface="Calibri"/>
            </a:endParaRPr>
          </a:p>
        </p:txBody>
      </p:sp>
      <p:sp>
        <p:nvSpPr>
          <p:cNvPr id="291" name="Google Shape;291;p32"/>
          <p:cNvSpPr/>
          <p:nvPr/>
        </p:nvSpPr>
        <p:spPr>
          <a:xfrm>
            <a:off x="6675120" y="3913632"/>
            <a:ext cx="1938600" cy="1005900"/>
          </a:xfrm>
          <a:prstGeom prst="rect">
            <a:avLst/>
          </a:prstGeom>
          <a:solidFill>
            <a:srgbClr val="FFF0F0"/>
          </a:solidFill>
          <a:ln w="12700" cap="flat" cmpd="sng">
            <a:solidFill>
              <a:srgbClr val="BB22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 name="Google Shape;292;p32"/>
          <p:cNvSpPr/>
          <p:nvPr/>
        </p:nvSpPr>
        <p:spPr>
          <a:xfrm>
            <a:off x="6729984" y="3950208"/>
            <a:ext cx="18288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0000"/>
              </a:buClr>
              <a:buSzPts val="2200"/>
              <a:buFont typeface="Arial" panose="020B0704020202020204"/>
              <a:buNone/>
            </a:pPr>
            <a:r>
              <a:rPr lang="en-GB" sz="2200" b="1" i="0" u="none" strike="noStrike" cap="none">
                <a:solidFill>
                  <a:srgbClr val="BB2217"/>
                </a:solidFill>
                <a:latin typeface="Arial" panose="020B0704020202020204"/>
                <a:ea typeface="Arial" panose="020B0704020202020204"/>
                <a:cs typeface="Arial" panose="020B0704020202020204"/>
                <a:sym typeface="Arial" panose="020B0704020202020204"/>
              </a:rPr>
              <a:t>22.9%</a:t>
            </a:r>
            <a:endParaRPr sz="2200" b="0" i="0" u="none" strike="noStrike" cap="none">
              <a:solidFill>
                <a:srgbClr val="BB2217"/>
              </a:solidFill>
              <a:latin typeface="Calibri"/>
              <a:ea typeface="Calibri"/>
              <a:cs typeface="Calibri"/>
              <a:sym typeface="Calibri"/>
            </a:endParaRPr>
          </a:p>
        </p:txBody>
      </p:sp>
      <p:sp>
        <p:nvSpPr>
          <p:cNvPr id="293" name="Google Shape;293;p32"/>
          <p:cNvSpPr/>
          <p:nvPr/>
        </p:nvSpPr>
        <p:spPr>
          <a:xfrm>
            <a:off x="6729984" y="4389120"/>
            <a:ext cx="1828800" cy="475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Low Strongly+</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606060"/>
              </a:buClr>
              <a:buSzPts val="1000"/>
              <a:buFont typeface="Arial" panose="020B0704020202020204"/>
              <a:buNone/>
            </a:pPr>
            <a:r>
              <a:rPr lang="en-GB" sz="1000" b="0" i="0" u="none" strike="noStrike" cap="none">
                <a:solidFill>
                  <a:srgbClr val="606060"/>
                </a:solidFill>
                <a:latin typeface="Arial" panose="020B0704020202020204"/>
                <a:ea typeface="Arial" panose="020B0704020202020204"/>
                <a:cs typeface="Arial" panose="020B0704020202020204"/>
                <a:sym typeface="Arial" panose="020B0704020202020204"/>
              </a:rPr>
              <a:t>cpd &gt; 0.8</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298" name="Shape 298"/>
        <p:cNvGrpSpPr/>
        <p:nvPr/>
      </p:nvGrpSpPr>
      <p:grpSpPr>
        <a:xfrm>
          <a:off x="0" y="0"/>
          <a:ext cx="0" cy="0"/>
          <a:chOff x="0" y="0"/>
          <a:chExt cx="0" cy="0"/>
        </a:xfrm>
      </p:grpSpPr>
      <p:sp>
        <p:nvSpPr>
          <p:cNvPr id="299" name="Google Shape;299;p33"/>
          <p:cNvSpPr/>
          <p:nvPr/>
        </p:nvSpPr>
        <p:spPr>
          <a:xfrm>
            <a:off x="0" y="0"/>
            <a:ext cx="9144000" cy="5028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33"/>
          <p:cNvSpPr/>
          <p:nvPr/>
        </p:nvSpPr>
        <p:spPr>
          <a:xfrm>
            <a:off x="365760" y="73152"/>
            <a:ext cx="73152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Arial" panose="020B0704020202020204"/>
              <a:buNone/>
            </a:pPr>
            <a:r>
              <a:rPr lang="en-GB" sz="1800" b="1" i="0" u="none" strike="noStrike" cap="none">
                <a:solidFill>
                  <a:srgbClr val="FFFFFF"/>
                </a:solidFill>
                <a:latin typeface="Arial" panose="020B0704020202020204"/>
                <a:ea typeface="Arial" panose="020B0704020202020204"/>
                <a:cs typeface="Arial" panose="020B0704020202020204"/>
                <a:sym typeface="Arial" panose="020B0704020202020204"/>
              </a:rPr>
              <a:t>▶  Distinctive Language Analysis</a:t>
            </a:r>
            <a:endParaRPr sz="1800" b="0" i="0" u="none" strike="noStrike" cap="none">
              <a:solidFill>
                <a:schemeClr val="dk1"/>
              </a:solidFill>
              <a:latin typeface="Calibri"/>
              <a:ea typeface="Calibri"/>
              <a:cs typeface="Calibri"/>
              <a:sym typeface="Calibri"/>
            </a:endParaRPr>
          </a:p>
        </p:txBody>
      </p:sp>
      <p:sp>
        <p:nvSpPr>
          <p:cNvPr id="301" name="Google Shape;301;p33"/>
          <p:cNvSpPr/>
          <p:nvPr/>
        </p:nvSpPr>
        <p:spPr>
          <a:xfrm>
            <a:off x="365760" y="594360"/>
            <a:ext cx="84126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300"/>
              <a:buFont typeface="Arial" panose="020B0704020202020204"/>
              <a:buNone/>
            </a:pPr>
            <a:r>
              <a:rPr lang="en-GB" sz="1300" b="0" i="0" u="none" strike="noStrike" cap="none">
                <a:solidFill>
                  <a:srgbClr val="606060"/>
                </a:solidFill>
                <a:latin typeface="Arial" panose="020B0704020202020204"/>
                <a:ea typeface="Arial" panose="020B0704020202020204"/>
                <a:cs typeface="Arial" panose="020B0704020202020204"/>
                <a:sym typeface="Arial" panose="020B0704020202020204"/>
              </a:rPr>
              <a:t>Platform noise removed — only niche-differentiating vocabulary shown</a:t>
            </a:r>
            <a:endParaRPr sz="1300" b="0" i="0" u="none" strike="noStrike" cap="none">
              <a:solidFill>
                <a:schemeClr val="dk1"/>
              </a:solidFill>
              <a:latin typeface="Calibri"/>
              <a:ea typeface="Calibri"/>
              <a:cs typeface="Calibri"/>
              <a:sym typeface="Calibri"/>
            </a:endParaRPr>
          </a:p>
        </p:txBody>
      </p:sp>
      <p:sp>
        <p:nvSpPr>
          <p:cNvPr id="302" name="Google Shape;302;p33"/>
          <p:cNvSpPr/>
          <p:nvPr/>
        </p:nvSpPr>
        <p:spPr>
          <a:xfrm>
            <a:off x="365760" y="932688"/>
            <a:ext cx="4114800" cy="274200"/>
          </a:xfrm>
          <a:prstGeom prst="rect">
            <a:avLst/>
          </a:prstGeom>
          <a:solidFill>
            <a:srgbClr val="00A86B"/>
          </a:solidFill>
          <a:ln w="12700" cap="flat" cmpd="sng">
            <a:solidFill>
              <a:srgbClr val="00A8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 name="Google Shape;303;p33"/>
          <p:cNvSpPr/>
          <p:nvPr/>
        </p:nvSpPr>
        <p:spPr>
          <a:xfrm>
            <a:off x="438912" y="950976"/>
            <a:ext cx="39684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Arial" panose="020B0704020202020204"/>
              <a:buNone/>
            </a:pPr>
            <a:r>
              <a:rPr lang="en-GB" sz="1000" b="1" i="0" u="none" strike="noStrike" cap="none">
                <a:solidFill>
                  <a:srgbClr val="FFFFFF"/>
                </a:solidFill>
                <a:latin typeface="Arial" panose="020B0704020202020204"/>
                <a:ea typeface="Arial" panose="020B0704020202020204"/>
                <a:cs typeface="Arial" panose="020B0704020202020204"/>
                <a:sym typeface="Arial" panose="020B0704020202020204"/>
              </a:rPr>
              <a:t>✓  HIGH Like-Rate — Distinctive Words</a:t>
            </a:r>
            <a:endParaRPr sz="1000" b="0" i="0" u="none" strike="noStrike" cap="none">
              <a:solidFill>
                <a:schemeClr val="dk1"/>
              </a:solidFill>
              <a:latin typeface="Calibri"/>
              <a:ea typeface="Calibri"/>
              <a:cs typeface="Calibri"/>
              <a:sym typeface="Calibri"/>
            </a:endParaRPr>
          </a:p>
        </p:txBody>
      </p:sp>
      <p:sp>
        <p:nvSpPr>
          <p:cNvPr id="304" name="Google Shape;304;p33"/>
          <p:cNvSpPr/>
          <p:nvPr/>
        </p:nvSpPr>
        <p:spPr>
          <a:xfrm>
            <a:off x="365760" y="1207008"/>
            <a:ext cx="4114800" cy="2423100"/>
          </a:xfrm>
          <a:prstGeom prst="rect">
            <a:avLst/>
          </a:prstGeom>
          <a:solidFill>
            <a:srgbClr val="FFFFFF"/>
          </a:solidFill>
          <a:ln w="12700" cap="flat" cmpd="sng">
            <a:solidFill>
              <a:srgbClr val="E5E5E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305" name="Google Shape;305;p33" descr="/home/claude/nlp_outputs_revised/distinctive_wordcloud_high.png"/>
          <p:cNvPicPr preferRelativeResize="0"/>
          <p:nvPr/>
        </p:nvPicPr>
        <p:blipFill rotWithShape="1">
          <a:blip r:embed="rId1"/>
          <a:srcRect/>
          <a:stretch>
            <a:fillRect/>
          </a:stretch>
        </p:blipFill>
        <p:spPr>
          <a:xfrm>
            <a:off x="384048" y="1225296"/>
            <a:ext cx="4078225" cy="2386585"/>
          </a:xfrm>
          <a:prstGeom prst="rect">
            <a:avLst/>
          </a:prstGeom>
          <a:noFill/>
          <a:ln>
            <a:noFill/>
          </a:ln>
        </p:spPr>
      </p:pic>
      <p:sp>
        <p:nvSpPr>
          <p:cNvPr id="306" name="Google Shape;306;p33"/>
          <p:cNvSpPr/>
          <p:nvPr/>
        </p:nvSpPr>
        <p:spPr>
          <a:xfrm>
            <a:off x="4663440" y="932688"/>
            <a:ext cx="4114800" cy="2742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 name="Google Shape;307;p33"/>
          <p:cNvSpPr/>
          <p:nvPr/>
        </p:nvSpPr>
        <p:spPr>
          <a:xfrm>
            <a:off x="4736592" y="950976"/>
            <a:ext cx="39684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Arial" panose="020B0704020202020204"/>
              <a:buNone/>
            </a:pPr>
            <a:r>
              <a:rPr lang="en-GB" sz="1000" b="1" i="0" u="none" strike="noStrike" cap="none">
                <a:solidFill>
                  <a:srgbClr val="FFFFFF"/>
                </a:solidFill>
                <a:latin typeface="Arial" panose="020B0704020202020204"/>
                <a:ea typeface="Arial" panose="020B0704020202020204"/>
                <a:cs typeface="Arial" panose="020B0704020202020204"/>
                <a:sym typeface="Arial" panose="020B0704020202020204"/>
              </a:rPr>
              <a:t>✗  LOW Like-Rate — Distinctive Words</a:t>
            </a:r>
            <a:endParaRPr sz="1000" b="0" i="0" u="none" strike="noStrike" cap="none">
              <a:solidFill>
                <a:schemeClr val="dk1"/>
              </a:solidFill>
              <a:latin typeface="Calibri"/>
              <a:ea typeface="Calibri"/>
              <a:cs typeface="Calibri"/>
              <a:sym typeface="Calibri"/>
            </a:endParaRPr>
          </a:p>
        </p:txBody>
      </p:sp>
      <p:sp>
        <p:nvSpPr>
          <p:cNvPr id="308" name="Google Shape;308;p33"/>
          <p:cNvSpPr/>
          <p:nvPr/>
        </p:nvSpPr>
        <p:spPr>
          <a:xfrm>
            <a:off x="4663440" y="1207008"/>
            <a:ext cx="4114800" cy="2423100"/>
          </a:xfrm>
          <a:prstGeom prst="rect">
            <a:avLst/>
          </a:prstGeom>
          <a:solidFill>
            <a:srgbClr val="FFFFFF"/>
          </a:solidFill>
          <a:ln w="12700" cap="flat" cmpd="sng">
            <a:solidFill>
              <a:srgbClr val="E5E5E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309" name="Google Shape;309;p33" descr="/home/claude/nlp_outputs_revised/distinctive_wordcloud_low.png"/>
          <p:cNvPicPr preferRelativeResize="0"/>
          <p:nvPr/>
        </p:nvPicPr>
        <p:blipFill rotWithShape="1">
          <a:blip r:embed="rId2"/>
          <a:srcRect/>
          <a:stretch>
            <a:fillRect/>
          </a:stretch>
        </p:blipFill>
        <p:spPr>
          <a:xfrm>
            <a:off x="4681728" y="1225296"/>
            <a:ext cx="4078225" cy="2386585"/>
          </a:xfrm>
          <a:prstGeom prst="rect">
            <a:avLst/>
          </a:prstGeom>
          <a:noFill/>
          <a:ln>
            <a:noFill/>
          </a:ln>
        </p:spPr>
      </p:pic>
      <p:sp>
        <p:nvSpPr>
          <p:cNvPr id="310" name="Google Shape;310;p33"/>
          <p:cNvSpPr/>
          <p:nvPr/>
        </p:nvSpPr>
        <p:spPr>
          <a:xfrm>
            <a:off x="365760" y="3694176"/>
            <a:ext cx="4114800" cy="384000"/>
          </a:xfrm>
          <a:prstGeom prst="rect">
            <a:avLst/>
          </a:prstGeom>
          <a:solidFill>
            <a:srgbClr val="EAF7EF"/>
          </a:solidFill>
          <a:ln w="12700" cap="flat" cmpd="sng">
            <a:solidFill>
              <a:srgbClr val="00A8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 name="Google Shape;311;p33"/>
          <p:cNvSpPr/>
          <p:nvPr/>
        </p:nvSpPr>
        <p:spPr>
          <a:xfrm>
            <a:off x="457200" y="3739896"/>
            <a:ext cx="39318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6644"/>
              </a:buClr>
              <a:buSzPts val="1000"/>
              <a:buFont typeface="Arial" panose="020B0704020202020204"/>
              <a:buNone/>
            </a:pPr>
            <a:r>
              <a:rPr lang="en-GB" sz="1000" b="0" i="0" u="none" strike="noStrike" cap="none">
                <a:solidFill>
                  <a:srgbClr val="006644"/>
                </a:solidFill>
                <a:latin typeface="Arial" panose="020B0704020202020204"/>
                <a:ea typeface="Arial" panose="020B0704020202020204"/>
                <a:cs typeface="Arial" panose="020B0704020202020204"/>
                <a:sym typeface="Arial" panose="020B0704020202020204"/>
              </a:rPr>
              <a:t>jee it  ·  aspirant  ·  haridwar  ·  shayari  ·  neet  ·  assamese  ·  ganga</a:t>
            </a:r>
            <a:endParaRPr sz="1000" b="0" i="0" u="none" strike="noStrike" cap="none">
              <a:solidFill>
                <a:schemeClr val="dk1"/>
              </a:solidFill>
              <a:latin typeface="Calibri"/>
              <a:ea typeface="Calibri"/>
              <a:cs typeface="Calibri"/>
              <a:sym typeface="Calibri"/>
            </a:endParaRPr>
          </a:p>
        </p:txBody>
      </p:sp>
      <p:sp>
        <p:nvSpPr>
          <p:cNvPr id="312" name="Google Shape;312;p33"/>
          <p:cNvSpPr/>
          <p:nvPr/>
        </p:nvSpPr>
        <p:spPr>
          <a:xfrm>
            <a:off x="4663440" y="3694176"/>
            <a:ext cx="4114800" cy="384000"/>
          </a:xfrm>
          <a:prstGeom prst="rect">
            <a:avLst/>
          </a:prstGeom>
          <a:solidFill>
            <a:srgbClr val="FFF0F0"/>
          </a:solidFill>
          <a:ln w="127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 name="Google Shape;313;p33"/>
          <p:cNvSpPr/>
          <p:nvPr/>
        </p:nvSpPr>
        <p:spPr>
          <a:xfrm>
            <a:off x="4754880" y="3739896"/>
            <a:ext cx="39318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C0000"/>
              </a:buClr>
              <a:buSzPts val="1000"/>
              <a:buFont typeface="Arial" panose="020B0704020202020204"/>
              <a:buNone/>
            </a:pPr>
            <a:r>
              <a:rPr lang="en-GB" sz="1000" b="0" i="0" u="none" strike="noStrike" cap="none">
                <a:solidFill>
                  <a:srgbClr val="CC0000"/>
                </a:solidFill>
                <a:latin typeface="Arial" panose="020B0704020202020204"/>
                <a:ea typeface="Arial" panose="020B0704020202020204"/>
                <a:cs typeface="Arial" panose="020B0704020202020204"/>
                <a:sym typeface="Arial" panose="020B0704020202020204"/>
              </a:rPr>
              <a:t>s</a:t>
            </a:r>
            <a:r>
              <a:rPr lang="en-GB" sz="1000">
                <a:solidFill>
                  <a:srgbClr val="CC0000"/>
                </a:solidFill>
              </a:rPr>
              <a:t>s</a:t>
            </a:r>
            <a:r>
              <a:rPr lang="en-GB" sz="1000" b="0" i="0" u="none" strike="noStrike" cap="none">
                <a:solidFill>
                  <a:srgbClr val="CC0000"/>
                </a:solidFill>
                <a:latin typeface="Arial" panose="020B0704020202020204"/>
                <a:ea typeface="Arial" panose="020B0704020202020204"/>
                <a:cs typeface="Arial" panose="020B0704020202020204"/>
                <a:sym typeface="Arial" panose="020B0704020202020204"/>
              </a:rPr>
              <a:t>c  ·  upsc  ·  aesthetic  ·  class  ·  food  ·  editing  ·  girl  ·  bsc  ·  srm</a:t>
            </a:r>
            <a:endParaRPr sz="1000" b="0" i="0" u="none" strike="noStrike" cap="none">
              <a:solidFill>
                <a:schemeClr val="dk1"/>
              </a:solidFill>
              <a:latin typeface="Calibri"/>
              <a:ea typeface="Calibri"/>
              <a:cs typeface="Calibri"/>
              <a:sym typeface="Calibri"/>
            </a:endParaRPr>
          </a:p>
        </p:txBody>
      </p:sp>
      <p:sp>
        <p:nvSpPr>
          <p:cNvPr id="314" name="Google Shape;314;p33"/>
          <p:cNvSpPr/>
          <p:nvPr/>
        </p:nvSpPr>
        <p:spPr>
          <a:xfrm>
            <a:off x="365760" y="4160520"/>
            <a:ext cx="8412600" cy="685800"/>
          </a:xfrm>
          <a:prstGeom prst="rect">
            <a:avLst/>
          </a:prstGeom>
          <a:solidFill>
            <a:srgbClr val="FFEFEF"/>
          </a:solidFill>
          <a:ln w="127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 name="Google Shape;315;p33"/>
          <p:cNvSpPr/>
          <p:nvPr/>
        </p:nvSpPr>
        <p:spPr>
          <a:xfrm>
            <a:off x="502920" y="4206240"/>
            <a:ext cx="81840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0F0F"/>
              </a:buClr>
              <a:buSzPts val="1050"/>
              <a:buFont typeface="Arial" panose="020B0704020202020204"/>
              <a:buNone/>
            </a:pPr>
            <a:r>
              <a:rPr lang="en-GB" sz="1050" b="0" i="0" u="none" strike="noStrike" cap="none">
                <a:solidFill>
                  <a:srgbClr val="0F0F0F"/>
                </a:solidFill>
                <a:latin typeface="Arial" panose="020B0704020202020204"/>
                <a:ea typeface="Arial" panose="020B0704020202020204"/>
                <a:cs typeface="Arial" panose="020B0704020202020204"/>
                <a:sym typeface="Arial" panose="020B0704020202020204"/>
              </a:rPr>
              <a:t>Key Insight: High creators use identity-specific vocabulary (JEE/IIT exam prep, Assamese regional culture, Haridwar/Ganga spirituality, shayari poetry). </a:t>
            </a:r>
            <a:endParaRPr sz="1050" b="0" i="0" u="none" strike="noStrike" cap="none">
              <a:solidFill>
                <a:srgbClr val="0F0F0F"/>
              </a:solidFill>
              <a:latin typeface="Arial" panose="020B0704020202020204"/>
              <a:ea typeface="Arial" panose="020B0704020202020204"/>
              <a:cs typeface="Arial" panose="020B0704020202020204"/>
              <a:sym typeface="Arial" panose="020B0704020202020204"/>
            </a:endParaRPr>
          </a:p>
          <a:p>
            <a:pPr marL="0" marR="0" lvl="0" indent="0" algn="l" rtl="0">
              <a:spcBef>
                <a:spcPts val="0"/>
              </a:spcBef>
              <a:spcAft>
                <a:spcPts val="0"/>
              </a:spcAft>
              <a:buClr>
                <a:srgbClr val="0F0F0F"/>
              </a:buClr>
              <a:buSzPts val="1050"/>
              <a:buFont typeface="Arial" panose="020B0704020202020204"/>
              <a:buNone/>
            </a:pPr>
            <a:r>
              <a:rPr lang="en-GB" sz="1050" b="0" i="0" u="none" strike="noStrike" cap="none">
                <a:solidFill>
                  <a:srgbClr val="0F0F0F"/>
                </a:solidFill>
                <a:latin typeface="Arial" panose="020B0704020202020204"/>
                <a:ea typeface="Arial" panose="020B0704020202020204"/>
                <a:cs typeface="Arial" panose="020B0704020202020204"/>
                <a:sym typeface="Arial" panose="020B0704020202020204"/>
              </a:rPr>
              <a:t>Low creators rely on broad, undifferentiated signals — generic food aesthetic, cleaning routines, college tags.</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9F9F9"/>
        </a:solidFill>
        <a:effectLst/>
      </p:bgPr>
    </p:bg>
    <p:spTree>
      <p:nvGrpSpPr>
        <p:cNvPr id="320" name="Shape 320"/>
        <p:cNvGrpSpPr/>
        <p:nvPr/>
      </p:nvGrpSpPr>
      <p:grpSpPr>
        <a:xfrm>
          <a:off x="0" y="0"/>
          <a:ext cx="0" cy="0"/>
          <a:chOff x="0" y="0"/>
          <a:chExt cx="0" cy="0"/>
        </a:xfrm>
      </p:grpSpPr>
      <p:sp>
        <p:nvSpPr>
          <p:cNvPr id="321" name="Google Shape;321;p34"/>
          <p:cNvSpPr/>
          <p:nvPr/>
        </p:nvSpPr>
        <p:spPr>
          <a:xfrm>
            <a:off x="0" y="0"/>
            <a:ext cx="9144000" cy="5028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 name="Google Shape;322;p34"/>
          <p:cNvSpPr/>
          <p:nvPr/>
        </p:nvSpPr>
        <p:spPr>
          <a:xfrm>
            <a:off x="365760" y="73152"/>
            <a:ext cx="73152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Arial" panose="020B0704020202020204"/>
              <a:buNone/>
            </a:pPr>
            <a:r>
              <a:rPr lang="en-GB" sz="1800" b="1" i="0" u="none" strike="noStrike" cap="none">
                <a:solidFill>
                  <a:srgbClr val="FFFFFF"/>
                </a:solidFill>
                <a:latin typeface="Arial" panose="020B0704020202020204"/>
                <a:ea typeface="Arial" panose="020B0704020202020204"/>
                <a:cs typeface="Arial" panose="020B0704020202020204"/>
                <a:sym typeface="Arial" panose="020B0704020202020204"/>
              </a:rPr>
              <a:t>▶  Top Distinctive Keywords</a:t>
            </a:r>
            <a:endParaRPr sz="1800" b="0" i="0" u="none" strike="noStrike" cap="none">
              <a:solidFill>
                <a:schemeClr val="dk1"/>
              </a:solidFill>
              <a:latin typeface="Calibri"/>
              <a:ea typeface="Calibri"/>
              <a:cs typeface="Calibri"/>
              <a:sym typeface="Calibri"/>
            </a:endParaRPr>
          </a:p>
        </p:txBody>
      </p:sp>
      <p:sp>
        <p:nvSpPr>
          <p:cNvPr id="323" name="Google Shape;323;p34"/>
          <p:cNvSpPr/>
          <p:nvPr/>
        </p:nvSpPr>
        <p:spPr>
          <a:xfrm>
            <a:off x="365760" y="594360"/>
            <a:ext cx="8412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200"/>
              <a:buFont typeface="Arial" panose="020B0704020202020204"/>
              <a:buNone/>
            </a:pPr>
            <a:r>
              <a:rPr lang="en-GB" sz="1200" b="0" i="0" u="none" strike="noStrike" cap="none">
                <a:solidFill>
                  <a:srgbClr val="606060"/>
                </a:solidFill>
                <a:latin typeface="Arial" panose="020B0704020202020204"/>
                <a:ea typeface="Arial" panose="020B0704020202020204"/>
                <a:cs typeface="Arial" panose="020B0704020202020204"/>
                <a:sym typeface="Arial" panose="020B0704020202020204"/>
              </a:rPr>
              <a:t>Mean frequency per group after custom stopword removal — ranked by High − Low difference</a:t>
            </a:r>
            <a:endParaRPr sz="1200" b="0" i="0" u="none" strike="noStrike" cap="none">
              <a:solidFill>
                <a:schemeClr val="dk1"/>
              </a:solidFill>
              <a:latin typeface="Calibri"/>
              <a:ea typeface="Calibri"/>
              <a:cs typeface="Calibri"/>
              <a:sym typeface="Calibri"/>
            </a:endParaRPr>
          </a:p>
        </p:txBody>
      </p:sp>
      <p:sp>
        <p:nvSpPr>
          <p:cNvPr id="324" name="Google Shape;324;p34"/>
          <p:cNvSpPr/>
          <p:nvPr/>
        </p:nvSpPr>
        <p:spPr>
          <a:xfrm>
            <a:off x="365760" y="914400"/>
            <a:ext cx="4114800" cy="255900"/>
          </a:xfrm>
          <a:prstGeom prst="rect">
            <a:avLst/>
          </a:prstGeom>
          <a:solidFill>
            <a:srgbClr val="00A86B"/>
          </a:solidFill>
          <a:ln w="12700" cap="flat" cmpd="sng">
            <a:solidFill>
              <a:srgbClr val="00A8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 name="Google Shape;325;p34"/>
          <p:cNvSpPr/>
          <p:nvPr/>
        </p:nvSpPr>
        <p:spPr>
          <a:xfrm>
            <a:off x="438912" y="932688"/>
            <a:ext cx="39684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Arial" panose="020B0704020202020204"/>
              <a:buNone/>
            </a:pPr>
            <a:r>
              <a:rPr lang="en-GB" sz="1000" b="1" i="0" u="none" strike="noStrike" cap="none">
                <a:solidFill>
                  <a:srgbClr val="FFFFFF"/>
                </a:solidFill>
                <a:latin typeface="Arial" panose="020B0704020202020204"/>
                <a:ea typeface="Arial" panose="020B0704020202020204"/>
                <a:cs typeface="Arial" panose="020B0704020202020204"/>
                <a:sym typeface="Arial" panose="020B0704020202020204"/>
              </a:rPr>
              <a:t>More Common in HIGH Like-Rate</a:t>
            </a:r>
            <a:endParaRPr sz="1000" b="0" i="0" u="none" strike="noStrike" cap="none">
              <a:solidFill>
                <a:schemeClr val="dk1"/>
              </a:solidFill>
              <a:latin typeface="Calibri"/>
              <a:ea typeface="Calibri"/>
              <a:cs typeface="Calibri"/>
              <a:sym typeface="Calibri"/>
            </a:endParaRPr>
          </a:p>
        </p:txBody>
      </p:sp>
      <p:graphicFrame>
        <p:nvGraphicFramePr>
          <p:cNvPr id="326" name="Google Shape;326;p34"/>
          <p:cNvGraphicFramePr/>
          <p:nvPr/>
        </p:nvGraphicFramePr>
        <p:xfrm>
          <a:off x="365760" y="1170432"/>
          <a:ext cx="4114775" cy="3520550"/>
        </p:xfrm>
        <a:graphic>
          <a:graphicData uri="http://schemas.openxmlformats.org/drawingml/2006/table">
            <a:tbl>
              <a:tblPr>
                <a:noFill/>
                <a:tableStyleId>{44C7AD22-E1A8-4E6A-BEE9-2D009ED4B647}</a:tableStyleId>
              </a:tblPr>
              <a:tblGrid>
                <a:gridCol w="1600200"/>
                <a:gridCol w="822950"/>
                <a:gridCol w="822950"/>
                <a:gridCol w="868675"/>
              </a:tblGrid>
              <a:tr h="320050">
                <a:tc>
                  <a:txBody>
                    <a:bodyPr/>
                    <a:lstStyle/>
                    <a:p>
                      <a:pPr marL="0" marR="0" lvl="0" indent="0" algn="l" rtl="0">
                        <a:spcBef>
                          <a:spcPts val="0"/>
                        </a:spcBef>
                        <a:spcAft>
                          <a:spcPts val="0"/>
                        </a:spcAft>
                        <a:buClr>
                          <a:srgbClr val="FFFFFF"/>
                        </a:buClr>
                        <a:buSzPts val="1100"/>
                        <a:buFont typeface="Arial" panose="020B0704020202020204"/>
                        <a:buNone/>
                      </a:pPr>
                      <a:r>
                        <a:rPr lang="en-GB" sz="1100" b="1" u="none" strike="noStrike" cap="none">
                          <a:solidFill>
                            <a:srgbClr val="FFFFFF"/>
                          </a:solidFill>
                          <a:latin typeface="Arial" panose="020B0704020202020204"/>
                          <a:ea typeface="Arial" panose="020B0704020202020204"/>
                          <a:cs typeface="Arial" panose="020B0704020202020204"/>
                          <a:sym typeface="Arial" panose="020B0704020202020204"/>
                        </a:rPr>
                        <a:t>Keyword</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282828"/>
                    </a:solidFill>
                  </a:tcPr>
                </a:tc>
                <a:tc>
                  <a:txBody>
                    <a:bodyPr/>
                    <a:lstStyle/>
                    <a:p>
                      <a:pPr marL="0" marR="0" lvl="0" indent="0" algn="l" rtl="0">
                        <a:spcBef>
                          <a:spcPts val="0"/>
                        </a:spcBef>
                        <a:spcAft>
                          <a:spcPts val="0"/>
                        </a:spcAft>
                        <a:buClr>
                          <a:srgbClr val="FFFFFF"/>
                        </a:buClr>
                        <a:buSzPts val="1100"/>
                        <a:buFont typeface="Arial" panose="020B0704020202020204"/>
                        <a:buNone/>
                      </a:pPr>
                      <a:r>
                        <a:rPr lang="en-GB" sz="1100" b="1" u="none" strike="noStrike" cap="none">
                          <a:solidFill>
                            <a:srgbClr val="FFFFFF"/>
                          </a:solidFill>
                          <a:latin typeface="Arial" panose="020B0704020202020204"/>
                          <a:ea typeface="Arial" panose="020B0704020202020204"/>
                          <a:cs typeface="Arial" panose="020B0704020202020204"/>
                          <a:sym typeface="Arial" panose="020B0704020202020204"/>
                        </a:rPr>
                        <a:t>High</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282828"/>
                    </a:solidFill>
                  </a:tcPr>
                </a:tc>
                <a:tc>
                  <a:txBody>
                    <a:bodyPr/>
                    <a:lstStyle/>
                    <a:p>
                      <a:pPr marL="0" marR="0" lvl="0" indent="0" algn="l" rtl="0">
                        <a:spcBef>
                          <a:spcPts val="0"/>
                        </a:spcBef>
                        <a:spcAft>
                          <a:spcPts val="0"/>
                        </a:spcAft>
                        <a:buClr>
                          <a:srgbClr val="FFFFFF"/>
                        </a:buClr>
                        <a:buSzPts val="1100"/>
                        <a:buFont typeface="Arial" panose="020B0704020202020204"/>
                        <a:buNone/>
                      </a:pPr>
                      <a:r>
                        <a:rPr lang="en-GB" sz="1100" b="1" u="none" strike="noStrike" cap="none">
                          <a:solidFill>
                            <a:srgbClr val="FFFFFF"/>
                          </a:solidFill>
                          <a:latin typeface="Arial" panose="020B0704020202020204"/>
                          <a:ea typeface="Arial" panose="020B0704020202020204"/>
                          <a:cs typeface="Arial" panose="020B0704020202020204"/>
                          <a:sym typeface="Arial" panose="020B0704020202020204"/>
                        </a:rPr>
                        <a:t>Low</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282828"/>
                    </a:solidFill>
                  </a:tcPr>
                </a:tc>
                <a:tc>
                  <a:txBody>
                    <a:bodyPr/>
                    <a:lstStyle/>
                    <a:p>
                      <a:pPr marL="0" marR="0" lvl="0" indent="0" algn="l" rtl="0">
                        <a:spcBef>
                          <a:spcPts val="0"/>
                        </a:spcBef>
                        <a:spcAft>
                          <a:spcPts val="0"/>
                        </a:spcAft>
                        <a:buClr>
                          <a:srgbClr val="FFFFFF"/>
                        </a:buClr>
                        <a:buSzPts val="1100"/>
                        <a:buFont typeface="Arial" panose="020B0704020202020204"/>
                        <a:buNone/>
                      </a:pPr>
                      <a:r>
                        <a:rPr lang="en-GB" sz="1100" b="1" u="none" strike="noStrike" cap="none">
                          <a:solidFill>
                            <a:srgbClr val="FFFFFF"/>
                          </a:solidFill>
                          <a:latin typeface="Arial" panose="020B0704020202020204"/>
                          <a:ea typeface="Arial" panose="020B0704020202020204"/>
                          <a:cs typeface="Arial" panose="020B0704020202020204"/>
                          <a:sym typeface="Arial" panose="020B0704020202020204"/>
                        </a:rPr>
                        <a:t>Δ Diff</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282828"/>
                    </a:solidFill>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jee</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0.749</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0.092</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A86B"/>
                        </a:buClr>
                        <a:buSzPts val="1100"/>
                        <a:buFont typeface="Arial" panose="020B0704020202020204"/>
                        <a:buNone/>
                      </a:pPr>
                      <a:r>
                        <a:rPr lang="en-GB" sz="1100" b="1" u="none" strike="noStrike" cap="none">
                          <a:solidFill>
                            <a:srgbClr val="00A86B"/>
                          </a:solidFill>
                          <a:latin typeface="Arial" panose="020B0704020202020204"/>
                          <a:ea typeface="Arial" panose="020B0704020202020204"/>
                          <a:cs typeface="Arial" panose="020B0704020202020204"/>
                          <a:sym typeface="Arial" panose="020B0704020202020204"/>
                        </a:rPr>
                        <a:t>+0.657</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haridwar</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0.191</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0.000</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A86B"/>
                        </a:buClr>
                        <a:buSzPts val="1100"/>
                        <a:buFont typeface="Arial" panose="020B0704020202020204"/>
                        <a:buNone/>
                      </a:pPr>
                      <a:r>
                        <a:rPr lang="en-GB" sz="1100" b="1" u="none" strike="noStrike" cap="none">
                          <a:solidFill>
                            <a:srgbClr val="00A86B"/>
                          </a:solidFill>
                          <a:latin typeface="Arial" panose="020B0704020202020204"/>
                          <a:ea typeface="Arial" panose="020B0704020202020204"/>
                          <a:cs typeface="Arial" panose="020B0704020202020204"/>
                          <a:sym typeface="Arial" panose="020B0704020202020204"/>
                        </a:rPr>
                        <a:t>+0.191</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ideas</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0.215</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0.029</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A86B"/>
                        </a:buClr>
                        <a:buSzPts val="1100"/>
                        <a:buFont typeface="Arial" panose="020B0704020202020204"/>
                        <a:buNone/>
                      </a:pPr>
                      <a:r>
                        <a:rPr lang="en-GB" sz="1100" b="1" u="none" strike="noStrike" cap="none">
                          <a:solidFill>
                            <a:srgbClr val="00A86B"/>
                          </a:solidFill>
                          <a:latin typeface="Arial" panose="020B0704020202020204"/>
                          <a:ea typeface="Arial" panose="020B0704020202020204"/>
                          <a:cs typeface="Arial" panose="020B0704020202020204"/>
                          <a:sym typeface="Arial" panose="020B0704020202020204"/>
                        </a:rPr>
                        <a:t>+0.185</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shayari</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0.165</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0.000</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A86B"/>
                        </a:buClr>
                        <a:buSzPts val="1100"/>
                        <a:buFont typeface="Arial" panose="020B0704020202020204"/>
                        <a:buNone/>
                      </a:pPr>
                      <a:r>
                        <a:rPr lang="en-GB" sz="1100" b="1" u="none" strike="noStrike" cap="none">
                          <a:solidFill>
                            <a:srgbClr val="00A86B"/>
                          </a:solidFill>
                          <a:latin typeface="Arial" panose="020B0704020202020204"/>
                          <a:ea typeface="Arial" panose="020B0704020202020204"/>
                          <a:cs typeface="Arial" panose="020B0704020202020204"/>
                          <a:sym typeface="Arial" panose="020B0704020202020204"/>
                        </a:rPr>
                        <a:t>+0.165</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iit</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0.176</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0.011</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A86B"/>
                        </a:buClr>
                        <a:buSzPts val="1100"/>
                        <a:buFont typeface="Arial" panose="020B0704020202020204"/>
                        <a:buNone/>
                      </a:pPr>
                      <a:r>
                        <a:rPr lang="en-GB" sz="1100" b="1" u="none" strike="noStrike" cap="none">
                          <a:solidFill>
                            <a:srgbClr val="00A86B"/>
                          </a:solidFill>
                          <a:latin typeface="Arial" panose="020B0704020202020204"/>
                          <a:ea typeface="Arial" panose="020B0704020202020204"/>
                          <a:cs typeface="Arial" panose="020B0704020202020204"/>
                          <a:sym typeface="Arial" panose="020B0704020202020204"/>
                        </a:rPr>
                        <a:t>+0.165</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week</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0.213</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0.079</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A86B"/>
                        </a:buClr>
                        <a:buSzPts val="1100"/>
                        <a:buFont typeface="Arial" panose="020B0704020202020204"/>
                        <a:buNone/>
                      </a:pPr>
                      <a:r>
                        <a:rPr lang="en-GB" sz="1100" b="1" u="none" strike="noStrike" cap="none">
                          <a:solidFill>
                            <a:srgbClr val="00A86B"/>
                          </a:solidFill>
                          <a:latin typeface="Arial" panose="020B0704020202020204"/>
                          <a:ea typeface="Arial" panose="020B0704020202020204"/>
                          <a:cs typeface="Arial" panose="020B0704020202020204"/>
                          <a:sym typeface="Arial" panose="020B0704020202020204"/>
                        </a:rPr>
                        <a:t>+0.134</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assamese</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0.106</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0.002</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A86B"/>
                        </a:buClr>
                        <a:buSzPts val="1100"/>
                        <a:buFont typeface="Arial" panose="020B0704020202020204"/>
                        <a:buNone/>
                      </a:pPr>
                      <a:r>
                        <a:rPr lang="en-GB" sz="1100" b="1" u="none" strike="noStrike" cap="none">
                          <a:solidFill>
                            <a:srgbClr val="00A86B"/>
                          </a:solidFill>
                          <a:latin typeface="Arial" panose="020B0704020202020204"/>
                          <a:ea typeface="Arial" panose="020B0704020202020204"/>
                          <a:cs typeface="Arial" panose="020B0704020202020204"/>
                          <a:sym typeface="Arial" panose="020B0704020202020204"/>
                        </a:rPr>
                        <a:t>+0.105</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aspirant</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0.171</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0.083</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A86B"/>
                        </a:buClr>
                        <a:buSzPts val="1100"/>
                        <a:buFont typeface="Arial" panose="020B0704020202020204"/>
                        <a:buNone/>
                      </a:pPr>
                      <a:r>
                        <a:rPr lang="en-GB" sz="1100" b="1" u="none" strike="noStrike" cap="none">
                          <a:solidFill>
                            <a:srgbClr val="00A86B"/>
                          </a:solidFill>
                          <a:latin typeface="Arial" panose="020B0704020202020204"/>
                          <a:ea typeface="Arial" panose="020B0704020202020204"/>
                          <a:cs typeface="Arial" panose="020B0704020202020204"/>
                          <a:sym typeface="Arial" panose="020B0704020202020204"/>
                        </a:rPr>
                        <a:t>+0.088</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family</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0.090</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0.020</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A86B"/>
                        </a:buClr>
                        <a:buSzPts val="1100"/>
                        <a:buFont typeface="Arial" panose="020B0704020202020204"/>
                        <a:buNone/>
                      </a:pPr>
                      <a:r>
                        <a:rPr lang="en-GB" sz="1100" b="1" u="none" strike="noStrike" cap="none">
                          <a:solidFill>
                            <a:srgbClr val="00A86B"/>
                          </a:solidFill>
                          <a:latin typeface="Arial" panose="020B0704020202020204"/>
                          <a:ea typeface="Arial" panose="020B0704020202020204"/>
                          <a:cs typeface="Arial" panose="020B0704020202020204"/>
                          <a:sym typeface="Arial" panose="020B0704020202020204"/>
                        </a:rPr>
                        <a:t>+0.070</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love</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0.125</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0.072</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A86B"/>
                        </a:buClr>
                        <a:buSzPts val="1100"/>
                        <a:buFont typeface="Arial" panose="020B0704020202020204"/>
                        <a:buNone/>
                      </a:pPr>
                      <a:r>
                        <a:rPr lang="en-GB" sz="1100" b="1" u="none" strike="noStrike" cap="none">
                          <a:solidFill>
                            <a:srgbClr val="00A86B"/>
                          </a:solidFill>
                          <a:latin typeface="Arial" panose="020B0704020202020204"/>
                          <a:ea typeface="Arial" panose="020B0704020202020204"/>
                          <a:cs typeface="Arial" panose="020B0704020202020204"/>
                          <a:sym typeface="Arial" panose="020B0704020202020204"/>
                        </a:rPr>
                        <a:t>+0.053</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bl>
          </a:graphicData>
        </a:graphic>
      </p:graphicFrame>
      <p:sp>
        <p:nvSpPr>
          <p:cNvPr id="327" name="Google Shape;327;p34"/>
          <p:cNvSpPr/>
          <p:nvPr/>
        </p:nvSpPr>
        <p:spPr>
          <a:xfrm>
            <a:off x="4663440" y="914400"/>
            <a:ext cx="4114800" cy="2559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 name="Google Shape;328;p34"/>
          <p:cNvSpPr/>
          <p:nvPr/>
        </p:nvSpPr>
        <p:spPr>
          <a:xfrm>
            <a:off x="4736592" y="932688"/>
            <a:ext cx="39684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Arial" panose="020B0704020202020204"/>
              <a:buNone/>
            </a:pPr>
            <a:r>
              <a:rPr lang="en-GB" sz="1000" b="1" i="0" u="none" strike="noStrike" cap="none">
                <a:solidFill>
                  <a:srgbClr val="FFFFFF"/>
                </a:solidFill>
                <a:latin typeface="Arial" panose="020B0704020202020204"/>
                <a:ea typeface="Arial" panose="020B0704020202020204"/>
                <a:cs typeface="Arial" panose="020B0704020202020204"/>
                <a:sym typeface="Arial" panose="020B0704020202020204"/>
              </a:rPr>
              <a:t>More Common in LOW Like-Rate</a:t>
            </a:r>
            <a:endParaRPr sz="1000" b="0" i="0" u="none" strike="noStrike" cap="none">
              <a:solidFill>
                <a:schemeClr val="dk1"/>
              </a:solidFill>
              <a:latin typeface="Calibri"/>
              <a:ea typeface="Calibri"/>
              <a:cs typeface="Calibri"/>
              <a:sym typeface="Calibri"/>
            </a:endParaRPr>
          </a:p>
        </p:txBody>
      </p:sp>
      <p:graphicFrame>
        <p:nvGraphicFramePr>
          <p:cNvPr id="329" name="Google Shape;329;p34"/>
          <p:cNvGraphicFramePr/>
          <p:nvPr/>
        </p:nvGraphicFramePr>
        <p:xfrm>
          <a:off x="4663440" y="1170432"/>
          <a:ext cx="4114775" cy="3520550"/>
        </p:xfrm>
        <a:graphic>
          <a:graphicData uri="http://schemas.openxmlformats.org/drawingml/2006/table">
            <a:tbl>
              <a:tblPr>
                <a:noFill/>
                <a:tableStyleId>{44C7AD22-E1A8-4E6A-BEE9-2D009ED4B647}</a:tableStyleId>
              </a:tblPr>
              <a:tblGrid>
                <a:gridCol w="1600200"/>
                <a:gridCol w="822950"/>
                <a:gridCol w="822950"/>
                <a:gridCol w="868675"/>
              </a:tblGrid>
              <a:tr h="320050">
                <a:tc>
                  <a:txBody>
                    <a:bodyPr/>
                    <a:lstStyle/>
                    <a:p>
                      <a:pPr marL="0" marR="0" lvl="0" indent="0" algn="l" rtl="0">
                        <a:spcBef>
                          <a:spcPts val="0"/>
                        </a:spcBef>
                        <a:spcAft>
                          <a:spcPts val="0"/>
                        </a:spcAft>
                        <a:buClr>
                          <a:srgbClr val="FFFFFF"/>
                        </a:buClr>
                        <a:buSzPts val="1100"/>
                        <a:buFont typeface="Arial" panose="020B0704020202020204"/>
                        <a:buNone/>
                      </a:pPr>
                      <a:r>
                        <a:rPr lang="en-GB" sz="1100" b="1" u="none" strike="noStrike" cap="none">
                          <a:solidFill>
                            <a:srgbClr val="FFFFFF"/>
                          </a:solidFill>
                          <a:latin typeface="Arial" panose="020B0704020202020204"/>
                          <a:ea typeface="Arial" panose="020B0704020202020204"/>
                          <a:cs typeface="Arial" panose="020B0704020202020204"/>
                          <a:sym typeface="Arial" panose="020B0704020202020204"/>
                        </a:rPr>
                        <a:t>Keyword</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282828"/>
                    </a:solidFill>
                  </a:tcPr>
                </a:tc>
                <a:tc>
                  <a:txBody>
                    <a:bodyPr/>
                    <a:lstStyle/>
                    <a:p>
                      <a:pPr marL="0" marR="0" lvl="0" indent="0" algn="l" rtl="0">
                        <a:spcBef>
                          <a:spcPts val="0"/>
                        </a:spcBef>
                        <a:spcAft>
                          <a:spcPts val="0"/>
                        </a:spcAft>
                        <a:buClr>
                          <a:srgbClr val="FFFFFF"/>
                        </a:buClr>
                        <a:buSzPts val="1100"/>
                        <a:buFont typeface="Arial" panose="020B0704020202020204"/>
                        <a:buNone/>
                      </a:pPr>
                      <a:r>
                        <a:rPr lang="en-GB" sz="1100" b="1" u="none" strike="noStrike" cap="none">
                          <a:solidFill>
                            <a:srgbClr val="FFFFFF"/>
                          </a:solidFill>
                          <a:latin typeface="Arial" panose="020B0704020202020204"/>
                          <a:ea typeface="Arial" panose="020B0704020202020204"/>
                          <a:cs typeface="Arial" panose="020B0704020202020204"/>
                          <a:sym typeface="Arial" panose="020B0704020202020204"/>
                        </a:rPr>
                        <a:t>High</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282828"/>
                    </a:solidFill>
                  </a:tcPr>
                </a:tc>
                <a:tc>
                  <a:txBody>
                    <a:bodyPr/>
                    <a:lstStyle/>
                    <a:p>
                      <a:pPr marL="0" marR="0" lvl="0" indent="0" algn="l" rtl="0">
                        <a:spcBef>
                          <a:spcPts val="0"/>
                        </a:spcBef>
                        <a:spcAft>
                          <a:spcPts val="0"/>
                        </a:spcAft>
                        <a:buClr>
                          <a:srgbClr val="FFFFFF"/>
                        </a:buClr>
                        <a:buSzPts val="1100"/>
                        <a:buFont typeface="Arial" panose="020B0704020202020204"/>
                        <a:buNone/>
                      </a:pPr>
                      <a:r>
                        <a:rPr lang="en-GB" sz="1100" b="1" u="none" strike="noStrike" cap="none">
                          <a:solidFill>
                            <a:srgbClr val="FFFFFF"/>
                          </a:solidFill>
                          <a:latin typeface="Arial" panose="020B0704020202020204"/>
                          <a:ea typeface="Arial" panose="020B0704020202020204"/>
                          <a:cs typeface="Arial" panose="020B0704020202020204"/>
                          <a:sym typeface="Arial" panose="020B0704020202020204"/>
                        </a:rPr>
                        <a:t>Low</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282828"/>
                    </a:solidFill>
                  </a:tcPr>
                </a:tc>
                <a:tc>
                  <a:txBody>
                    <a:bodyPr/>
                    <a:lstStyle/>
                    <a:p>
                      <a:pPr marL="0" marR="0" lvl="0" indent="0" algn="l" rtl="0">
                        <a:spcBef>
                          <a:spcPts val="0"/>
                        </a:spcBef>
                        <a:spcAft>
                          <a:spcPts val="0"/>
                        </a:spcAft>
                        <a:buClr>
                          <a:srgbClr val="FFFFFF"/>
                        </a:buClr>
                        <a:buSzPts val="1100"/>
                        <a:buFont typeface="Arial" panose="020B0704020202020204"/>
                        <a:buNone/>
                      </a:pPr>
                      <a:r>
                        <a:rPr lang="en-GB" sz="1100" b="1" u="none" strike="noStrike" cap="none">
                          <a:solidFill>
                            <a:srgbClr val="FFFFFF"/>
                          </a:solidFill>
                          <a:latin typeface="Arial" panose="020B0704020202020204"/>
                          <a:ea typeface="Arial" panose="020B0704020202020204"/>
                          <a:cs typeface="Arial" panose="020B0704020202020204"/>
                          <a:sym typeface="Arial" panose="020B0704020202020204"/>
                        </a:rPr>
                        <a:t>Δ Diff</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282828"/>
                    </a:solidFill>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food</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0.136</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0.299</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FF0000"/>
                        </a:buClr>
                        <a:buSzPts val="1100"/>
                        <a:buFont typeface="Arial" panose="020B0704020202020204"/>
                        <a:buNone/>
                      </a:pPr>
                      <a:r>
                        <a:rPr lang="en-GB" sz="1100" b="1" u="none" strike="noStrike" cap="none">
                          <a:solidFill>
                            <a:srgbClr val="BB2217"/>
                          </a:solidFill>
                          <a:latin typeface="Arial" panose="020B0704020202020204"/>
                          <a:ea typeface="Arial" panose="020B0704020202020204"/>
                          <a:cs typeface="Arial" panose="020B0704020202020204"/>
                          <a:sym typeface="Arial" panose="020B0704020202020204"/>
                        </a:rPr>
                        <a:t>−0.163</a:t>
                      </a:r>
                      <a:endParaRPr sz="1100" u="none" strike="noStrike" cap="none">
                        <a:solidFill>
                          <a:srgbClr val="BB2217"/>
                        </a:solidFill>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ssc</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0.007</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0.169</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FF0000"/>
                        </a:buClr>
                        <a:buSzPts val="1100"/>
                        <a:buFont typeface="Arial" panose="020B0704020202020204"/>
                        <a:buNone/>
                      </a:pPr>
                      <a:r>
                        <a:rPr lang="en-GB" sz="1100" b="1" u="none" strike="noStrike" cap="none">
                          <a:solidFill>
                            <a:srgbClr val="BB2217"/>
                          </a:solidFill>
                          <a:latin typeface="Arial" panose="020B0704020202020204"/>
                          <a:ea typeface="Arial" panose="020B0704020202020204"/>
                          <a:cs typeface="Arial" panose="020B0704020202020204"/>
                          <a:sym typeface="Arial" panose="020B0704020202020204"/>
                        </a:rPr>
                        <a:t>−0.161</a:t>
                      </a:r>
                      <a:endParaRPr sz="1100" u="none" strike="noStrike" cap="none">
                        <a:solidFill>
                          <a:srgbClr val="BB2217"/>
                        </a:solidFill>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india</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0.114</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0.275</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FF0000"/>
                        </a:buClr>
                        <a:buSzPts val="1100"/>
                        <a:buFont typeface="Arial" panose="020B0704020202020204"/>
                        <a:buNone/>
                      </a:pPr>
                      <a:r>
                        <a:rPr lang="en-GB" sz="1100" b="1" u="none" strike="noStrike" cap="none">
                          <a:solidFill>
                            <a:srgbClr val="BB2217"/>
                          </a:solidFill>
                          <a:latin typeface="Arial" panose="020B0704020202020204"/>
                          <a:ea typeface="Arial" panose="020B0704020202020204"/>
                          <a:cs typeface="Arial" panose="020B0704020202020204"/>
                          <a:sym typeface="Arial" panose="020B0704020202020204"/>
                        </a:rPr>
                        <a:t>−0.161</a:t>
                      </a:r>
                      <a:endParaRPr sz="1100" u="none" strike="noStrike" cap="none">
                        <a:solidFill>
                          <a:srgbClr val="BB2217"/>
                        </a:solidFill>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class</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0.171</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0.306</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FF0000"/>
                        </a:buClr>
                        <a:buSzPts val="1100"/>
                        <a:buFont typeface="Arial" panose="020B0704020202020204"/>
                        <a:buNone/>
                      </a:pPr>
                      <a:r>
                        <a:rPr lang="en-GB" sz="1100" b="1" u="none" strike="noStrike" cap="none">
                          <a:solidFill>
                            <a:srgbClr val="BB2217"/>
                          </a:solidFill>
                          <a:latin typeface="Arial" panose="020B0704020202020204"/>
                          <a:ea typeface="Arial" panose="020B0704020202020204"/>
                          <a:cs typeface="Arial" panose="020B0704020202020204"/>
                          <a:sym typeface="Arial" panose="020B0704020202020204"/>
                        </a:rPr>
                        <a:t>−0.136</a:t>
                      </a:r>
                      <a:endParaRPr sz="1100" u="none" strike="noStrike" cap="none">
                        <a:solidFill>
                          <a:srgbClr val="BB2217"/>
                        </a:solidFill>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upsc</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0.004</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0.136</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FF0000"/>
                        </a:buClr>
                        <a:buSzPts val="1100"/>
                        <a:buFont typeface="Arial" panose="020B0704020202020204"/>
                        <a:buNone/>
                      </a:pPr>
                      <a:r>
                        <a:rPr lang="en-GB" sz="1100" b="1" u="none" strike="noStrike" cap="none">
                          <a:solidFill>
                            <a:srgbClr val="BB2217"/>
                          </a:solidFill>
                          <a:latin typeface="Arial" panose="020B0704020202020204"/>
                          <a:ea typeface="Arial" panose="020B0704020202020204"/>
                          <a:cs typeface="Arial" panose="020B0704020202020204"/>
                          <a:sym typeface="Arial" panose="020B0704020202020204"/>
                        </a:rPr>
                        <a:t>−0.132</a:t>
                      </a:r>
                      <a:endParaRPr sz="1100" u="none" strike="noStrike" cap="none">
                        <a:solidFill>
                          <a:srgbClr val="BB2217"/>
                        </a:solidFill>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eat</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0.081</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0.207</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FF0000"/>
                        </a:buClr>
                        <a:buSzPts val="1100"/>
                        <a:buFont typeface="Arial" panose="020B0704020202020204"/>
                        <a:buNone/>
                      </a:pPr>
                      <a:r>
                        <a:rPr lang="en-GB" sz="1100" b="1" u="none" strike="noStrike" cap="none">
                          <a:solidFill>
                            <a:srgbClr val="BB2217"/>
                          </a:solidFill>
                          <a:latin typeface="Arial" panose="020B0704020202020204"/>
                          <a:ea typeface="Arial" panose="020B0704020202020204"/>
                          <a:cs typeface="Arial" panose="020B0704020202020204"/>
                          <a:sym typeface="Arial" panose="020B0704020202020204"/>
                        </a:rPr>
                        <a:t>−0.127</a:t>
                      </a:r>
                      <a:endParaRPr sz="1100" u="none" strike="noStrike" cap="none">
                        <a:solidFill>
                          <a:srgbClr val="BB2217"/>
                        </a:solidFill>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aesthetic</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0.196</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0.321</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FF0000"/>
                        </a:buClr>
                        <a:buSzPts val="1100"/>
                        <a:buFont typeface="Arial" panose="020B0704020202020204"/>
                        <a:buNone/>
                      </a:pPr>
                      <a:r>
                        <a:rPr lang="en-GB" sz="1100" b="1" u="none" strike="noStrike" cap="none">
                          <a:solidFill>
                            <a:srgbClr val="BB2217"/>
                          </a:solidFill>
                          <a:latin typeface="Arial" panose="020B0704020202020204"/>
                          <a:ea typeface="Arial" panose="020B0704020202020204"/>
                          <a:cs typeface="Arial" panose="020B0704020202020204"/>
                          <a:sym typeface="Arial" panose="020B0704020202020204"/>
                        </a:rPr>
                        <a:t>−0.125</a:t>
                      </a:r>
                      <a:endParaRPr sz="1100" u="none" strike="noStrike" cap="none">
                        <a:solidFill>
                          <a:srgbClr val="BB2217"/>
                        </a:solidFill>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indian</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0.048</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0.147</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FF0000"/>
                        </a:buClr>
                        <a:buSzPts val="1100"/>
                        <a:buFont typeface="Arial" panose="020B0704020202020204"/>
                        <a:buNone/>
                      </a:pPr>
                      <a:r>
                        <a:rPr lang="en-GB" sz="1100" b="1" u="none" strike="noStrike" cap="none">
                          <a:solidFill>
                            <a:srgbClr val="BB2217"/>
                          </a:solidFill>
                          <a:latin typeface="Arial" panose="020B0704020202020204"/>
                          <a:ea typeface="Arial" panose="020B0704020202020204"/>
                          <a:cs typeface="Arial" panose="020B0704020202020204"/>
                          <a:sym typeface="Arial" panose="020B0704020202020204"/>
                        </a:rPr>
                        <a:t>−0.099</a:t>
                      </a:r>
                      <a:endParaRPr sz="1100" u="none" strike="noStrike" cap="none">
                        <a:solidFill>
                          <a:srgbClr val="BB2217"/>
                        </a:solidFill>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cleaning</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0.004</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0.081</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FF0000"/>
                        </a:buClr>
                        <a:buSzPts val="1100"/>
                        <a:buFont typeface="Arial" panose="020B0704020202020204"/>
                        <a:buNone/>
                      </a:pPr>
                      <a:r>
                        <a:rPr lang="en-GB" sz="1100" b="1" u="none" strike="noStrike" cap="none">
                          <a:solidFill>
                            <a:srgbClr val="BB2217"/>
                          </a:solidFill>
                          <a:latin typeface="Arial" panose="020B0704020202020204"/>
                          <a:ea typeface="Arial" panose="020B0704020202020204"/>
                          <a:cs typeface="Arial" panose="020B0704020202020204"/>
                          <a:sym typeface="Arial" panose="020B0704020202020204"/>
                        </a:rPr>
                        <a:t>−0.077</a:t>
                      </a:r>
                      <a:endParaRPr sz="1100" u="none" strike="noStrike" cap="none">
                        <a:solidFill>
                          <a:srgbClr val="BB2217"/>
                        </a:solidFill>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320050">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editing</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0.020</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Arial" panose="020B0704020202020204"/>
                        <a:buNone/>
                      </a:pPr>
                      <a:r>
                        <a:rPr lang="en-GB" sz="1100" u="none" strike="noStrike" cap="none">
                          <a:solidFill>
                            <a:srgbClr val="000000"/>
                          </a:solidFill>
                          <a:latin typeface="Arial" panose="020B0704020202020204"/>
                          <a:ea typeface="Arial" panose="020B0704020202020204"/>
                          <a:cs typeface="Arial" panose="020B0704020202020204"/>
                          <a:sym typeface="Arial" panose="020B0704020202020204"/>
                        </a:rPr>
                        <a:t>0.088</a:t>
                      </a:r>
                      <a:endParaRPr sz="11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FF0000"/>
                        </a:buClr>
                        <a:buSzPts val="1100"/>
                        <a:buFont typeface="Arial" panose="020B0704020202020204"/>
                        <a:buNone/>
                      </a:pPr>
                      <a:r>
                        <a:rPr lang="en-GB" sz="1100" b="1" u="none" strike="noStrike" cap="none">
                          <a:solidFill>
                            <a:srgbClr val="BB2217"/>
                          </a:solidFill>
                          <a:latin typeface="Arial" panose="020B0704020202020204"/>
                          <a:ea typeface="Arial" panose="020B0704020202020204"/>
                          <a:cs typeface="Arial" panose="020B0704020202020204"/>
                          <a:sym typeface="Arial" panose="020B0704020202020204"/>
                        </a:rPr>
                        <a:t>−0.068</a:t>
                      </a:r>
                      <a:endParaRPr sz="1100" u="none" strike="noStrike" cap="none">
                        <a:solidFill>
                          <a:srgbClr val="BB2217"/>
                        </a:solidFill>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bl>
          </a:graphicData>
        </a:graphic>
      </p:graphicFrame>
      <p:sp>
        <p:nvSpPr>
          <p:cNvPr id="330" name="Google Shape;330;p34"/>
          <p:cNvSpPr/>
          <p:nvPr/>
        </p:nvSpPr>
        <p:spPr>
          <a:xfrm>
            <a:off x="365760" y="4754880"/>
            <a:ext cx="8412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000"/>
              <a:buFont typeface="Arial" panose="020B0704020202020204"/>
              <a:buNone/>
            </a:pPr>
            <a:r>
              <a:rPr lang="en-GB" sz="1000" b="0" i="1" u="none" strike="noStrike" cap="none">
                <a:solidFill>
                  <a:srgbClr val="606060"/>
                </a:solidFill>
                <a:latin typeface="Arial" panose="020B0704020202020204"/>
                <a:ea typeface="Arial" panose="020B0704020202020204"/>
                <a:cs typeface="Arial" panose="020B0704020202020204"/>
                <a:sym typeface="Arial" panose="020B0704020202020204"/>
              </a:rPr>
              <a:t>Both groups show exam content — but High focuses on JEE/IIT aspirants while Low skews toward SSC/UPSC. Different niches, very different engagement outcomes.</a:t>
            </a:r>
            <a:endParaRPr sz="1000" b="0" i="0" u="none" strike="noStrike" cap="none">
              <a:solidFill>
                <a:schemeClr val="dk1"/>
              </a:solidFill>
              <a:latin typeface="Calibri"/>
              <a:ea typeface="Calibri"/>
              <a:cs typeface="Calibri"/>
              <a:sym typeface="Calibri"/>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335" name="Shape 335"/>
        <p:cNvGrpSpPr/>
        <p:nvPr/>
      </p:nvGrpSpPr>
      <p:grpSpPr>
        <a:xfrm>
          <a:off x="0" y="0"/>
          <a:ext cx="0" cy="0"/>
          <a:chOff x="0" y="0"/>
          <a:chExt cx="0" cy="0"/>
        </a:xfrm>
      </p:grpSpPr>
      <p:sp>
        <p:nvSpPr>
          <p:cNvPr id="336" name="Google Shape;336;p35"/>
          <p:cNvSpPr/>
          <p:nvPr/>
        </p:nvSpPr>
        <p:spPr>
          <a:xfrm>
            <a:off x="0" y="0"/>
            <a:ext cx="9144000" cy="5028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 name="Google Shape;337;p35"/>
          <p:cNvSpPr/>
          <p:nvPr/>
        </p:nvSpPr>
        <p:spPr>
          <a:xfrm>
            <a:off x="365760" y="73152"/>
            <a:ext cx="73152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Arial" panose="020B0704020202020204"/>
              <a:buNone/>
            </a:pPr>
            <a:r>
              <a:rPr lang="en-GB" sz="1800" b="1" i="0" u="none" strike="noStrike" cap="none">
                <a:solidFill>
                  <a:srgbClr val="FFFFFF"/>
                </a:solidFill>
                <a:latin typeface="Arial" panose="020B0704020202020204"/>
                <a:ea typeface="Arial" panose="020B0704020202020204"/>
                <a:cs typeface="Arial" panose="020B0704020202020204"/>
                <a:sym typeface="Arial" panose="020B0704020202020204"/>
              </a:rPr>
              <a:t>▶  LDA Topic Modeling</a:t>
            </a:r>
            <a:endParaRPr sz="1800" b="0" i="0" u="none" strike="noStrike" cap="none">
              <a:solidFill>
                <a:schemeClr val="dk1"/>
              </a:solidFill>
              <a:latin typeface="Calibri"/>
              <a:ea typeface="Calibri"/>
              <a:cs typeface="Calibri"/>
              <a:sym typeface="Calibri"/>
            </a:endParaRPr>
          </a:p>
        </p:txBody>
      </p:sp>
      <p:sp>
        <p:nvSpPr>
          <p:cNvPr id="338" name="Google Shape;338;p35"/>
          <p:cNvSpPr/>
          <p:nvPr/>
        </p:nvSpPr>
        <p:spPr>
          <a:xfrm>
            <a:off x="365760" y="594360"/>
            <a:ext cx="8412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200"/>
              <a:buFont typeface="Arial" panose="020B0704020202020204"/>
              <a:buNone/>
            </a:pPr>
            <a:r>
              <a:rPr lang="en-GB" sz="1200" b="0" i="0" u="none" strike="noStrike" cap="none">
                <a:solidFill>
                  <a:srgbClr val="606060"/>
                </a:solidFill>
                <a:latin typeface="Arial" panose="020B0704020202020204"/>
                <a:ea typeface="Arial" panose="020B0704020202020204"/>
                <a:cs typeface="Arial" panose="020B0704020202020204"/>
                <a:sym typeface="Arial" panose="020B0704020202020204"/>
              </a:rPr>
              <a:t>Low group Topic 1 claims 39% of all videos — 46% more concentrated than High group's maximum topic</a:t>
            </a:r>
            <a:endParaRPr sz="1200" b="0" i="0" u="none" strike="noStrike" cap="none">
              <a:solidFill>
                <a:schemeClr val="dk1"/>
              </a:solidFill>
              <a:latin typeface="Calibri"/>
              <a:ea typeface="Calibri"/>
              <a:cs typeface="Calibri"/>
              <a:sym typeface="Calibri"/>
            </a:endParaRPr>
          </a:p>
        </p:txBody>
      </p:sp>
      <p:sp>
        <p:nvSpPr>
          <p:cNvPr id="339" name="Google Shape;339;p35"/>
          <p:cNvSpPr/>
          <p:nvPr/>
        </p:nvSpPr>
        <p:spPr>
          <a:xfrm>
            <a:off x="365760" y="914400"/>
            <a:ext cx="4114800" cy="255900"/>
          </a:xfrm>
          <a:prstGeom prst="rect">
            <a:avLst/>
          </a:prstGeom>
          <a:solidFill>
            <a:srgbClr val="00A86B"/>
          </a:solidFill>
          <a:ln w="12700" cap="flat" cmpd="sng">
            <a:solidFill>
              <a:srgbClr val="00A8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 name="Google Shape;340;p35"/>
          <p:cNvSpPr/>
          <p:nvPr/>
        </p:nvSpPr>
        <p:spPr>
          <a:xfrm>
            <a:off x="438912" y="932688"/>
            <a:ext cx="39684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Arial" panose="020B0704020202020204"/>
              <a:buNone/>
            </a:pPr>
            <a:r>
              <a:rPr lang="en-GB" sz="1000" b="1" i="0" u="none" strike="noStrike" cap="none">
                <a:solidFill>
                  <a:srgbClr val="FFFFFF"/>
                </a:solidFill>
                <a:latin typeface="Arial" panose="020B0704020202020204"/>
                <a:ea typeface="Arial" panose="020B0704020202020204"/>
                <a:cs typeface="Arial" panose="020B0704020202020204"/>
                <a:sym typeface="Arial" panose="020B0704020202020204"/>
              </a:rPr>
              <a:t>HIGH — Balanced (22–27% each)</a:t>
            </a:r>
            <a:endParaRPr sz="1000" b="0" i="0" u="none" strike="noStrike" cap="none">
              <a:solidFill>
                <a:schemeClr val="dk1"/>
              </a:solidFill>
              <a:latin typeface="Calibri"/>
              <a:ea typeface="Calibri"/>
              <a:cs typeface="Calibri"/>
              <a:sym typeface="Calibri"/>
            </a:endParaRPr>
          </a:p>
        </p:txBody>
      </p:sp>
      <p:pic>
        <p:nvPicPr>
          <p:cNvPr id="341" name="Google Shape;341;p35" descr="/home/claude/nlp_outputs_revised/lda_distribution_high.png"/>
          <p:cNvPicPr preferRelativeResize="0"/>
          <p:nvPr/>
        </p:nvPicPr>
        <p:blipFill rotWithShape="1">
          <a:blip r:embed="rId1"/>
          <a:srcRect/>
          <a:stretch>
            <a:fillRect/>
          </a:stretch>
        </p:blipFill>
        <p:spPr>
          <a:xfrm>
            <a:off x="365760" y="1170432"/>
            <a:ext cx="4114800" cy="2103120"/>
          </a:xfrm>
          <a:prstGeom prst="rect">
            <a:avLst/>
          </a:prstGeom>
          <a:noFill/>
          <a:ln>
            <a:noFill/>
          </a:ln>
        </p:spPr>
      </p:pic>
      <p:sp>
        <p:nvSpPr>
          <p:cNvPr id="342" name="Google Shape;342;p35"/>
          <p:cNvSpPr/>
          <p:nvPr/>
        </p:nvSpPr>
        <p:spPr>
          <a:xfrm>
            <a:off x="4663440" y="914400"/>
            <a:ext cx="4114800" cy="2559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 name="Google Shape;343;p35"/>
          <p:cNvSpPr/>
          <p:nvPr/>
        </p:nvSpPr>
        <p:spPr>
          <a:xfrm>
            <a:off x="4736592" y="932688"/>
            <a:ext cx="39684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Arial" panose="020B0704020202020204"/>
              <a:buNone/>
            </a:pPr>
            <a:r>
              <a:rPr lang="en-GB" sz="1000" b="1" i="0" u="none" strike="noStrike" cap="none">
                <a:solidFill>
                  <a:srgbClr val="FFFFFF"/>
                </a:solidFill>
                <a:latin typeface="Arial" panose="020B0704020202020204"/>
                <a:ea typeface="Arial" panose="020B0704020202020204"/>
                <a:cs typeface="Arial" panose="020B0704020202020204"/>
                <a:sym typeface="Arial" panose="020B0704020202020204"/>
              </a:rPr>
              <a:t>LOW — Topic 1 dominates (39%) ⚠</a:t>
            </a:r>
            <a:endParaRPr sz="1000" b="0" i="0" u="none" strike="noStrike" cap="none">
              <a:solidFill>
                <a:schemeClr val="dk1"/>
              </a:solidFill>
              <a:latin typeface="Calibri"/>
              <a:ea typeface="Calibri"/>
              <a:cs typeface="Calibri"/>
              <a:sym typeface="Calibri"/>
            </a:endParaRPr>
          </a:p>
        </p:txBody>
      </p:sp>
      <p:pic>
        <p:nvPicPr>
          <p:cNvPr id="344" name="Google Shape;344;p35" descr="/home/claude/nlp_outputs_revised/lda_distribution_low.png"/>
          <p:cNvPicPr preferRelativeResize="0"/>
          <p:nvPr/>
        </p:nvPicPr>
        <p:blipFill rotWithShape="1">
          <a:blip r:embed="rId2"/>
          <a:srcRect/>
          <a:stretch>
            <a:fillRect/>
          </a:stretch>
        </p:blipFill>
        <p:spPr>
          <a:xfrm>
            <a:off x="4663440" y="1170432"/>
            <a:ext cx="4114800" cy="2103120"/>
          </a:xfrm>
          <a:prstGeom prst="rect">
            <a:avLst/>
          </a:prstGeom>
          <a:noFill/>
          <a:ln>
            <a:noFill/>
          </a:ln>
        </p:spPr>
      </p:pic>
      <p:graphicFrame>
        <p:nvGraphicFramePr>
          <p:cNvPr id="345" name="Google Shape;345;p35"/>
          <p:cNvGraphicFramePr/>
          <p:nvPr/>
        </p:nvGraphicFramePr>
        <p:xfrm>
          <a:off x="365760" y="3310128"/>
          <a:ext cx="7040875" cy="3000000"/>
        </p:xfrm>
        <a:graphic>
          <a:graphicData uri="http://schemas.openxmlformats.org/drawingml/2006/table">
            <a:tbl>
              <a:tblPr>
                <a:noFill/>
                <a:tableStyleId>{44C7AD22-E1A8-4E6A-BEE9-2D009ED4B647}</a:tableStyleId>
              </a:tblPr>
              <a:tblGrid>
                <a:gridCol w="411475"/>
                <a:gridCol w="2633475"/>
                <a:gridCol w="667500"/>
                <a:gridCol w="2633475"/>
                <a:gridCol w="694950"/>
              </a:tblGrid>
              <a:tr h="201175">
                <a:tc>
                  <a:txBody>
                    <a:bodyPr/>
                    <a:lstStyle/>
                    <a:p>
                      <a:pPr marL="0" marR="0" lvl="0" indent="0" algn="l" rtl="0">
                        <a:spcBef>
                          <a:spcPts val="0"/>
                        </a:spcBef>
                        <a:spcAft>
                          <a:spcPts val="0"/>
                        </a:spcAft>
                        <a:buClr>
                          <a:srgbClr val="FFFFFF"/>
                        </a:buClr>
                        <a:buSzPts val="1000"/>
                        <a:buFont typeface="Arial" panose="020B0704020202020204"/>
                        <a:buNone/>
                      </a:pPr>
                      <a:r>
                        <a:rPr lang="en-GB" sz="1000" b="1" u="none" strike="noStrike" cap="none">
                          <a:solidFill>
                            <a:srgbClr val="FFFFFF"/>
                          </a:solidFill>
                          <a:latin typeface="Arial" panose="020B0704020202020204"/>
                          <a:ea typeface="Arial" panose="020B0704020202020204"/>
                          <a:cs typeface="Arial" panose="020B0704020202020204"/>
                          <a:sym typeface="Arial" panose="020B0704020202020204"/>
                        </a:rPr>
                        <a:t>#</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282828"/>
                    </a:solidFill>
                  </a:tcPr>
                </a:tc>
                <a:tc>
                  <a:txBody>
                    <a:bodyPr/>
                    <a:lstStyle/>
                    <a:p>
                      <a:pPr marL="0" marR="0" lvl="0" indent="0" algn="l" rtl="0">
                        <a:spcBef>
                          <a:spcPts val="0"/>
                        </a:spcBef>
                        <a:spcAft>
                          <a:spcPts val="0"/>
                        </a:spcAft>
                        <a:buClr>
                          <a:srgbClr val="FFFFFF"/>
                        </a:buClr>
                        <a:buSzPts val="1000"/>
                        <a:buFont typeface="Arial" panose="020B0704020202020204"/>
                        <a:buNone/>
                      </a:pPr>
                      <a:r>
                        <a:rPr lang="en-GB" sz="1000" b="1" u="none" strike="noStrike" cap="none">
                          <a:solidFill>
                            <a:srgbClr val="FFFFFF"/>
                          </a:solidFill>
                          <a:latin typeface="Arial" panose="020B0704020202020204"/>
                          <a:ea typeface="Arial" panose="020B0704020202020204"/>
                          <a:cs typeface="Arial" panose="020B0704020202020204"/>
                          <a:sym typeface="Arial" panose="020B0704020202020204"/>
                        </a:rPr>
                        <a:t>HIGH Group Theme</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00A86B"/>
                    </a:solidFill>
                  </a:tcPr>
                </a:tc>
                <a:tc>
                  <a:txBody>
                    <a:bodyPr/>
                    <a:lstStyle/>
                    <a:p>
                      <a:pPr marL="0" marR="0" lvl="0" indent="0" algn="l" rtl="0">
                        <a:spcBef>
                          <a:spcPts val="0"/>
                        </a:spcBef>
                        <a:spcAft>
                          <a:spcPts val="0"/>
                        </a:spcAft>
                        <a:buClr>
                          <a:srgbClr val="FFFFFF"/>
                        </a:buClr>
                        <a:buSzPts val="1000"/>
                        <a:buFont typeface="Arial" panose="020B0704020202020204"/>
                        <a:buNone/>
                      </a:pPr>
                      <a:r>
                        <a:rPr lang="en-GB" sz="1000" b="1" u="none" strike="noStrike" cap="none">
                          <a:solidFill>
                            <a:srgbClr val="FFFFFF"/>
                          </a:solidFill>
                          <a:latin typeface="Arial" panose="020B0704020202020204"/>
                          <a:ea typeface="Arial" panose="020B0704020202020204"/>
                          <a:cs typeface="Arial" panose="020B0704020202020204"/>
                          <a:sym typeface="Arial" panose="020B0704020202020204"/>
                        </a:rPr>
                        <a:t>Share</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00A86B"/>
                    </a:solidFill>
                  </a:tcPr>
                </a:tc>
                <a:tc>
                  <a:txBody>
                    <a:bodyPr/>
                    <a:lstStyle/>
                    <a:p>
                      <a:pPr marL="0" marR="0" lvl="0" indent="0" algn="l" rtl="0">
                        <a:spcBef>
                          <a:spcPts val="0"/>
                        </a:spcBef>
                        <a:spcAft>
                          <a:spcPts val="0"/>
                        </a:spcAft>
                        <a:buClr>
                          <a:srgbClr val="FFFFFF"/>
                        </a:buClr>
                        <a:buSzPts val="1000"/>
                        <a:buFont typeface="Arial" panose="020B0704020202020204"/>
                        <a:buNone/>
                      </a:pPr>
                      <a:r>
                        <a:rPr lang="en-GB" sz="1000" b="1" u="none" strike="noStrike" cap="none">
                          <a:solidFill>
                            <a:srgbClr val="FFFFFF"/>
                          </a:solidFill>
                          <a:latin typeface="Arial" panose="020B0704020202020204"/>
                          <a:ea typeface="Arial" panose="020B0704020202020204"/>
                          <a:cs typeface="Arial" panose="020B0704020202020204"/>
                          <a:sym typeface="Arial" panose="020B0704020202020204"/>
                        </a:rPr>
                        <a:t>LOW Group Theme</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BB2217"/>
                    </a:solidFill>
                  </a:tcPr>
                </a:tc>
                <a:tc>
                  <a:txBody>
                    <a:bodyPr/>
                    <a:lstStyle/>
                    <a:p>
                      <a:pPr marL="0" marR="0" lvl="0" indent="0" algn="l" rtl="0">
                        <a:spcBef>
                          <a:spcPts val="0"/>
                        </a:spcBef>
                        <a:spcAft>
                          <a:spcPts val="0"/>
                        </a:spcAft>
                        <a:buClr>
                          <a:srgbClr val="FFFFFF"/>
                        </a:buClr>
                        <a:buSzPts val="1000"/>
                        <a:buFont typeface="Arial" panose="020B0704020202020204"/>
                        <a:buNone/>
                      </a:pPr>
                      <a:r>
                        <a:rPr lang="en-GB" sz="1000" b="1" u="none" strike="noStrike" cap="none">
                          <a:solidFill>
                            <a:srgbClr val="FFFFFF"/>
                          </a:solidFill>
                          <a:latin typeface="Arial" panose="020B0704020202020204"/>
                          <a:ea typeface="Arial" panose="020B0704020202020204"/>
                          <a:cs typeface="Arial" panose="020B0704020202020204"/>
                          <a:sym typeface="Arial" panose="020B0704020202020204"/>
                        </a:rPr>
                        <a:t>Share</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solidFill>
                      <a:srgbClr val="BB2217"/>
                    </a:solidFill>
                  </a:tcPr>
                </a:tc>
              </a:tr>
              <a:tr h="201175">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T1</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Ideas, Hindi culture &amp; personal expression</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22.9%</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Daily routines &amp; lifestyle aesthetics</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FF0000"/>
                        </a:buClr>
                        <a:buSzPts val="1000"/>
                        <a:buFont typeface="Arial" panose="020B0704020202020204"/>
                        <a:buNone/>
                      </a:pPr>
                      <a:r>
                        <a:rPr lang="en-GB" sz="1000" b="1" u="none" strike="noStrike" cap="none">
                          <a:solidFill>
                            <a:srgbClr val="BB2217"/>
                          </a:solidFill>
                          <a:latin typeface="Arial" panose="020B0704020202020204"/>
                          <a:ea typeface="Arial" panose="020B0704020202020204"/>
                          <a:cs typeface="Arial" panose="020B0704020202020204"/>
                          <a:sym typeface="Arial" panose="020B0704020202020204"/>
                        </a:rPr>
                        <a:t>39.0% ⚠</a:t>
                      </a:r>
                      <a:endParaRPr sz="1000" u="none" strike="noStrike" cap="none">
                        <a:solidFill>
                          <a:srgbClr val="BB2217"/>
                        </a:solidFill>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201175">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T2</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Weekly life, food, focus &amp; work</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18.9%</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Study / UPSC exam prep</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12.7%</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201175">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T3</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Small creator growth journey</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A86B"/>
                        </a:buClr>
                        <a:buSzPts val="1000"/>
                        <a:buFont typeface="Arial" panose="020B0704020202020204"/>
                        <a:buNone/>
                      </a:pPr>
                      <a:r>
                        <a:rPr lang="en-GB" sz="1000" b="1" u="none" strike="noStrike" cap="none">
                          <a:solidFill>
                            <a:srgbClr val="00A86B"/>
                          </a:solidFill>
                          <a:latin typeface="Arial" panose="020B0704020202020204"/>
                          <a:ea typeface="Arial" panose="020B0704020202020204"/>
                          <a:cs typeface="Arial" panose="020B0704020202020204"/>
                          <a:sym typeface="Arial" panose="020B0704020202020204"/>
                        </a:rPr>
                        <a:t>26.8% ★</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SSC, gaming, small channel support</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19.4%</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201175">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T4</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Funny, aesthetic, music &amp; comedy</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21.5%</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Food vlogs &amp; what-I-eat content</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15.0%</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r h="201175">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T5</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JEE/NEET aspirant daily life</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9.9%</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Comedy, college, aesthetic cleaning</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panose="020B0704020202020204"/>
                        <a:buNone/>
                      </a:pPr>
                      <a:r>
                        <a:rPr lang="en-GB" sz="1000" u="none" strike="noStrike" cap="none">
                          <a:solidFill>
                            <a:srgbClr val="000000"/>
                          </a:solidFill>
                          <a:latin typeface="Arial" panose="020B0704020202020204"/>
                          <a:ea typeface="Arial" panose="020B0704020202020204"/>
                          <a:cs typeface="Arial" panose="020B0704020202020204"/>
                          <a:sym typeface="Arial" panose="020B0704020202020204"/>
                        </a:rPr>
                        <a:t>13.9%</a:t>
                      </a:r>
                      <a:endParaRPr sz="1000" u="none" strike="noStrike" cap="none">
                        <a:latin typeface="Arial" panose="020B0704020202020204"/>
                        <a:ea typeface="Arial" panose="020B0704020202020204"/>
                        <a:cs typeface="Arial" panose="020B0704020202020204"/>
                        <a:sym typeface="Arial" panose="020B0704020202020204"/>
                      </a:endParaRPr>
                    </a:p>
                  </a:txBody>
                  <a:tcPr marL="91450" marR="91450" marT="45725" marB="45725">
                    <a:lnL w="12700" cap="flat" cmpd="sng">
                      <a:solidFill>
                        <a:srgbClr val="E5E5E5"/>
                      </a:solidFill>
                      <a:prstDash val="solid"/>
                      <a:round/>
                      <a:headEnd type="none" w="sm" len="sm"/>
                      <a:tailEnd type="none" w="sm" len="sm"/>
                    </a:lnL>
                    <a:lnR w="12700" cap="flat" cmpd="sng">
                      <a:solidFill>
                        <a:srgbClr val="E5E5E5"/>
                      </a:solidFill>
                      <a:prstDash val="solid"/>
                      <a:round/>
                      <a:headEnd type="none" w="sm" len="sm"/>
                      <a:tailEnd type="none" w="sm" len="sm"/>
                    </a:lnR>
                    <a:lnT w="12700" cap="flat" cmpd="sng">
                      <a:solidFill>
                        <a:srgbClr val="E5E5E5"/>
                      </a:solidFill>
                      <a:prstDash val="solid"/>
                      <a:round/>
                      <a:headEnd type="none" w="sm" len="sm"/>
                      <a:tailEnd type="none" w="sm" len="sm"/>
                    </a:lnT>
                    <a:lnB w="12700" cap="flat" cmpd="sng">
                      <a:solidFill>
                        <a:srgbClr val="E5E5E5"/>
                      </a:solidFill>
                      <a:prstDash val="solid"/>
                      <a:round/>
                      <a:headEnd type="none" w="sm" len="sm"/>
                      <a:tailEnd type="none" w="sm" len="sm"/>
                    </a:lnB>
                  </a:tcPr>
                </a:tc>
              </a:tr>
            </a:tbl>
          </a:graphicData>
        </a:graphic>
      </p:graphicFrame>
      <p:sp>
        <p:nvSpPr>
          <p:cNvPr id="346" name="Google Shape;346;p35"/>
          <p:cNvSpPr/>
          <p:nvPr/>
        </p:nvSpPr>
        <p:spPr>
          <a:xfrm>
            <a:off x="7680960" y="4278630"/>
            <a:ext cx="1091700" cy="76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950"/>
              <a:buFont typeface="Arial" panose="020B0704020202020204"/>
              <a:buNone/>
            </a:pPr>
            <a:r>
              <a:rPr lang="en-GB" sz="950" b="0" i="1" u="none" strike="noStrike" cap="none">
                <a:solidFill>
                  <a:srgbClr val="606060"/>
                </a:solidFill>
                <a:latin typeface="Arial" panose="020B0704020202020204"/>
                <a:ea typeface="Arial" panose="020B0704020202020204"/>
                <a:cs typeface="Arial" panose="020B0704020202020204"/>
                <a:sym typeface="Arial" panose="020B0704020202020204"/>
              </a:rPr>
              <a:t>Entropy: High=1.565  Low=1.507  |  Max share: High=26.8%  Low=39.0%  →  Low group 46% more topic-concentrated</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351" name="Shape 351"/>
        <p:cNvGrpSpPr/>
        <p:nvPr/>
      </p:nvGrpSpPr>
      <p:grpSpPr>
        <a:xfrm>
          <a:off x="0" y="0"/>
          <a:ext cx="0" cy="0"/>
          <a:chOff x="0" y="0"/>
          <a:chExt cx="0" cy="0"/>
        </a:xfrm>
      </p:grpSpPr>
      <p:sp>
        <p:nvSpPr>
          <p:cNvPr id="352" name="Google Shape;352;p36"/>
          <p:cNvSpPr/>
          <p:nvPr/>
        </p:nvSpPr>
        <p:spPr>
          <a:xfrm>
            <a:off x="0" y="0"/>
            <a:ext cx="9144000" cy="5028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 name="Google Shape;353;p36"/>
          <p:cNvSpPr/>
          <p:nvPr/>
        </p:nvSpPr>
        <p:spPr>
          <a:xfrm>
            <a:off x="365760" y="73152"/>
            <a:ext cx="73152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Arial" panose="020B0704020202020204"/>
              <a:buNone/>
            </a:pPr>
            <a:r>
              <a:rPr lang="en-GB" sz="1800" b="1" i="0" u="none" strike="noStrike" cap="none">
                <a:solidFill>
                  <a:srgbClr val="FFFFFF"/>
                </a:solidFill>
                <a:latin typeface="Arial" panose="020B0704020202020204"/>
                <a:ea typeface="Arial" panose="020B0704020202020204"/>
                <a:cs typeface="Arial" panose="020B0704020202020204"/>
                <a:sym typeface="Arial" panose="020B0704020202020204"/>
              </a:rPr>
              <a:t>▶  Content Gap Discovery</a:t>
            </a:r>
            <a:endParaRPr sz="1800" b="0" i="0" u="none" strike="noStrike" cap="none">
              <a:solidFill>
                <a:schemeClr val="dk1"/>
              </a:solidFill>
              <a:latin typeface="Calibri"/>
              <a:ea typeface="Calibri"/>
              <a:cs typeface="Calibri"/>
              <a:sym typeface="Calibri"/>
            </a:endParaRPr>
          </a:p>
        </p:txBody>
      </p:sp>
      <p:sp>
        <p:nvSpPr>
          <p:cNvPr id="354" name="Google Shape;354;p36"/>
          <p:cNvSpPr/>
          <p:nvPr/>
        </p:nvSpPr>
        <p:spPr>
          <a:xfrm>
            <a:off x="365760" y="594360"/>
            <a:ext cx="8412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1200"/>
              <a:buFont typeface="Arial" panose="020B0704020202020204"/>
              <a:buNone/>
            </a:pPr>
            <a:r>
              <a:rPr lang="en-GB" sz="1200" b="0" i="0" u="none" strike="noStrike" cap="none">
                <a:solidFill>
                  <a:srgbClr val="606060"/>
                </a:solidFill>
                <a:latin typeface="Arial" panose="020B0704020202020204"/>
                <a:ea typeface="Arial" panose="020B0704020202020204"/>
                <a:cs typeface="Arial" panose="020B0704020202020204"/>
                <a:sym typeface="Arial" panose="020B0704020202020204"/>
              </a:rPr>
              <a:t>Translating NLP findings into viewer pain points and actionable creator opportunities</a:t>
            </a:r>
            <a:endParaRPr sz="1200" b="0" i="0" u="none" strike="noStrike" cap="none">
              <a:solidFill>
                <a:schemeClr val="dk1"/>
              </a:solidFill>
              <a:latin typeface="Calibri"/>
              <a:ea typeface="Calibri"/>
              <a:cs typeface="Calibri"/>
              <a:sym typeface="Calibri"/>
            </a:endParaRPr>
          </a:p>
        </p:txBody>
      </p:sp>
      <p:sp>
        <p:nvSpPr>
          <p:cNvPr id="355" name="Google Shape;355;p36"/>
          <p:cNvSpPr/>
          <p:nvPr/>
        </p:nvSpPr>
        <p:spPr>
          <a:xfrm>
            <a:off x="365760" y="1005840"/>
            <a:ext cx="4114800" cy="1828800"/>
          </a:xfrm>
          <a:prstGeom prst="rect">
            <a:avLst/>
          </a:prstGeom>
          <a:solidFill>
            <a:srgbClr val="FFFFFF"/>
          </a:solidFill>
          <a:ln w="12700" cap="flat" cmpd="sng">
            <a:solidFill>
              <a:srgbClr val="E5E5E5"/>
            </a:solidFill>
            <a:prstDash val="solid"/>
            <a:round/>
            <a:headEnd type="none" w="sm" len="sm"/>
            <a:tailEnd type="none" w="sm" len="sm"/>
          </a:ln>
          <a:effectLst>
            <a:outerShdw blurRad="101600" dist="25400" dir="81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36"/>
          <p:cNvSpPr/>
          <p:nvPr/>
        </p:nvSpPr>
        <p:spPr>
          <a:xfrm>
            <a:off x="365760" y="1005840"/>
            <a:ext cx="54900" cy="1828800"/>
          </a:xfrm>
          <a:prstGeom prst="rect">
            <a:avLst/>
          </a:prstGeom>
          <a:solidFill>
            <a:srgbClr val="BB22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36"/>
          <p:cNvSpPr/>
          <p:nvPr/>
        </p:nvSpPr>
        <p:spPr>
          <a:xfrm>
            <a:off x="502920" y="1097280"/>
            <a:ext cx="39135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0000"/>
              </a:buClr>
              <a:buSzPts val="1300"/>
              <a:buFont typeface="Arial" panose="020B0704020202020204"/>
              <a:buNone/>
            </a:pPr>
            <a:r>
              <a:rPr lang="en-GB" sz="1300" b="1" i="0" u="none" strike="noStrike" cap="none">
                <a:solidFill>
                  <a:srgbClr val="BB2217"/>
                </a:solidFill>
                <a:latin typeface="Arial" panose="020B0704020202020204"/>
                <a:ea typeface="Arial" panose="020B0704020202020204"/>
                <a:cs typeface="Arial" panose="020B0704020202020204"/>
                <a:sym typeface="Arial" panose="020B0704020202020204"/>
              </a:rPr>
              <a:t>🎯  Identity Niche Deficit</a:t>
            </a:r>
            <a:endParaRPr sz="1300" b="0" i="0" u="none" strike="noStrike" cap="none">
              <a:solidFill>
                <a:srgbClr val="BB2217"/>
              </a:solidFill>
              <a:latin typeface="Calibri"/>
              <a:ea typeface="Calibri"/>
              <a:cs typeface="Calibri"/>
              <a:sym typeface="Calibri"/>
            </a:endParaRPr>
          </a:p>
        </p:txBody>
      </p:sp>
      <p:sp>
        <p:nvSpPr>
          <p:cNvPr id="358" name="Google Shape;358;p36"/>
          <p:cNvSpPr/>
          <p:nvPr/>
        </p:nvSpPr>
        <p:spPr>
          <a:xfrm>
            <a:off x="502920" y="1426464"/>
            <a:ext cx="39135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950"/>
              <a:buFont typeface="Arial" panose="020B0704020202020204"/>
              <a:buNone/>
            </a:pPr>
            <a:r>
              <a:rPr lang="en-GB" sz="950" b="0" i="0" u="none" strike="noStrike" cap="none">
                <a:solidFill>
                  <a:srgbClr val="606060"/>
                </a:solidFill>
                <a:latin typeface="Arial" panose="020B0704020202020204"/>
                <a:ea typeface="Arial" panose="020B0704020202020204"/>
                <a:cs typeface="Arial" panose="020B0704020202020204"/>
                <a:sym typeface="Arial" panose="020B0704020202020204"/>
              </a:rPr>
              <a:t>Pain: Viewers want relatable, identity-specific content. JEE/IIT aspirant vlogs (High) vs generic SSC/lifestyle (Low) — niche depth wins.</a:t>
            </a:r>
            <a:endParaRPr sz="950" b="0" i="0" u="none" strike="noStrike" cap="none">
              <a:solidFill>
                <a:schemeClr val="dk1"/>
              </a:solidFill>
              <a:latin typeface="Calibri"/>
              <a:ea typeface="Calibri"/>
              <a:cs typeface="Calibri"/>
              <a:sym typeface="Calibri"/>
            </a:endParaRPr>
          </a:p>
        </p:txBody>
      </p:sp>
      <p:sp>
        <p:nvSpPr>
          <p:cNvPr id="359" name="Google Shape;359;p36"/>
          <p:cNvSpPr/>
          <p:nvPr/>
        </p:nvSpPr>
        <p:spPr>
          <a:xfrm>
            <a:off x="502920" y="2066544"/>
            <a:ext cx="39135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0F0F"/>
              </a:buClr>
              <a:buSzPts val="950"/>
              <a:buFont typeface="Arial" panose="020B0704020202020204"/>
              <a:buNone/>
            </a:pPr>
            <a:r>
              <a:rPr lang="en-GB" sz="950" b="0" i="0" u="none" strike="noStrike" cap="none">
                <a:solidFill>
                  <a:srgbClr val="0F0F0F"/>
                </a:solidFill>
                <a:latin typeface="Arial" panose="020B0704020202020204"/>
                <a:ea typeface="Arial" panose="020B0704020202020204"/>
                <a:cs typeface="Arial" panose="020B0704020202020204"/>
                <a:sym typeface="Arial" panose="020B0704020202020204"/>
              </a:rPr>
              <a:t>→  Name your audience clearly. 'Day in my life as a JEE aspirant' beats 'daily vlog'.</a:t>
            </a:r>
            <a:endParaRPr sz="950" b="0" i="0" u="none" strike="noStrike" cap="none">
              <a:solidFill>
                <a:schemeClr val="dk1"/>
              </a:solidFill>
              <a:latin typeface="Calibri"/>
              <a:ea typeface="Calibri"/>
              <a:cs typeface="Calibri"/>
              <a:sym typeface="Calibri"/>
            </a:endParaRPr>
          </a:p>
        </p:txBody>
      </p:sp>
      <p:sp>
        <p:nvSpPr>
          <p:cNvPr id="360" name="Google Shape;360;p36"/>
          <p:cNvSpPr/>
          <p:nvPr/>
        </p:nvSpPr>
        <p:spPr>
          <a:xfrm>
            <a:off x="4754880" y="1005840"/>
            <a:ext cx="4114800" cy="1828800"/>
          </a:xfrm>
          <a:prstGeom prst="rect">
            <a:avLst/>
          </a:prstGeom>
          <a:solidFill>
            <a:srgbClr val="FFFFFF"/>
          </a:solidFill>
          <a:ln w="12700" cap="flat" cmpd="sng">
            <a:solidFill>
              <a:srgbClr val="E5E5E5"/>
            </a:solidFill>
            <a:prstDash val="solid"/>
            <a:round/>
            <a:headEnd type="none" w="sm" len="sm"/>
            <a:tailEnd type="none" w="sm" len="sm"/>
          </a:ln>
          <a:effectLst>
            <a:outerShdw blurRad="101600" dist="25400" dir="81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 name="Google Shape;361;p36"/>
          <p:cNvSpPr/>
          <p:nvPr/>
        </p:nvSpPr>
        <p:spPr>
          <a:xfrm>
            <a:off x="4754880" y="1005840"/>
            <a:ext cx="54900" cy="1828800"/>
          </a:xfrm>
          <a:prstGeom prst="rect">
            <a:avLst/>
          </a:prstGeom>
          <a:solidFill>
            <a:srgbClr val="FF6B35"/>
          </a:solidFill>
          <a:ln w="12700" cap="flat" cmpd="sng">
            <a:solidFill>
              <a:srgbClr val="FF6B3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 name="Google Shape;362;p36"/>
          <p:cNvSpPr/>
          <p:nvPr/>
        </p:nvSpPr>
        <p:spPr>
          <a:xfrm>
            <a:off x="4892040" y="1097280"/>
            <a:ext cx="39135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6B35"/>
              </a:buClr>
              <a:buSzPts val="1300"/>
              <a:buFont typeface="Arial" panose="020B0704020202020204"/>
              <a:buNone/>
            </a:pPr>
            <a:r>
              <a:rPr lang="en-GB" sz="1300" b="1" i="0" u="none" strike="noStrike" cap="none">
                <a:solidFill>
                  <a:srgbClr val="FF6B35"/>
                </a:solidFill>
                <a:latin typeface="Arial" panose="020B0704020202020204"/>
                <a:ea typeface="Arial" panose="020B0704020202020204"/>
                <a:cs typeface="Arial" panose="020B0704020202020204"/>
                <a:sym typeface="Arial" panose="020B0704020202020204"/>
              </a:rPr>
              <a:t>💬  Emotional Language Gap</a:t>
            </a:r>
            <a:endParaRPr sz="1300" b="0" i="0" u="none" strike="noStrike" cap="none">
              <a:solidFill>
                <a:schemeClr val="dk1"/>
              </a:solidFill>
              <a:latin typeface="Calibri"/>
              <a:ea typeface="Calibri"/>
              <a:cs typeface="Calibri"/>
              <a:sym typeface="Calibri"/>
            </a:endParaRPr>
          </a:p>
        </p:txBody>
      </p:sp>
      <p:sp>
        <p:nvSpPr>
          <p:cNvPr id="363" name="Google Shape;363;p36"/>
          <p:cNvSpPr/>
          <p:nvPr/>
        </p:nvSpPr>
        <p:spPr>
          <a:xfrm>
            <a:off x="4892040" y="1426464"/>
            <a:ext cx="39135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950"/>
              <a:buFont typeface="Arial" panose="020B0704020202020204"/>
              <a:buNone/>
            </a:pPr>
            <a:r>
              <a:rPr lang="en-GB" sz="950" b="0" i="0" u="none" strike="noStrike" cap="none">
                <a:solidFill>
                  <a:srgbClr val="606060"/>
                </a:solidFill>
                <a:latin typeface="Arial" panose="020B0704020202020204"/>
                <a:ea typeface="Arial" panose="020B0704020202020204"/>
                <a:cs typeface="Arial" panose="020B0704020202020204"/>
                <a:sym typeface="Arial" panose="020B0704020202020204"/>
              </a:rPr>
              <a:t>Pain: High: 0.419 vs Low: 0.327 VADER avg. High group has 33% strongly positive content vs only 23% for Low — a 10-point gap.</a:t>
            </a:r>
            <a:endParaRPr sz="950" b="0" i="0" u="none" strike="noStrike" cap="none">
              <a:solidFill>
                <a:schemeClr val="dk1"/>
              </a:solidFill>
              <a:latin typeface="Calibri"/>
              <a:ea typeface="Calibri"/>
              <a:cs typeface="Calibri"/>
              <a:sym typeface="Calibri"/>
            </a:endParaRPr>
          </a:p>
        </p:txBody>
      </p:sp>
      <p:sp>
        <p:nvSpPr>
          <p:cNvPr id="364" name="Google Shape;364;p36"/>
          <p:cNvSpPr/>
          <p:nvPr/>
        </p:nvSpPr>
        <p:spPr>
          <a:xfrm>
            <a:off x="4892040" y="2066544"/>
            <a:ext cx="39135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0F0F"/>
              </a:buClr>
              <a:buSzPts val="950"/>
              <a:buFont typeface="Arial" panose="020B0704020202020204"/>
              <a:buNone/>
            </a:pPr>
            <a:r>
              <a:rPr lang="en-GB" sz="950" b="0" i="0" u="none" strike="noStrike" cap="none">
                <a:solidFill>
                  <a:srgbClr val="0F0F0F"/>
                </a:solidFill>
                <a:latin typeface="Arial" panose="020B0704020202020204"/>
                <a:ea typeface="Arial" panose="020B0704020202020204"/>
                <a:cs typeface="Arial" panose="020B0704020202020204"/>
                <a:sym typeface="Arial" panose="020B0704020202020204"/>
              </a:rPr>
              <a:t>→  Use love, sad, ganga, family, shayari. Emotional resonance measurably lifts like-rate.</a:t>
            </a:r>
            <a:endParaRPr sz="950" b="0" i="0" u="none" strike="noStrike" cap="none">
              <a:solidFill>
                <a:schemeClr val="dk1"/>
              </a:solidFill>
              <a:latin typeface="Calibri"/>
              <a:ea typeface="Calibri"/>
              <a:cs typeface="Calibri"/>
              <a:sym typeface="Calibri"/>
            </a:endParaRPr>
          </a:p>
        </p:txBody>
      </p:sp>
      <p:sp>
        <p:nvSpPr>
          <p:cNvPr id="365" name="Google Shape;365;p36"/>
          <p:cNvSpPr/>
          <p:nvPr/>
        </p:nvSpPr>
        <p:spPr>
          <a:xfrm>
            <a:off x="365760" y="2971800"/>
            <a:ext cx="4114800" cy="1828800"/>
          </a:xfrm>
          <a:prstGeom prst="rect">
            <a:avLst/>
          </a:prstGeom>
          <a:solidFill>
            <a:srgbClr val="FFFFFF"/>
          </a:solidFill>
          <a:ln w="12700" cap="flat" cmpd="sng">
            <a:solidFill>
              <a:srgbClr val="E5E5E5"/>
            </a:solidFill>
            <a:prstDash val="solid"/>
            <a:round/>
            <a:headEnd type="none" w="sm" len="sm"/>
            <a:tailEnd type="none" w="sm" len="sm"/>
          </a:ln>
          <a:effectLst>
            <a:outerShdw blurRad="101600" dist="25400" dir="81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 name="Google Shape;366;p36"/>
          <p:cNvSpPr/>
          <p:nvPr/>
        </p:nvSpPr>
        <p:spPr>
          <a:xfrm>
            <a:off x="365760" y="2971800"/>
            <a:ext cx="54900" cy="1828800"/>
          </a:xfrm>
          <a:prstGeom prst="rect">
            <a:avLst/>
          </a:prstGeom>
          <a:solidFill>
            <a:srgbClr val="FF8C00"/>
          </a:solidFill>
          <a:ln w="12700" cap="flat" cmpd="sng">
            <a:solidFill>
              <a:srgbClr val="FF8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 name="Google Shape;367;p36"/>
          <p:cNvSpPr/>
          <p:nvPr/>
        </p:nvSpPr>
        <p:spPr>
          <a:xfrm>
            <a:off x="502920" y="3063240"/>
            <a:ext cx="39135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8C00"/>
              </a:buClr>
              <a:buSzPts val="1300"/>
              <a:buFont typeface="Arial" panose="020B0704020202020204"/>
              <a:buNone/>
            </a:pPr>
            <a:r>
              <a:rPr lang="en-GB" sz="1300" b="1" i="0" u="none" strike="noStrike" cap="none">
                <a:solidFill>
                  <a:srgbClr val="FF8C00"/>
                </a:solidFill>
                <a:latin typeface="Arial" panose="020B0704020202020204"/>
                <a:ea typeface="Arial" panose="020B0704020202020204"/>
                <a:cs typeface="Arial" panose="020B0704020202020204"/>
                <a:sym typeface="Arial" panose="020B0704020202020204"/>
              </a:rPr>
              <a:t>🌏  Cultural Authenticity Gap</a:t>
            </a:r>
            <a:endParaRPr sz="1300" b="0" i="0" u="none" strike="noStrike" cap="none">
              <a:solidFill>
                <a:schemeClr val="dk1"/>
              </a:solidFill>
              <a:latin typeface="Calibri"/>
              <a:ea typeface="Calibri"/>
              <a:cs typeface="Calibri"/>
              <a:sym typeface="Calibri"/>
            </a:endParaRPr>
          </a:p>
        </p:txBody>
      </p:sp>
      <p:sp>
        <p:nvSpPr>
          <p:cNvPr id="368" name="Google Shape;368;p36"/>
          <p:cNvSpPr/>
          <p:nvPr/>
        </p:nvSpPr>
        <p:spPr>
          <a:xfrm>
            <a:off x="502920" y="3392424"/>
            <a:ext cx="39135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950"/>
              <a:buFont typeface="Arial" panose="020B0704020202020204"/>
              <a:buNone/>
            </a:pPr>
            <a:r>
              <a:rPr lang="en-GB" sz="950" b="0" i="0" u="none" strike="noStrike" cap="none">
                <a:solidFill>
                  <a:srgbClr val="606060"/>
                </a:solidFill>
                <a:latin typeface="Arial" panose="020B0704020202020204"/>
                <a:ea typeface="Arial" panose="020B0704020202020204"/>
                <a:cs typeface="Arial" panose="020B0704020202020204"/>
                <a:sym typeface="Arial" panose="020B0704020202020204"/>
              </a:rPr>
              <a:t>Pain: Haridwar, assamese, ganga, shayari are High-exclusive. Regional cultural depth outperforms generic 'Indian' tags.</a:t>
            </a:r>
            <a:endParaRPr sz="950" b="0" i="0" u="none" strike="noStrike" cap="none">
              <a:solidFill>
                <a:schemeClr val="dk1"/>
              </a:solidFill>
              <a:latin typeface="Calibri"/>
              <a:ea typeface="Calibri"/>
              <a:cs typeface="Calibri"/>
              <a:sym typeface="Calibri"/>
            </a:endParaRPr>
          </a:p>
        </p:txBody>
      </p:sp>
      <p:sp>
        <p:nvSpPr>
          <p:cNvPr id="369" name="Google Shape;369;p36"/>
          <p:cNvSpPr/>
          <p:nvPr/>
        </p:nvSpPr>
        <p:spPr>
          <a:xfrm>
            <a:off x="502920" y="4032504"/>
            <a:ext cx="39135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0F0F"/>
              </a:buClr>
              <a:buSzPts val="950"/>
              <a:buFont typeface="Arial" panose="020B0704020202020204"/>
              <a:buNone/>
            </a:pPr>
            <a:r>
              <a:rPr lang="en-GB" sz="950" b="0" i="0" u="none" strike="noStrike" cap="none">
                <a:solidFill>
                  <a:srgbClr val="0F0F0F"/>
                </a:solidFill>
                <a:latin typeface="Arial" panose="020B0704020202020204"/>
                <a:ea typeface="Arial" panose="020B0704020202020204"/>
                <a:cs typeface="Arial" panose="020B0704020202020204"/>
                <a:sym typeface="Arial" panose="020B0704020202020204"/>
              </a:rPr>
              <a:t>→  Lean into your specific cultural identity. Hyper-specific content beats broadly aspirational.</a:t>
            </a:r>
            <a:endParaRPr sz="950" b="0" i="0" u="none" strike="noStrike" cap="none">
              <a:solidFill>
                <a:schemeClr val="dk1"/>
              </a:solidFill>
              <a:latin typeface="Calibri"/>
              <a:ea typeface="Calibri"/>
              <a:cs typeface="Calibri"/>
              <a:sym typeface="Calibri"/>
            </a:endParaRPr>
          </a:p>
        </p:txBody>
      </p:sp>
      <p:sp>
        <p:nvSpPr>
          <p:cNvPr id="370" name="Google Shape;370;p36"/>
          <p:cNvSpPr/>
          <p:nvPr/>
        </p:nvSpPr>
        <p:spPr>
          <a:xfrm>
            <a:off x="4754880" y="2971800"/>
            <a:ext cx="4114800" cy="1828800"/>
          </a:xfrm>
          <a:prstGeom prst="rect">
            <a:avLst/>
          </a:prstGeom>
          <a:solidFill>
            <a:srgbClr val="FFFFFF"/>
          </a:solidFill>
          <a:ln w="12700" cap="flat" cmpd="sng">
            <a:solidFill>
              <a:srgbClr val="E5E5E5"/>
            </a:solidFill>
            <a:prstDash val="solid"/>
            <a:round/>
            <a:headEnd type="none" w="sm" len="sm"/>
            <a:tailEnd type="none" w="sm" len="sm"/>
          </a:ln>
          <a:effectLst>
            <a:outerShdw blurRad="101600" dist="25400" dir="81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 name="Google Shape;371;p36"/>
          <p:cNvSpPr/>
          <p:nvPr/>
        </p:nvSpPr>
        <p:spPr>
          <a:xfrm>
            <a:off x="4754880" y="2971800"/>
            <a:ext cx="54900" cy="1828800"/>
          </a:xfrm>
          <a:prstGeom prst="rect">
            <a:avLst/>
          </a:prstGeom>
          <a:solidFill>
            <a:srgbClr val="0066CC"/>
          </a:solidFill>
          <a:ln w="12700" cap="flat" cmpd="sng">
            <a:solidFill>
              <a:srgbClr val="0066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 name="Google Shape;372;p36"/>
          <p:cNvSpPr/>
          <p:nvPr/>
        </p:nvSpPr>
        <p:spPr>
          <a:xfrm>
            <a:off x="4892040" y="3063240"/>
            <a:ext cx="39135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66CC"/>
              </a:buClr>
              <a:buSzPts val="1300"/>
              <a:buFont typeface="Arial" panose="020B0704020202020204"/>
              <a:buNone/>
            </a:pPr>
            <a:r>
              <a:rPr lang="en-GB" sz="1300" b="1" i="0" u="none" strike="noStrike" cap="none">
                <a:solidFill>
                  <a:srgbClr val="0066CC"/>
                </a:solidFill>
                <a:latin typeface="Arial" panose="020B0704020202020204"/>
                <a:ea typeface="Arial" panose="020B0704020202020204"/>
                <a:cs typeface="Arial" panose="020B0704020202020204"/>
                <a:sym typeface="Arial" panose="020B0704020202020204"/>
              </a:rPr>
              <a:t>📊  Topic Saturation Trap</a:t>
            </a:r>
            <a:endParaRPr sz="1300" b="0" i="0" u="none" strike="noStrike" cap="none">
              <a:solidFill>
                <a:schemeClr val="dk1"/>
              </a:solidFill>
              <a:latin typeface="Calibri"/>
              <a:ea typeface="Calibri"/>
              <a:cs typeface="Calibri"/>
              <a:sym typeface="Calibri"/>
            </a:endParaRPr>
          </a:p>
        </p:txBody>
      </p:sp>
      <p:sp>
        <p:nvSpPr>
          <p:cNvPr id="373" name="Google Shape;373;p36"/>
          <p:cNvSpPr/>
          <p:nvPr/>
        </p:nvSpPr>
        <p:spPr>
          <a:xfrm>
            <a:off x="4892040" y="3392424"/>
            <a:ext cx="39135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6060"/>
              </a:buClr>
              <a:buSzPts val="950"/>
              <a:buFont typeface="Arial" panose="020B0704020202020204"/>
              <a:buNone/>
            </a:pPr>
            <a:r>
              <a:rPr lang="en-GB" sz="950" b="0" i="0" u="none" strike="noStrike" cap="none">
                <a:solidFill>
                  <a:srgbClr val="606060"/>
                </a:solidFill>
                <a:latin typeface="Arial" panose="020B0704020202020204"/>
                <a:ea typeface="Arial" panose="020B0704020202020204"/>
                <a:cs typeface="Arial" panose="020B0704020202020204"/>
                <a:sym typeface="Arial" panose="020B0704020202020204"/>
              </a:rPr>
              <a:t>Pain: 39% of Low videos collapse into 'daily routine + aesthetic' — the most saturated content bucket on YouTube.</a:t>
            </a:r>
            <a:endParaRPr sz="950" b="0" i="0" u="none" strike="noStrike" cap="none">
              <a:solidFill>
                <a:schemeClr val="dk1"/>
              </a:solidFill>
              <a:latin typeface="Calibri"/>
              <a:ea typeface="Calibri"/>
              <a:cs typeface="Calibri"/>
              <a:sym typeface="Calibri"/>
            </a:endParaRPr>
          </a:p>
        </p:txBody>
      </p:sp>
      <p:sp>
        <p:nvSpPr>
          <p:cNvPr id="374" name="Google Shape;374;p36"/>
          <p:cNvSpPr/>
          <p:nvPr/>
        </p:nvSpPr>
        <p:spPr>
          <a:xfrm>
            <a:off x="4892040" y="4032504"/>
            <a:ext cx="39135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0F0F"/>
              </a:buClr>
              <a:buSzPts val="950"/>
              <a:buFont typeface="Arial" panose="020B0704020202020204"/>
              <a:buNone/>
            </a:pPr>
            <a:r>
              <a:rPr lang="en-GB" sz="950" b="0" i="0" u="none" strike="noStrike" cap="none">
                <a:solidFill>
                  <a:srgbClr val="0F0F0F"/>
                </a:solidFill>
                <a:latin typeface="Arial" panose="020B0704020202020204"/>
                <a:ea typeface="Arial" panose="020B0704020202020204"/>
                <a:cs typeface="Arial" panose="020B0704020202020204"/>
                <a:sym typeface="Arial" panose="020B0704020202020204"/>
              </a:rPr>
              <a:t>→  Maintain 4–5 content pillars. Cap any single format at 25% of uploads to avoid saturation.</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378" name="Shape 378"/>
        <p:cNvGrpSpPr/>
        <p:nvPr/>
      </p:nvGrpSpPr>
      <p:grpSpPr>
        <a:xfrm>
          <a:off x="0" y="0"/>
          <a:ext cx="0" cy="0"/>
          <a:chOff x="0" y="0"/>
          <a:chExt cx="0" cy="0"/>
        </a:xfrm>
      </p:grpSpPr>
      <p:grpSp>
        <p:nvGrpSpPr>
          <p:cNvPr id="379" name="Google Shape;379;p37"/>
          <p:cNvGrpSpPr/>
          <p:nvPr/>
        </p:nvGrpSpPr>
        <p:grpSpPr>
          <a:xfrm>
            <a:off x="775281" y="876701"/>
            <a:ext cx="2117296" cy="1429801"/>
            <a:chOff x="0" y="-280033"/>
            <a:chExt cx="5646122" cy="3812803"/>
          </a:xfrm>
        </p:grpSpPr>
        <p:grpSp>
          <p:nvGrpSpPr>
            <p:cNvPr id="380" name="Google Shape;380;p37"/>
            <p:cNvGrpSpPr/>
            <p:nvPr/>
          </p:nvGrpSpPr>
          <p:grpSpPr>
            <a:xfrm>
              <a:off x="0" y="-280033"/>
              <a:ext cx="5646122" cy="3812803"/>
              <a:chOff x="0" y="-47625"/>
              <a:chExt cx="960233" cy="648441"/>
            </a:xfrm>
          </p:grpSpPr>
          <p:sp>
            <p:nvSpPr>
              <p:cNvPr id="381" name="Google Shape;381;p37"/>
              <p:cNvSpPr/>
              <p:nvPr/>
            </p:nvSpPr>
            <p:spPr>
              <a:xfrm>
                <a:off x="0" y="0"/>
                <a:ext cx="960233" cy="600816"/>
              </a:xfrm>
              <a:custGeom>
                <a:avLst/>
                <a:gdLst/>
                <a:ahLst/>
                <a:cxnLst/>
                <a:rect l="l" t="t" r="r" b="b"/>
                <a:pathLst>
                  <a:path w="960233" h="600816" extrusionOk="0">
                    <a:moveTo>
                      <a:pt x="0" y="0"/>
                    </a:moveTo>
                    <a:lnTo>
                      <a:pt x="960233" y="0"/>
                    </a:lnTo>
                    <a:lnTo>
                      <a:pt x="960233" y="600816"/>
                    </a:lnTo>
                    <a:lnTo>
                      <a:pt x="0" y="600816"/>
                    </a:lnTo>
                    <a:close/>
                  </a:path>
                </a:pathLst>
              </a:custGeom>
              <a:solidFill>
                <a:srgbClr val="D9D9D9"/>
              </a:solidFill>
              <a:ln>
                <a:noFill/>
              </a:ln>
            </p:spPr>
          </p:sp>
          <p:sp>
            <p:nvSpPr>
              <p:cNvPr id="382" name="Google Shape;382;p37"/>
              <p:cNvSpPr txBox="1"/>
              <p:nvPr/>
            </p:nvSpPr>
            <p:spPr>
              <a:xfrm>
                <a:off x="0" y="-47625"/>
                <a:ext cx="960233" cy="648441"/>
              </a:xfrm>
              <a:prstGeom prst="rect">
                <a:avLst/>
              </a:prstGeom>
              <a:noFill/>
              <a:ln>
                <a:noFill/>
              </a:ln>
            </p:spPr>
            <p:txBody>
              <a:bodyPr spcFirstLastPara="1" wrap="square" lIns="25400" tIns="25400" rIns="25400" bIns="25400" anchor="ctr" anchorCtr="0">
                <a:noAutofit/>
              </a:bodyPr>
              <a:lstStyle/>
              <a:p>
                <a:pPr marL="0" marR="0" lvl="0" indent="0" algn="ctr" rtl="0">
                  <a:lnSpc>
                    <a:spcPct val="124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83" name="Google Shape;383;p37"/>
            <p:cNvGrpSpPr/>
            <p:nvPr/>
          </p:nvGrpSpPr>
          <p:grpSpPr>
            <a:xfrm>
              <a:off x="1566346" y="-105772"/>
              <a:ext cx="2322449" cy="2775661"/>
              <a:chOff x="0" y="-47625"/>
              <a:chExt cx="247779" cy="296132"/>
            </a:xfrm>
          </p:grpSpPr>
          <p:sp>
            <p:nvSpPr>
              <p:cNvPr id="384" name="Google Shape;384;p37"/>
              <p:cNvSpPr/>
              <p:nvPr/>
            </p:nvSpPr>
            <p:spPr>
              <a:xfrm>
                <a:off x="0" y="0"/>
                <a:ext cx="247779" cy="248507"/>
              </a:xfrm>
              <a:custGeom>
                <a:avLst/>
                <a:gdLst/>
                <a:ahLst/>
                <a:cxnLst/>
                <a:rect l="l" t="t" r="r" b="b"/>
                <a:pathLst>
                  <a:path w="247779" h="248507" extrusionOk="0">
                    <a:moveTo>
                      <a:pt x="0" y="0"/>
                    </a:moveTo>
                    <a:lnTo>
                      <a:pt x="247779" y="0"/>
                    </a:lnTo>
                    <a:lnTo>
                      <a:pt x="247779" y="248507"/>
                    </a:lnTo>
                    <a:lnTo>
                      <a:pt x="0" y="248507"/>
                    </a:lnTo>
                    <a:close/>
                  </a:path>
                </a:pathLst>
              </a:custGeom>
              <a:solidFill>
                <a:srgbClr val="BB2117"/>
              </a:solidFill>
              <a:ln>
                <a:noFill/>
              </a:ln>
            </p:spPr>
          </p:sp>
          <p:sp>
            <p:nvSpPr>
              <p:cNvPr id="385" name="Google Shape;385;p37"/>
              <p:cNvSpPr txBox="1"/>
              <p:nvPr/>
            </p:nvSpPr>
            <p:spPr>
              <a:xfrm>
                <a:off x="0" y="-47625"/>
                <a:ext cx="247778" cy="296132"/>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386" name="Google Shape;386;p37"/>
            <p:cNvSpPr/>
            <p:nvPr/>
          </p:nvSpPr>
          <p:spPr>
            <a:xfrm>
              <a:off x="2022326" y="560157"/>
              <a:ext cx="1410480" cy="1383446"/>
            </a:xfrm>
            <a:custGeom>
              <a:avLst/>
              <a:gdLst/>
              <a:ahLst/>
              <a:cxnLst/>
              <a:rect l="l" t="t" r="r" b="b"/>
              <a:pathLst>
                <a:path w="1410480" h="1383446" extrusionOk="0">
                  <a:moveTo>
                    <a:pt x="0" y="0"/>
                  </a:moveTo>
                  <a:lnTo>
                    <a:pt x="1410480" y="0"/>
                  </a:lnTo>
                  <a:lnTo>
                    <a:pt x="1410480" y="1383446"/>
                  </a:lnTo>
                  <a:lnTo>
                    <a:pt x="0" y="1383446"/>
                  </a:lnTo>
                  <a:lnTo>
                    <a:pt x="0" y="0"/>
                  </a:lnTo>
                  <a:close/>
                </a:path>
              </a:pathLst>
            </a:custGeom>
            <a:blipFill rotWithShape="1">
              <a:blip r:embed="rId1"/>
              <a:stretch>
                <a:fillRect/>
              </a:stretch>
            </a:blipFill>
            <a:ln>
              <a:noFill/>
            </a:ln>
          </p:spPr>
        </p:sp>
        <p:sp>
          <p:nvSpPr>
            <p:cNvPr id="387" name="Google Shape;387;p37"/>
            <p:cNvSpPr txBox="1"/>
            <p:nvPr/>
          </p:nvSpPr>
          <p:spPr>
            <a:xfrm>
              <a:off x="2160528" y="2074155"/>
              <a:ext cx="1134000" cy="5337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300" b="1" i="0" u="none" strike="noStrike" cap="none">
                  <a:solidFill>
                    <a:srgbClr val="F6F6F6"/>
                  </a:solidFill>
                  <a:latin typeface="Poppins" panose="00000800000000000000"/>
                  <a:ea typeface="Poppins" panose="00000800000000000000"/>
                  <a:cs typeface="Poppins" panose="00000800000000000000"/>
                  <a:sym typeface="Poppins" panose="00000800000000000000"/>
                </a:rPr>
                <a:t>View</a:t>
              </a:r>
              <a:endParaRPr sz="700"/>
            </a:p>
          </p:txBody>
        </p:sp>
        <p:sp>
          <p:nvSpPr>
            <p:cNvPr id="388" name="Google Shape;388;p37"/>
            <p:cNvSpPr txBox="1"/>
            <p:nvPr/>
          </p:nvSpPr>
          <p:spPr>
            <a:xfrm>
              <a:off x="331461" y="2863501"/>
              <a:ext cx="4983300" cy="3693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900" b="1" i="0" u="none" strike="noStrike" cap="none">
                  <a:solidFill>
                    <a:srgbClr val="000000"/>
                  </a:solidFill>
                  <a:latin typeface="Poppins" panose="00000800000000000000"/>
                  <a:ea typeface="Poppins" panose="00000800000000000000"/>
                  <a:cs typeface="Poppins" panose="00000800000000000000"/>
                  <a:sym typeface="Poppins" panose="00000800000000000000"/>
                </a:rPr>
                <a:t>Get pushed by the platform</a:t>
              </a:r>
              <a:endParaRPr sz="700"/>
            </a:p>
          </p:txBody>
        </p:sp>
      </p:grpSp>
      <p:grpSp>
        <p:nvGrpSpPr>
          <p:cNvPr id="389" name="Google Shape;389;p37"/>
          <p:cNvGrpSpPr/>
          <p:nvPr/>
        </p:nvGrpSpPr>
        <p:grpSpPr>
          <a:xfrm>
            <a:off x="724928" y="2517724"/>
            <a:ext cx="2224207" cy="1463804"/>
            <a:chOff x="0" y="-286692"/>
            <a:chExt cx="5931218" cy="3903478"/>
          </a:xfrm>
        </p:grpSpPr>
        <p:grpSp>
          <p:nvGrpSpPr>
            <p:cNvPr id="390" name="Google Shape;390;p37"/>
            <p:cNvGrpSpPr/>
            <p:nvPr/>
          </p:nvGrpSpPr>
          <p:grpSpPr>
            <a:xfrm>
              <a:off x="0" y="-286692"/>
              <a:ext cx="5780399" cy="3903478"/>
              <a:chOff x="0" y="-47625"/>
              <a:chExt cx="960233" cy="648441"/>
            </a:xfrm>
          </p:grpSpPr>
          <p:sp>
            <p:nvSpPr>
              <p:cNvPr id="391" name="Google Shape;391;p37"/>
              <p:cNvSpPr/>
              <p:nvPr/>
            </p:nvSpPr>
            <p:spPr>
              <a:xfrm>
                <a:off x="0" y="0"/>
                <a:ext cx="960233" cy="600816"/>
              </a:xfrm>
              <a:custGeom>
                <a:avLst/>
                <a:gdLst/>
                <a:ahLst/>
                <a:cxnLst/>
                <a:rect l="l" t="t" r="r" b="b"/>
                <a:pathLst>
                  <a:path w="960233" h="600816" extrusionOk="0">
                    <a:moveTo>
                      <a:pt x="0" y="0"/>
                    </a:moveTo>
                    <a:lnTo>
                      <a:pt x="960233" y="0"/>
                    </a:lnTo>
                    <a:lnTo>
                      <a:pt x="960233" y="600816"/>
                    </a:lnTo>
                    <a:lnTo>
                      <a:pt x="0" y="600816"/>
                    </a:lnTo>
                    <a:close/>
                  </a:path>
                </a:pathLst>
              </a:custGeom>
              <a:solidFill>
                <a:srgbClr val="D9D9D9"/>
              </a:solidFill>
              <a:ln>
                <a:noFill/>
              </a:ln>
            </p:spPr>
          </p:sp>
          <p:sp>
            <p:nvSpPr>
              <p:cNvPr id="392" name="Google Shape;392;p37"/>
              <p:cNvSpPr txBox="1"/>
              <p:nvPr/>
            </p:nvSpPr>
            <p:spPr>
              <a:xfrm>
                <a:off x="0" y="-47625"/>
                <a:ext cx="960233" cy="648441"/>
              </a:xfrm>
              <a:prstGeom prst="rect">
                <a:avLst/>
              </a:prstGeom>
              <a:noFill/>
              <a:ln>
                <a:noFill/>
              </a:ln>
            </p:spPr>
            <p:txBody>
              <a:bodyPr spcFirstLastPara="1" wrap="square" lIns="25400" tIns="25400" rIns="25400" bIns="25400" anchor="ctr" anchorCtr="0">
                <a:noAutofit/>
              </a:bodyPr>
              <a:lstStyle/>
              <a:p>
                <a:pPr marL="0" marR="0" lvl="0" indent="0" algn="ctr" rtl="0">
                  <a:lnSpc>
                    <a:spcPct val="124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93" name="Google Shape;393;p37"/>
            <p:cNvGrpSpPr/>
            <p:nvPr/>
          </p:nvGrpSpPr>
          <p:grpSpPr>
            <a:xfrm>
              <a:off x="1735899" y="-63910"/>
              <a:ext cx="2377683" cy="2841672"/>
              <a:chOff x="0" y="-47625"/>
              <a:chExt cx="247779" cy="296132"/>
            </a:xfrm>
          </p:grpSpPr>
          <p:sp>
            <p:nvSpPr>
              <p:cNvPr id="394" name="Google Shape;394;p37"/>
              <p:cNvSpPr/>
              <p:nvPr/>
            </p:nvSpPr>
            <p:spPr>
              <a:xfrm>
                <a:off x="0" y="0"/>
                <a:ext cx="247779" cy="248507"/>
              </a:xfrm>
              <a:custGeom>
                <a:avLst/>
                <a:gdLst/>
                <a:ahLst/>
                <a:cxnLst/>
                <a:rect l="l" t="t" r="r" b="b"/>
                <a:pathLst>
                  <a:path w="247779" h="248507" extrusionOk="0">
                    <a:moveTo>
                      <a:pt x="0" y="0"/>
                    </a:moveTo>
                    <a:lnTo>
                      <a:pt x="247779" y="0"/>
                    </a:lnTo>
                    <a:lnTo>
                      <a:pt x="247779" y="248507"/>
                    </a:lnTo>
                    <a:lnTo>
                      <a:pt x="0" y="248507"/>
                    </a:lnTo>
                    <a:close/>
                  </a:path>
                </a:pathLst>
              </a:custGeom>
              <a:solidFill>
                <a:srgbClr val="BB2117"/>
              </a:solidFill>
              <a:ln>
                <a:noFill/>
              </a:ln>
            </p:spPr>
          </p:sp>
          <p:sp>
            <p:nvSpPr>
              <p:cNvPr id="395" name="Google Shape;395;p37"/>
              <p:cNvSpPr txBox="1"/>
              <p:nvPr/>
            </p:nvSpPr>
            <p:spPr>
              <a:xfrm>
                <a:off x="0" y="-47625"/>
                <a:ext cx="247778" cy="296132"/>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396" name="Google Shape;396;p37"/>
            <p:cNvSpPr/>
            <p:nvPr/>
          </p:nvSpPr>
          <p:spPr>
            <a:xfrm>
              <a:off x="2222167" y="736599"/>
              <a:ext cx="1405138" cy="1454217"/>
            </a:xfrm>
            <a:custGeom>
              <a:avLst/>
              <a:gdLst/>
              <a:ahLst/>
              <a:cxnLst/>
              <a:rect l="l" t="t" r="r" b="b"/>
              <a:pathLst>
                <a:path w="1405138" h="1454217" extrusionOk="0">
                  <a:moveTo>
                    <a:pt x="0" y="0"/>
                  </a:moveTo>
                  <a:lnTo>
                    <a:pt x="1405137" y="0"/>
                  </a:lnTo>
                  <a:lnTo>
                    <a:pt x="1405137" y="1454217"/>
                  </a:lnTo>
                  <a:lnTo>
                    <a:pt x="0" y="1454217"/>
                  </a:lnTo>
                  <a:lnTo>
                    <a:pt x="0" y="0"/>
                  </a:lnTo>
                  <a:close/>
                </a:path>
              </a:pathLst>
            </a:custGeom>
            <a:blipFill rotWithShape="1">
              <a:blip r:embed="rId2"/>
              <a:stretch>
                <a:fillRect/>
              </a:stretch>
            </a:blipFill>
            <a:ln>
              <a:noFill/>
            </a:ln>
          </p:spPr>
        </p:sp>
        <p:sp>
          <p:nvSpPr>
            <p:cNvPr id="397" name="Google Shape;397;p37"/>
            <p:cNvSpPr txBox="1"/>
            <p:nvPr/>
          </p:nvSpPr>
          <p:spPr>
            <a:xfrm>
              <a:off x="1389468" y="2150377"/>
              <a:ext cx="3138600" cy="5745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400" b="1" i="0" u="none" strike="noStrike" cap="none">
                  <a:solidFill>
                    <a:srgbClr val="F6F6F6"/>
                  </a:solidFill>
                  <a:latin typeface="Poppins" panose="00000800000000000000"/>
                  <a:ea typeface="Poppins" panose="00000800000000000000"/>
                  <a:cs typeface="Poppins" panose="00000800000000000000"/>
                  <a:sym typeface="Poppins" panose="00000800000000000000"/>
                </a:rPr>
                <a:t>Like rate</a:t>
              </a:r>
              <a:endParaRPr sz="700"/>
            </a:p>
          </p:txBody>
        </p:sp>
        <p:sp>
          <p:nvSpPr>
            <p:cNvPr id="398" name="Google Shape;398;p37"/>
            <p:cNvSpPr txBox="1"/>
            <p:nvPr/>
          </p:nvSpPr>
          <p:spPr>
            <a:xfrm>
              <a:off x="894518" y="2917977"/>
              <a:ext cx="5036700" cy="410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000" b="1" i="0" u="none" strike="noStrike" cap="none">
                  <a:solidFill>
                    <a:srgbClr val="000000"/>
                  </a:solidFill>
                  <a:latin typeface="Poppins" panose="00000800000000000000"/>
                  <a:ea typeface="Poppins" panose="00000800000000000000"/>
                  <a:cs typeface="Poppins" panose="00000800000000000000"/>
                  <a:sym typeface="Poppins" panose="00000800000000000000"/>
                </a:rPr>
                <a:t>Reach interested viewer</a:t>
              </a:r>
              <a:endParaRPr sz="700"/>
            </a:p>
          </p:txBody>
        </p:sp>
      </p:grpSp>
      <p:sp>
        <p:nvSpPr>
          <p:cNvPr id="399" name="Google Shape;399;p37"/>
          <p:cNvSpPr/>
          <p:nvPr/>
        </p:nvSpPr>
        <p:spPr>
          <a:xfrm>
            <a:off x="3961075" y="876700"/>
            <a:ext cx="4562175" cy="3160425"/>
          </a:xfrm>
          <a:custGeom>
            <a:avLst/>
            <a:gdLst/>
            <a:ahLst/>
            <a:cxnLst/>
            <a:rect l="l" t="t" r="r" b="b"/>
            <a:pathLst>
              <a:path w="8815797" h="6227438" extrusionOk="0">
                <a:moveTo>
                  <a:pt x="0" y="0"/>
                </a:moveTo>
                <a:lnTo>
                  <a:pt x="8815797" y="0"/>
                </a:lnTo>
                <a:lnTo>
                  <a:pt x="8815797" y="6227438"/>
                </a:lnTo>
                <a:lnTo>
                  <a:pt x="0" y="6227438"/>
                </a:lnTo>
                <a:lnTo>
                  <a:pt x="0" y="0"/>
                </a:lnTo>
                <a:close/>
              </a:path>
            </a:pathLst>
          </a:custGeom>
          <a:blipFill rotWithShape="1">
            <a:blip r:embed="rId3"/>
            <a:stretch>
              <a:fillRect/>
            </a:stretch>
          </a:blipFill>
          <a:ln>
            <a:noFill/>
          </a:ln>
        </p:spPr>
      </p:sp>
      <p:sp>
        <p:nvSpPr>
          <p:cNvPr id="400" name="Google Shape;400;p37"/>
          <p:cNvSpPr txBox="1"/>
          <p:nvPr/>
        </p:nvSpPr>
        <p:spPr>
          <a:xfrm>
            <a:off x="525649" y="143750"/>
            <a:ext cx="3482100" cy="492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3200" b="1" i="0" u="none" strike="noStrike" cap="none">
                <a:solidFill>
                  <a:srgbClr val="000000"/>
                </a:solidFill>
                <a:latin typeface="Ultra"/>
                <a:ea typeface="Ultra"/>
                <a:cs typeface="Ultra"/>
                <a:sym typeface="Ultra"/>
              </a:rPr>
              <a:t>Tag strategy</a:t>
            </a:r>
            <a:endParaRPr sz="700"/>
          </a:p>
        </p:txBody>
      </p:sp>
      <p:grpSp>
        <p:nvGrpSpPr>
          <p:cNvPr id="401" name="Google Shape;401;p37"/>
          <p:cNvGrpSpPr/>
          <p:nvPr/>
        </p:nvGrpSpPr>
        <p:grpSpPr>
          <a:xfrm>
            <a:off x="404678" y="4375827"/>
            <a:ext cx="2518484" cy="487650"/>
            <a:chOff x="-27" y="-32"/>
            <a:chExt cx="1326635" cy="256874"/>
          </a:xfrm>
        </p:grpSpPr>
        <p:sp>
          <p:nvSpPr>
            <p:cNvPr id="402" name="Google Shape;402;p37"/>
            <p:cNvSpPr/>
            <p:nvPr/>
          </p:nvSpPr>
          <p:spPr>
            <a:xfrm>
              <a:off x="0"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B2217"/>
            </a:solidFill>
            <a:ln>
              <a:noFill/>
            </a:ln>
          </p:spPr>
        </p:sp>
        <p:sp>
          <p:nvSpPr>
            <p:cNvPr id="403" name="Google Shape;403;p37"/>
            <p:cNvSpPr txBox="1"/>
            <p:nvPr/>
          </p:nvSpPr>
          <p:spPr>
            <a:xfrm>
              <a:off x="-27" y="-32"/>
              <a:ext cx="1326600" cy="256800"/>
            </a:xfrm>
            <a:prstGeom prst="rect">
              <a:avLst/>
            </a:prstGeom>
            <a:solidFill>
              <a:srgbClr val="BB2217"/>
            </a:solid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WHAT TAGS TO USE?</a:t>
              </a:r>
              <a:endParaRPr sz="700"/>
            </a:p>
          </p:txBody>
        </p:sp>
      </p:grpSp>
      <p:grpSp>
        <p:nvGrpSpPr>
          <p:cNvPr id="404" name="Google Shape;404;p37"/>
          <p:cNvGrpSpPr/>
          <p:nvPr/>
        </p:nvGrpSpPr>
        <p:grpSpPr>
          <a:xfrm>
            <a:off x="3300028" y="4375824"/>
            <a:ext cx="2518519" cy="487653"/>
            <a:chOff x="-46" y="-34"/>
            <a:chExt cx="1326654" cy="256876"/>
          </a:xfrm>
        </p:grpSpPr>
        <p:sp>
          <p:nvSpPr>
            <p:cNvPr id="405" name="Google Shape;405;p37"/>
            <p:cNvSpPr/>
            <p:nvPr/>
          </p:nvSpPr>
          <p:spPr>
            <a:xfrm>
              <a:off x="0"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B2217"/>
            </a:solidFill>
            <a:ln>
              <a:noFill/>
            </a:ln>
          </p:spPr>
        </p:sp>
        <p:sp>
          <p:nvSpPr>
            <p:cNvPr id="406" name="Google Shape;406;p37"/>
            <p:cNvSpPr txBox="1"/>
            <p:nvPr/>
          </p:nvSpPr>
          <p:spPr>
            <a:xfrm>
              <a:off x="-46" y="-34"/>
              <a:ext cx="1326600" cy="256800"/>
            </a:xfrm>
            <a:prstGeom prst="rect">
              <a:avLst/>
            </a:prstGeom>
            <a:solidFill>
              <a:srgbClr val="BB2217"/>
            </a:solid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HOW TO COMBINE TAGS?</a:t>
              </a:r>
              <a:endParaRPr sz="700"/>
            </a:p>
          </p:txBody>
        </p:sp>
      </p:grpSp>
      <p:grpSp>
        <p:nvGrpSpPr>
          <p:cNvPr id="407" name="Google Shape;407;p37"/>
          <p:cNvGrpSpPr/>
          <p:nvPr/>
        </p:nvGrpSpPr>
        <p:grpSpPr>
          <a:xfrm>
            <a:off x="6214302" y="4375876"/>
            <a:ext cx="2525017" cy="487601"/>
            <a:chOff x="166089" y="-6"/>
            <a:chExt cx="1330076" cy="256848"/>
          </a:xfrm>
        </p:grpSpPr>
        <p:sp>
          <p:nvSpPr>
            <p:cNvPr id="408" name="Google Shape;408;p37"/>
            <p:cNvSpPr/>
            <p:nvPr/>
          </p:nvSpPr>
          <p:spPr>
            <a:xfrm>
              <a:off x="166089"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B2217"/>
            </a:solidFill>
            <a:ln>
              <a:noFill/>
            </a:ln>
          </p:spPr>
        </p:sp>
        <p:sp>
          <p:nvSpPr>
            <p:cNvPr id="409" name="Google Shape;409;p37"/>
            <p:cNvSpPr txBox="1"/>
            <p:nvPr/>
          </p:nvSpPr>
          <p:spPr>
            <a:xfrm>
              <a:off x="169566" y="-6"/>
              <a:ext cx="1326600" cy="256800"/>
            </a:xfrm>
            <a:prstGeom prst="rect">
              <a:avLst/>
            </a:prstGeom>
            <a:solidFill>
              <a:srgbClr val="BB2217"/>
            </a:solid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HOW MANY TAGS TO USE?</a:t>
              </a:r>
              <a:endParaRPr sz="70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413" name="Shape 413"/>
        <p:cNvGrpSpPr/>
        <p:nvPr/>
      </p:nvGrpSpPr>
      <p:grpSpPr>
        <a:xfrm>
          <a:off x="0" y="0"/>
          <a:ext cx="0" cy="0"/>
          <a:chOff x="0" y="0"/>
          <a:chExt cx="0" cy="0"/>
        </a:xfrm>
      </p:grpSpPr>
      <p:sp>
        <p:nvSpPr>
          <p:cNvPr id="414" name="Google Shape;414;p38"/>
          <p:cNvSpPr/>
          <p:nvPr/>
        </p:nvSpPr>
        <p:spPr>
          <a:xfrm>
            <a:off x="528638" y="1007963"/>
            <a:ext cx="3162366" cy="1914111"/>
          </a:xfrm>
          <a:custGeom>
            <a:avLst/>
            <a:gdLst/>
            <a:ahLst/>
            <a:cxnLst/>
            <a:rect l="l" t="t" r="r" b="b"/>
            <a:pathLst>
              <a:path w="6324732" h="3828222" extrusionOk="0">
                <a:moveTo>
                  <a:pt x="0" y="0"/>
                </a:moveTo>
                <a:lnTo>
                  <a:pt x="6324732" y="0"/>
                </a:lnTo>
                <a:lnTo>
                  <a:pt x="6324732" y="3828221"/>
                </a:lnTo>
                <a:lnTo>
                  <a:pt x="0" y="3828221"/>
                </a:lnTo>
                <a:lnTo>
                  <a:pt x="0" y="0"/>
                </a:lnTo>
                <a:close/>
              </a:path>
            </a:pathLst>
          </a:custGeom>
          <a:blipFill rotWithShape="1">
            <a:blip r:embed="rId1"/>
            <a:stretch>
              <a:fillRect t="-6501"/>
            </a:stretch>
          </a:blipFill>
          <a:ln>
            <a:noFill/>
          </a:ln>
        </p:spPr>
      </p:sp>
      <p:grpSp>
        <p:nvGrpSpPr>
          <p:cNvPr id="415" name="Google Shape;415;p38"/>
          <p:cNvGrpSpPr/>
          <p:nvPr/>
        </p:nvGrpSpPr>
        <p:grpSpPr>
          <a:xfrm>
            <a:off x="514350" y="3042939"/>
            <a:ext cx="3204173" cy="1996323"/>
            <a:chOff x="0" y="-209197"/>
            <a:chExt cx="8544460" cy="5323527"/>
          </a:xfrm>
        </p:grpSpPr>
        <p:grpSp>
          <p:nvGrpSpPr>
            <p:cNvPr id="416" name="Google Shape;416;p38"/>
            <p:cNvGrpSpPr/>
            <p:nvPr/>
          </p:nvGrpSpPr>
          <p:grpSpPr>
            <a:xfrm>
              <a:off x="4407666" y="2471830"/>
              <a:ext cx="4025310" cy="2642500"/>
              <a:chOff x="0" y="-47625"/>
              <a:chExt cx="916386" cy="601581"/>
            </a:xfrm>
          </p:grpSpPr>
          <p:sp>
            <p:nvSpPr>
              <p:cNvPr id="417" name="Google Shape;417;p38"/>
              <p:cNvSpPr/>
              <p:nvPr/>
            </p:nvSpPr>
            <p:spPr>
              <a:xfrm>
                <a:off x="0" y="0"/>
                <a:ext cx="916386" cy="553956"/>
              </a:xfrm>
              <a:custGeom>
                <a:avLst/>
                <a:gdLst/>
                <a:ahLst/>
                <a:cxnLst/>
                <a:rect l="l" t="t" r="r" b="b"/>
                <a:pathLst>
                  <a:path w="916386" h="553956" extrusionOk="0">
                    <a:moveTo>
                      <a:pt x="0" y="0"/>
                    </a:moveTo>
                    <a:lnTo>
                      <a:pt x="916386" y="0"/>
                    </a:lnTo>
                    <a:lnTo>
                      <a:pt x="916386" y="553956"/>
                    </a:lnTo>
                    <a:lnTo>
                      <a:pt x="0" y="553956"/>
                    </a:lnTo>
                    <a:close/>
                  </a:path>
                </a:pathLst>
              </a:custGeom>
              <a:solidFill>
                <a:srgbClr val="D9D9D9"/>
              </a:solidFill>
              <a:ln>
                <a:noFill/>
              </a:ln>
            </p:spPr>
          </p:sp>
          <p:sp>
            <p:nvSpPr>
              <p:cNvPr id="418" name="Google Shape;418;p38"/>
              <p:cNvSpPr txBox="1"/>
              <p:nvPr/>
            </p:nvSpPr>
            <p:spPr>
              <a:xfrm>
                <a:off x="0" y="-47625"/>
                <a:ext cx="916386" cy="601581"/>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419" name="Google Shape;419;p38"/>
            <p:cNvGrpSpPr/>
            <p:nvPr/>
          </p:nvGrpSpPr>
          <p:grpSpPr>
            <a:xfrm>
              <a:off x="0" y="2471830"/>
              <a:ext cx="4025310" cy="2642500"/>
              <a:chOff x="0" y="-47625"/>
              <a:chExt cx="916386" cy="601581"/>
            </a:xfrm>
          </p:grpSpPr>
          <p:sp>
            <p:nvSpPr>
              <p:cNvPr id="420" name="Google Shape;420;p38"/>
              <p:cNvSpPr/>
              <p:nvPr/>
            </p:nvSpPr>
            <p:spPr>
              <a:xfrm>
                <a:off x="0" y="0"/>
                <a:ext cx="916386" cy="553956"/>
              </a:xfrm>
              <a:custGeom>
                <a:avLst/>
                <a:gdLst/>
                <a:ahLst/>
                <a:cxnLst/>
                <a:rect l="l" t="t" r="r" b="b"/>
                <a:pathLst>
                  <a:path w="916386" h="553956" extrusionOk="0">
                    <a:moveTo>
                      <a:pt x="0" y="0"/>
                    </a:moveTo>
                    <a:lnTo>
                      <a:pt x="916386" y="0"/>
                    </a:lnTo>
                    <a:lnTo>
                      <a:pt x="916386" y="553956"/>
                    </a:lnTo>
                    <a:lnTo>
                      <a:pt x="0" y="553956"/>
                    </a:lnTo>
                    <a:close/>
                  </a:path>
                </a:pathLst>
              </a:custGeom>
              <a:solidFill>
                <a:srgbClr val="6193C5"/>
              </a:solidFill>
              <a:ln>
                <a:noFill/>
              </a:ln>
            </p:spPr>
          </p:sp>
          <p:sp>
            <p:nvSpPr>
              <p:cNvPr id="421" name="Google Shape;421;p38"/>
              <p:cNvSpPr txBox="1"/>
              <p:nvPr/>
            </p:nvSpPr>
            <p:spPr>
              <a:xfrm>
                <a:off x="0" y="-47625"/>
                <a:ext cx="916386" cy="601581"/>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422" name="Google Shape;422;p38"/>
            <p:cNvGrpSpPr/>
            <p:nvPr/>
          </p:nvGrpSpPr>
          <p:grpSpPr>
            <a:xfrm>
              <a:off x="0" y="-190077"/>
              <a:ext cx="4025310" cy="2642500"/>
              <a:chOff x="0" y="-47625"/>
              <a:chExt cx="916386" cy="601581"/>
            </a:xfrm>
          </p:grpSpPr>
          <p:sp>
            <p:nvSpPr>
              <p:cNvPr id="423" name="Google Shape;423;p38"/>
              <p:cNvSpPr/>
              <p:nvPr/>
            </p:nvSpPr>
            <p:spPr>
              <a:xfrm>
                <a:off x="0" y="0"/>
                <a:ext cx="916386" cy="553956"/>
              </a:xfrm>
              <a:custGeom>
                <a:avLst/>
                <a:gdLst/>
                <a:ahLst/>
                <a:cxnLst/>
                <a:rect l="l" t="t" r="r" b="b"/>
                <a:pathLst>
                  <a:path w="916386" h="553956" extrusionOk="0">
                    <a:moveTo>
                      <a:pt x="0" y="0"/>
                    </a:moveTo>
                    <a:lnTo>
                      <a:pt x="916386" y="0"/>
                    </a:lnTo>
                    <a:lnTo>
                      <a:pt x="916386" y="553956"/>
                    </a:lnTo>
                    <a:lnTo>
                      <a:pt x="0" y="553956"/>
                    </a:lnTo>
                    <a:close/>
                  </a:path>
                </a:pathLst>
              </a:custGeom>
              <a:solidFill>
                <a:srgbClr val="B8E1B6"/>
              </a:solidFill>
              <a:ln>
                <a:noFill/>
              </a:ln>
            </p:spPr>
          </p:sp>
          <p:sp>
            <p:nvSpPr>
              <p:cNvPr id="424" name="Google Shape;424;p38"/>
              <p:cNvSpPr txBox="1"/>
              <p:nvPr/>
            </p:nvSpPr>
            <p:spPr>
              <a:xfrm>
                <a:off x="0" y="-47625"/>
                <a:ext cx="916386" cy="601581"/>
              </a:xfrm>
              <a:prstGeom prst="rect">
                <a:avLst/>
              </a:prstGeom>
              <a:noFill/>
              <a:ln>
                <a:noFill/>
              </a:ln>
            </p:spPr>
            <p:txBody>
              <a:bodyPr spcFirstLastPara="1" wrap="square" lIns="25400" tIns="25400" rIns="25400" bIns="25400" anchor="ctr" anchorCtr="0">
                <a:noAutofit/>
              </a:bodyPr>
              <a:lstStyle/>
              <a:p>
                <a:pPr marL="0" marR="0" lvl="0" indent="0" algn="l" rtl="0">
                  <a:lnSpc>
                    <a:spcPct val="165000"/>
                  </a:lnSpc>
                  <a:spcBef>
                    <a:spcPts val="0"/>
                  </a:spcBef>
                  <a:spcAft>
                    <a:spcPts val="0"/>
                  </a:spcAft>
                  <a:buNone/>
                </a:pPr>
                <a:endParaRPr sz="9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425" name="Google Shape;425;p38"/>
            <p:cNvGrpSpPr/>
            <p:nvPr/>
          </p:nvGrpSpPr>
          <p:grpSpPr>
            <a:xfrm>
              <a:off x="4407666" y="-209197"/>
              <a:ext cx="4025310" cy="2642500"/>
              <a:chOff x="0" y="-47625"/>
              <a:chExt cx="916386" cy="601581"/>
            </a:xfrm>
          </p:grpSpPr>
          <p:sp>
            <p:nvSpPr>
              <p:cNvPr id="426" name="Google Shape;426;p38"/>
              <p:cNvSpPr/>
              <p:nvPr/>
            </p:nvSpPr>
            <p:spPr>
              <a:xfrm>
                <a:off x="0" y="0"/>
                <a:ext cx="916386" cy="553956"/>
              </a:xfrm>
              <a:custGeom>
                <a:avLst/>
                <a:gdLst/>
                <a:ahLst/>
                <a:cxnLst/>
                <a:rect l="l" t="t" r="r" b="b"/>
                <a:pathLst>
                  <a:path w="916386" h="553956" extrusionOk="0">
                    <a:moveTo>
                      <a:pt x="0" y="0"/>
                    </a:moveTo>
                    <a:lnTo>
                      <a:pt x="916386" y="0"/>
                    </a:lnTo>
                    <a:lnTo>
                      <a:pt x="916386" y="553956"/>
                    </a:lnTo>
                    <a:lnTo>
                      <a:pt x="0" y="553956"/>
                    </a:lnTo>
                    <a:close/>
                  </a:path>
                </a:pathLst>
              </a:custGeom>
              <a:solidFill>
                <a:srgbClr val="D0584C"/>
              </a:solidFill>
              <a:ln>
                <a:noFill/>
              </a:ln>
            </p:spPr>
          </p:sp>
          <p:sp>
            <p:nvSpPr>
              <p:cNvPr id="427" name="Google Shape;427;p38"/>
              <p:cNvSpPr txBox="1"/>
              <p:nvPr/>
            </p:nvSpPr>
            <p:spPr>
              <a:xfrm>
                <a:off x="0" y="-47625"/>
                <a:ext cx="916386" cy="601581"/>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428" name="Google Shape;428;p38"/>
            <p:cNvSpPr txBox="1"/>
            <p:nvPr/>
          </p:nvSpPr>
          <p:spPr>
            <a:xfrm>
              <a:off x="104409" y="133367"/>
              <a:ext cx="1943700" cy="304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700" b="1" i="0" u="none" strike="noStrike" cap="none">
                  <a:solidFill>
                    <a:srgbClr val="000000"/>
                  </a:solidFill>
                  <a:latin typeface="Poppins" panose="00000800000000000000"/>
                  <a:ea typeface="Poppins" panose="00000800000000000000"/>
                  <a:cs typeface="Poppins" panose="00000800000000000000"/>
                  <a:sym typeface="Poppins" panose="00000800000000000000"/>
                </a:rPr>
                <a:t>1.  Identity tag</a:t>
              </a:r>
              <a:endParaRPr sz="700"/>
            </a:p>
          </p:txBody>
        </p:sp>
        <p:sp>
          <p:nvSpPr>
            <p:cNvPr id="429" name="Google Shape;429;p38"/>
            <p:cNvSpPr txBox="1"/>
            <p:nvPr/>
          </p:nvSpPr>
          <p:spPr>
            <a:xfrm>
              <a:off x="4519098" y="133367"/>
              <a:ext cx="3467400" cy="304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700" b="1" i="0" u="none" strike="noStrike" cap="none">
                  <a:solidFill>
                    <a:srgbClr val="000000"/>
                  </a:solidFill>
                  <a:latin typeface="Poppins" panose="00000800000000000000"/>
                  <a:ea typeface="Poppins" panose="00000800000000000000"/>
                  <a:cs typeface="Poppins" panose="00000800000000000000"/>
                  <a:sym typeface="Poppins" panose="00000800000000000000"/>
                </a:rPr>
                <a:t>2.  Content-specific tag</a:t>
              </a:r>
              <a:endParaRPr sz="700"/>
            </a:p>
          </p:txBody>
        </p:sp>
        <p:sp>
          <p:nvSpPr>
            <p:cNvPr id="430" name="Google Shape;430;p38"/>
            <p:cNvSpPr txBox="1"/>
            <p:nvPr/>
          </p:nvSpPr>
          <p:spPr>
            <a:xfrm>
              <a:off x="104409" y="2766506"/>
              <a:ext cx="3313800" cy="304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700" b="1" i="0" u="none" strike="noStrike" cap="none">
                  <a:solidFill>
                    <a:srgbClr val="000000"/>
                  </a:solidFill>
                  <a:latin typeface="Poppins" panose="00000800000000000000"/>
                  <a:ea typeface="Poppins" panose="00000800000000000000"/>
                  <a:cs typeface="Poppins" panose="00000800000000000000"/>
                  <a:sym typeface="Poppins" panose="00000800000000000000"/>
                </a:rPr>
                <a:t>3.  Format-chasing tags</a:t>
              </a:r>
              <a:endParaRPr sz="700"/>
            </a:p>
          </p:txBody>
        </p:sp>
        <p:sp>
          <p:nvSpPr>
            <p:cNvPr id="431" name="Google Shape;431;p38"/>
            <p:cNvSpPr txBox="1"/>
            <p:nvPr/>
          </p:nvSpPr>
          <p:spPr>
            <a:xfrm>
              <a:off x="4519060" y="2766499"/>
              <a:ext cx="4025400" cy="287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700" b="1" i="0" u="none" strike="noStrike" cap="none">
                  <a:solidFill>
                    <a:srgbClr val="000000"/>
                  </a:solidFill>
                  <a:latin typeface="Poppins" panose="00000800000000000000"/>
                  <a:ea typeface="Poppins" panose="00000800000000000000"/>
                  <a:cs typeface="Poppins" panose="00000800000000000000"/>
                  <a:sym typeface="Poppins" panose="00000800000000000000"/>
                </a:rPr>
                <a:t>3.  Audience-descriptor tags</a:t>
              </a:r>
              <a:endParaRPr sz="700"/>
            </a:p>
          </p:txBody>
        </p:sp>
      </p:grpSp>
      <p:sp>
        <p:nvSpPr>
          <p:cNvPr id="432" name="Google Shape;432;p38"/>
          <p:cNvSpPr txBox="1"/>
          <p:nvPr/>
        </p:nvSpPr>
        <p:spPr>
          <a:xfrm>
            <a:off x="947309" y="790188"/>
            <a:ext cx="2729400" cy="145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1" i="0" u="none" strike="noStrike" cap="none">
                <a:solidFill>
                  <a:srgbClr val="000000"/>
                </a:solidFill>
                <a:latin typeface="Poppins" panose="00000800000000000000"/>
                <a:ea typeface="Poppins" panose="00000800000000000000"/>
                <a:cs typeface="Poppins" panose="00000800000000000000"/>
                <a:sym typeface="Poppins" panose="00000800000000000000"/>
              </a:rPr>
              <a:t>Tag performance: Like Rate vs View Count</a:t>
            </a:r>
            <a:endParaRPr sz="700"/>
          </a:p>
        </p:txBody>
      </p:sp>
      <p:cxnSp>
        <p:nvCxnSpPr>
          <p:cNvPr id="433" name="Google Shape;433;p38"/>
          <p:cNvCxnSpPr/>
          <p:nvPr/>
        </p:nvCxnSpPr>
        <p:spPr>
          <a:xfrm rot="10800000">
            <a:off x="4276055" y="750161"/>
            <a:ext cx="0" cy="4289100"/>
          </a:xfrm>
          <a:prstGeom prst="straightConnector1">
            <a:avLst/>
          </a:prstGeom>
          <a:noFill/>
          <a:ln w="9525" cap="flat" cmpd="sng">
            <a:solidFill>
              <a:srgbClr val="000000"/>
            </a:solidFill>
            <a:prstDash val="solid"/>
            <a:round/>
            <a:headEnd type="none" w="sm" len="sm"/>
            <a:tailEnd type="none" w="sm" len="sm"/>
          </a:ln>
        </p:spPr>
      </p:cxnSp>
      <p:cxnSp>
        <p:nvCxnSpPr>
          <p:cNvPr id="434" name="Google Shape;434;p38"/>
          <p:cNvCxnSpPr/>
          <p:nvPr/>
        </p:nvCxnSpPr>
        <p:spPr>
          <a:xfrm rot="10800000">
            <a:off x="4276197" y="3022902"/>
            <a:ext cx="4867800" cy="6900"/>
          </a:xfrm>
          <a:prstGeom prst="straightConnector1">
            <a:avLst/>
          </a:prstGeom>
          <a:noFill/>
          <a:ln w="9525" cap="flat" cmpd="sng">
            <a:solidFill>
              <a:srgbClr val="000000"/>
            </a:solidFill>
            <a:prstDash val="solid"/>
            <a:round/>
            <a:headEnd type="none" w="sm" len="sm"/>
            <a:tailEnd type="none" w="sm" len="sm"/>
          </a:ln>
        </p:spPr>
      </p:cxnSp>
      <p:grpSp>
        <p:nvGrpSpPr>
          <p:cNvPr id="435" name="Google Shape;435;p38"/>
          <p:cNvGrpSpPr/>
          <p:nvPr/>
        </p:nvGrpSpPr>
        <p:grpSpPr>
          <a:xfrm>
            <a:off x="4642566" y="1007963"/>
            <a:ext cx="4284145" cy="1660049"/>
            <a:chOff x="0" y="0"/>
            <a:chExt cx="11424386" cy="4426798"/>
          </a:xfrm>
        </p:grpSpPr>
        <p:sp>
          <p:nvSpPr>
            <p:cNvPr id="436" name="Google Shape;436;p38"/>
            <p:cNvSpPr/>
            <p:nvPr/>
          </p:nvSpPr>
          <p:spPr>
            <a:xfrm>
              <a:off x="0" y="0"/>
              <a:ext cx="11424386" cy="3492333"/>
            </a:xfrm>
            <a:custGeom>
              <a:avLst/>
              <a:gdLst/>
              <a:ahLst/>
              <a:cxnLst/>
              <a:rect l="l" t="t" r="r" b="b"/>
              <a:pathLst>
                <a:path w="11424386" h="3492333" extrusionOk="0">
                  <a:moveTo>
                    <a:pt x="0" y="0"/>
                  </a:moveTo>
                  <a:lnTo>
                    <a:pt x="11424386" y="0"/>
                  </a:lnTo>
                  <a:lnTo>
                    <a:pt x="11424386" y="3492333"/>
                  </a:lnTo>
                  <a:lnTo>
                    <a:pt x="0" y="3492333"/>
                  </a:lnTo>
                  <a:lnTo>
                    <a:pt x="0" y="0"/>
                  </a:lnTo>
                  <a:close/>
                </a:path>
              </a:pathLst>
            </a:custGeom>
            <a:blipFill rotWithShape="1">
              <a:blip r:embed="rId2"/>
              <a:stretch>
                <a:fillRect t="-1031" b="-1031"/>
              </a:stretch>
            </a:blipFill>
            <a:ln>
              <a:noFill/>
            </a:ln>
          </p:spPr>
        </p:sp>
        <p:grpSp>
          <p:nvGrpSpPr>
            <p:cNvPr id="437" name="Google Shape;437;p38"/>
            <p:cNvGrpSpPr/>
            <p:nvPr/>
          </p:nvGrpSpPr>
          <p:grpSpPr>
            <a:xfrm>
              <a:off x="0" y="3251232"/>
              <a:ext cx="1752264" cy="1175566"/>
              <a:chOff x="0" y="-47625"/>
              <a:chExt cx="346126" cy="232211"/>
            </a:xfrm>
          </p:grpSpPr>
          <p:sp>
            <p:nvSpPr>
              <p:cNvPr id="438" name="Google Shape;438;p38"/>
              <p:cNvSpPr/>
              <p:nvPr/>
            </p:nvSpPr>
            <p:spPr>
              <a:xfrm>
                <a:off x="0" y="0"/>
                <a:ext cx="346126" cy="184586"/>
              </a:xfrm>
              <a:custGeom>
                <a:avLst/>
                <a:gdLst/>
                <a:ahLst/>
                <a:cxnLst/>
                <a:rect l="l" t="t" r="r" b="b"/>
                <a:pathLst>
                  <a:path w="346126" h="184586" extrusionOk="0">
                    <a:moveTo>
                      <a:pt x="0" y="0"/>
                    </a:moveTo>
                    <a:lnTo>
                      <a:pt x="346126" y="0"/>
                    </a:lnTo>
                    <a:lnTo>
                      <a:pt x="346126" y="184586"/>
                    </a:lnTo>
                    <a:lnTo>
                      <a:pt x="0" y="184586"/>
                    </a:lnTo>
                    <a:close/>
                  </a:path>
                </a:pathLst>
              </a:custGeom>
              <a:solidFill>
                <a:srgbClr val="BB2117"/>
              </a:solidFill>
              <a:ln>
                <a:noFill/>
              </a:ln>
            </p:spPr>
          </p:sp>
          <p:sp>
            <p:nvSpPr>
              <p:cNvPr id="439" name="Google Shape;439;p38"/>
              <p:cNvSpPr txBox="1"/>
              <p:nvPr/>
            </p:nvSpPr>
            <p:spPr>
              <a:xfrm>
                <a:off x="0" y="-47625"/>
                <a:ext cx="346126" cy="232211"/>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900" b="1" i="0" u="none" strike="noStrike" cap="none">
                    <a:solidFill>
                      <a:srgbClr val="FFFFFF"/>
                    </a:solidFill>
                    <a:latin typeface="Poppins" panose="00000800000000000000"/>
                    <a:ea typeface="Poppins" panose="00000800000000000000"/>
                    <a:cs typeface="Poppins" panose="00000800000000000000"/>
                    <a:sym typeface="Poppins" panose="00000800000000000000"/>
                  </a:rPr>
                  <a:t>LIKE RATE</a:t>
                </a:r>
                <a:endParaRPr sz="700"/>
              </a:p>
            </p:txBody>
          </p:sp>
        </p:grpSp>
        <p:grpSp>
          <p:nvGrpSpPr>
            <p:cNvPr id="440" name="Google Shape;440;p38"/>
            <p:cNvGrpSpPr/>
            <p:nvPr/>
          </p:nvGrpSpPr>
          <p:grpSpPr>
            <a:xfrm>
              <a:off x="1752264" y="3347672"/>
              <a:ext cx="9672122" cy="1079126"/>
              <a:chOff x="0" y="-28575"/>
              <a:chExt cx="1910543" cy="213161"/>
            </a:xfrm>
          </p:grpSpPr>
          <p:sp>
            <p:nvSpPr>
              <p:cNvPr id="441" name="Google Shape;441;p38"/>
              <p:cNvSpPr/>
              <p:nvPr/>
            </p:nvSpPr>
            <p:spPr>
              <a:xfrm>
                <a:off x="0" y="0"/>
                <a:ext cx="1910543" cy="184586"/>
              </a:xfrm>
              <a:custGeom>
                <a:avLst/>
                <a:gdLst/>
                <a:ahLst/>
                <a:cxnLst/>
                <a:rect l="l" t="t" r="r" b="b"/>
                <a:pathLst>
                  <a:path w="1910543" h="184586" extrusionOk="0">
                    <a:moveTo>
                      <a:pt x="0" y="0"/>
                    </a:moveTo>
                    <a:lnTo>
                      <a:pt x="1910543" y="0"/>
                    </a:lnTo>
                    <a:lnTo>
                      <a:pt x="1910543" y="184586"/>
                    </a:lnTo>
                    <a:lnTo>
                      <a:pt x="0" y="184586"/>
                    </a:lnTo>
                    <a:close/>
                  </a:path>
                </a:pathLst>
              </a:custGeom>
              <a:solidFill>
                <a:srgbClr val="FFFFFF"/>
              </a:solidFill>
              <a:ln>
                <a:noFill/>
              </a:ln>
            </p:spPr>
          </p:sp>
          <p:sp>
            <p:nvSpPr>
              <p:cNvPr id="442" name="Google Shape;442;p38"/>
              <p:cNvSpPr txBox="1"/>
              <p:nvPr/>
            </p:nvSpPr>
            <p:spPr>
              <a:xfrm>
                <a:off x="0" y="-28575"/>
                <a:ext cx="1910543" cy="213161"/>
              </a:xfrm>
              <a:prstGeom prst="rect">
                <a:avLst/>
              </a:prstGeom>
              <a:noFill/>
              <a:ln>
                <a:noFill/>
              </a:ln>
            </p:spPr>
            <p:txBody>
              <a:bodyPr spcFirstLastPara="1" wrap="square" lIns="25400" tIns="25400" rIns="25400" bIns="25400" anchor="ctr" anchorCtr="0">
                <a:noAutofit/>
              </a:bodyPr>
              <a:lstStyle/>
              <a:p>
                <a:pPr marL="0" marR="0" lvl="0" indent="0" algn="ctr" rtl="0">
                  <a:lnSpc>
                    <a:spcPct val="91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443" name="Google Shape;443;p38"/>
            <p:cNvSpPr txBox="1"/>
            <p:nvPr/>
          </p:nvSpPr>
          <p:spPr>
            <a:xfrm>
              <a:off x="2062745" y="3559022"/>
              <a:ext cx="9361500" cy="753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1" i="0" u="none" strike="noStrike" cap="none">
                  <a:solidFill>
                    <a:srgbClr val="000000"/>
                  </a:solidFill>
                  <a:latin typeface="Poppins" panose="00000800000000000000"/>
                  <a:ea typeface="Poppins" panose="00000800000000000000"/>
                  <a:cs typeface="Poppins" panose="00000800000000000000"/>
                  <a:sym typeface="Poppins" panose="00000800000000000000"/>
                </a:rPr>
                <a:t>Tags with high like rates are mostly </a:t>
              </a:r>
              <a:r>
                <a:rPr lang="en-GB" sz="800" b="1" i="0" u="none" strike="noStrike" cap="none">
                  <a:solidFill>
                    <a:srgbClr val="569C64"/>
                  </a:solidFill>
                  <a:latin typeface="Poppins" panose="00000800000000000000"/>
                  <a:ea typeface="Poppins" panose="00000800000000000000"/>
                  <a:cs typeface="Poppins" panose="00000800000000000000"/>
                  <a:sym typeface="Poppins" panose="00000800000000000000"/>
                </a:rPr>
                <a:t>identity tags (27%)</a:t>
              </a:r>
              <a:r>
                <a:rPr lang="en-GB" sz="800" b="1" i="0" u="none" strike="noStrike" cap="none">
                  <a:solidFill>
                    <a:srgbClr val="000000"/>
                  </a:solidFill>
                  <a:latin typeface="Poppins" panose="00000800000000000000"/>
                  <a:ea typeface="Poppins" panose="00000800000000000000"/>
                  <a:cs typeface="Poppins" panose="00000800000000000000"/>
                  <a:sym typeface="Poppins" panose="00000800000000000000"/>
                </a:rPr>
                <a:t> and </a:t>
              </a:r>
              <a:r>
                <a:rPr lang="en-GB" sz="800" b="1" i="0" u="none" strike="noStrike" cap="none">
                  <a:solidFill>
                    <a:srgbClr val="D0584C"/>
                  </a:solidFill>
                  <a:latin typeface="Poppins" panose="00000800000000000000"/>
                  <a:ea typeface="Poppins" panose="00000800000000000000"/>
                  <a:cs typeface="Poppins" panose="00000800000000000000"/>
                  <a:sym typeface="Poppins" panose="00000800000000000000"/>
                </a:rPr>
                <a:t>content-specific (47%)</a:t>
              </a:r>
              <a:r>
                <a:rPr lang="en-GB" sz="800" b="1" i="0" u="none" strike="noStrike" cap="none">
                  <a:solidFill>
                    <a:srgbClr val="000000"/>
                  </a:solidFill>
                  <a:latin typeface="Poppins" panose="00000800000000000000"/>
                  <a:ea typeface="Poppins" panose="00000800000000000000"/>
                  <a:cs typeface="Poppins" panose="00000800000000000000"/>
                  <a:sym typeface="Poppins" panose="00000800000000000000"/>
                </a:rPr>
                <a:t> tags</a:t>
              </a:r>
              <a:endParaRPr sz="700"/>
            </a:p>
          </p:txBody>
        </p:sp>
      </p:grpSp>
      <p:grpSp>
        <p:nvGrpSpPr>
          <p:cNvPr id="444" name="Google Shape;444;p38"/>
          <p:cNvGrpSpPr/>
          <p:nvPr/>
        </p:nvGrpSpPr>
        <p:grpSpPr>
          <a:xfrm>
            <a:off x="4642566" y="3197147"/>
            <a:ext cx="4293640" cy="1687055"/>
            <a:chOff x="0" y="0"/>
            <a:chExt cx="11449706" cy="4498812"/>
          </a:xfrm>
        </p:grpSpPr>
        <p:sp>
          <p:nvSpPr>
            <p:cNvPr id="445" name="Google Shape;445;p38"/>
            <p:cNvSpPr/>
            <p:nvPr/>
          </p:nvSpPr>
          <p:spPr>
            <a:xfrm>
              <a:off x="0" y="0"/>
              <a:ext cx="11424386" cy="3564347"/>
            </a:xfrm>
            <a:custGeom>
              <a:avLst/>
              <a:gdLst/>
              <a:ahLst/>
              <a:cxnLst/>
              <a:rect l="l" t="t" r="r" b="b"/>
              <a:pathLst>
                <a:path w="11424386" h="3564347" extrusionOk="0">
                  <a:moveTo>
                    <a:pt x="0" y="0"/>
                  </a:moveTo>
                  <a:lnTo>
                    <a:pt x="11424386" y="0"/>
                  </a:lnTo>
                  <a:lnTo>
                    <a:pt x="11424386" y="3564347"/>
                  </a:lnTo>
                  <a:lnTo>
                    <a:pt x="0" y="3564347"/>
                  </a:lnTo>
                  <a:lnTo>
                    <a:pt x="0" y="0"/>
                  </a:lnTo>
                  <a:close/>
                </a:path>
              </a:pathLst>
            </a:custGeom>
            <a:blipFill rotWithShape="1">
              <a:blip r:embed="rId3"/>
              <a:stretch>
                <a:fillRect/>
              </a:stretch>
            </a:blipFill>
            <a:ln>
              <a:noFill/>
            </a:ln>
          </p:spPr>
        </p:sp>
        <p:grpSp>
          <p:nvGrpSpPr>
            <p:cNvPr id="446" name="Google Shape;446;p38"/>
            <p:cNvGrpSpPr/>
            <p:nvPr/>
          </p:nvGrpSpPr>
          <p:grpSpPr>
            <a:xfrm>
              <a:off x="1752264" y="3419686"/>
              <a:ext cx="9672122" cy="1079126"/>
              <a:chOff x="0" y="-28575"/>
              <a:chExt cx="1910543" cy="213161"/>
            </a:xfrm>
          </p:grpSpPr>
          <p:sp>
            <p:nvSpPr>
              <p:cNvPr id="447" name="Google Shape;447;p38"/>
              <p:cNvSpPr/>
              <p:nvPr/>
            </p:nvSpPr>
            <p:spPr>
              <a:xfrm>
                <a:off x="0" y="0"/>
                <a:ext cx="1910543" cy="184586"/>
              </a:xfrm>
              <a:custGeom>
                <a:avLst/>
                <a:gdLst/>
                <a:ahLst/>
                <a:cxnLst/>
                <a:rect l="l" t="t" r="r" b="b"/>
                <a:pathLst>
                  <a:path w="1910543" h="184586" extrusionOk="0">
                    <a:moveTo>
                      <a:pt x="0" y="0"/>
                    </a:moveTo>
                    <a:lnTo>
                      <a:pt x="1910543" y="0"/>
                    </a:lnTo>
                    <a:lnTo>
                      <a:pt x="1910543" y="184586"/>
                    </a:lnTo>
                    <a:lnTo>
                      <a:pt x="0" y="184586"/>
                    </a:lnTo>
                    <a:close/>
                  </a:path>
                </a:pathLst>
              </a:custGeom>
              <a:solidFill>
                <a:srgbClr val="FFFFFF"/>
              </a:solidFill>
              <a:ln>
                <a:noFill/>
              </a:ln>
            </p:spPr>
          </p:sp>
          <p:sp>
            <p:nvSpPr>
              <p:cNvPr id="448" name="Google Shape;448;p38"/>
              <p:cNvSpPr txBox="1"/>
              <p:nvPr/>
            </p:nvSpPr>
            <p:spPr>
              <a:xfrm>
                <a:off x="0" y="-28575"/>
                <a:ext cx="1910543" cy="213161"/>
              </a:xfrm>
              <a:prstGeom prst="rect">
                <a:avLst/>
              </a:prstGeom>
              <a:noFill/>
              <a:ln>
                <a:noFill/>
              </a:ln>
            </p:spPr>
            <p:txBody>
              <a:bodyPr spcFirstLastPara="1" wrap="square" lIns="25400" tIns="25400" rIns="25400" bIns="25400" anchor="ctr" anchorCtr="0">
                <a:noAutofit/>
              </a:bodyPr>
              <a:lstStyle/>
              <a:p>
                <a:pPr marL="0" marR="0" lvl="0" indent="0" algn="ctr" rtl="0">
                  <a:lnSpc>
                    <a:spcPct val="91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449" name="Google Shape;449;p38"/>
            <p:cNvSpPr txBox="1"/>
            <p:nvPr/>
          </p:nvSpPr>
          <p:spPr>
            <a:xfrm>
              <a:off x="2022206" y="3821536"/>
              <a:ext cx="9427500" cy="372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1" i="0" u="none" strike="noStrike" cap="none">
                  <a:solidFill>
                    <a:srgbClr val="000000"/>
                  </a:solidFill>
                  <a:latin typeface="Poppins" panose="00000800000000000000"/>
                  <a:ea typeface="Poppins" panose="00000800000000000000"/>
                  <a:cs typeface="Poppins" panose="00000800000000000000"/>
                  <a:sym typeface="Poppins" panose="00000800000000000000"/>
                </a:rPr>
                <a:t>Tags with high views are mostly </a:t>
              </a:r>
              <a:r>
                <a:rPr lang="en-GB" sz="800" b="1" i="0" u="none" strike="noStrike" cap="none">
                  <a:solidFill>
                    <a:srgbClr val="6193C5"/>
                  </a:solidFill>
                  <a:latin typeface="Poppins" panose="00000800000000000000"/>
                  <a:ea typeface="Poppins" panose="00000800000000000000"/>
                  <a:cs typeface="Poppins" panose="00000800000000000000"/>
                  <a:sym typeface="Poppins" panose="00000800000000000000"/>
                </a:rPr>
                <a:t>Formating-chasing (46%)</a:t>
              </a:r>
              <a:endParaRPr sz="700"/>
            </a:p>
          </p:txBody>
        </p:sp>
        <p:grpSp>
          <p:nvGrpSpPr>
            <p:cNvPr id="450" name="Google Shape;450;p38"/>
            <p:cNvGrpSpPr/>
            <p:nvPr/>
          </p:nvGrpSpPr>
          <p:grpSpPr>
            <a:xfrm>
              <a:off x="0" y="3323246"/>
              <a:ext cx="1752264" cy="1175566"/>
              <a:chOff x="0" y="-47625"/>
              <a:chExt cx="346126" cy="232211"/>
            </a:xfrm>
          </p:grpSpPr>
          <p:sp>
            <p:nvSpPr>
              <p:cNvPr id="451" name="Google Shape;451;p38"/>
              <p:cNvSpPr/>
              <p:nvPr/>
            </p:nvSpPr>
            <p:spPr>
              <a:xfrm>
                <a:off x="0" y="0"/>
                <a:ext cx="346126" cy="184586"/>
              </a:xfrm>
              <a:custGeom>
                <a:avLst/>
                <a:gdLst/>
                <a:ahLst/>
                <a:cxnLst/>
                <a:rect l="l" t="t" r="r" b="b"/>
                <a:pathLst>
                  <a:path w="346126" h="184586" extrusionOk="0">
                    <a:moveTo>
                      <a:pt x="0" y="0"/>
                    </a:moveTo>
                    <a:lnTo>
                      <a:pt x="346126" y="0"/>
                    </a:lnTo>
                    <a:lnTo>
                      <a:pt x="346126" y="184586"/>
                    </a:lnTo>
                    <a:lnTo>
                      <a:pt x="0" y="184586"/>
                    </a:lnTo>
                    <a:close/>
                  </a:path>
                </a:pathLst>
              </a:custGeom>
              <a:solidFill>
                <a:srgbClr val="BB2117"/>
              </a:solidFill>
              <a:ln>
                <a:noFill/>
              </a:ln>
            </p:spPr>
          </p:sp>
          <p:sp>
            <p:nvSpPr>
              <p:cNvPr id="452" name="Google Shape;452;p38"/>
              <p:cNvSpPr txBox="1"/>
              <p:nvPr/>
            </p:nvSpPr>
            <p:spPr>
              <a:xfrm>
                <a:off x="0" y="-47625"/>
                <a:ext cx="346126" cy="232211"/>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900" b="1" i="0" u="none" strike="noStrike" cap="none">
                    <a:solidFill>
                      <a:srgbClr val="FFFFFF"/>
                    </a:solidFill>
                    <a:latin typeface="Poppins" panose="00000800000000000000"/>
                    <a:ea typeface="Poppins" panose="00000800000000000000"/>
                    <a:cs typeface="Poppins" panose="00000800000000000000"/>
                    <a:sym typeface="Poppins" panose="00000800000000000000"/>
                  </a:rPr>
                  <a:t>VIEW</a:t>
                </a:r>
                <a:endParaRPr sz="700"/>
              </a:p>
            </p:txBody>
          </p:sp>
        </p:grpSp>
      </p:grpSp>
      <p:sp>
        <p:nvSpPr>
          <p:cNvPr id="453" name="Google Shape;453;p38"/>
          <p:cNvSpPr txBox="1"/>
          <p:nvPr/>
        </p:nvSpPr>
        <p:spPr>
          <a:xfrm>
            <a:off x="586343" y="3323575"/>
            <a:ext cx="1311000" cy="6651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Simple life</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 first video</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Youtubegrowth</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Small creator</a:t>
            </a:r>
            <a:endParaRPr sz="600" b="1">
              <a:solidFill>
                <a:schemeClr val="dk1"/>
              </a:solidFill>
              <a:latin typeface="Poppins" panose="00000800000000000000"/>
              <a:ea typeface="Poppins" panose="00000800000000000000"/>
              <a:cs typeface="Poppins" panose="00000800000000000000"/>
              <a:sym typeface="Poppins" panose="00000800000000000000"/>
            </a:endParaRPr>
          </a:p>
        </p:txBody>
      </p:sp>
      <p:sp>
        <p:nvSpPr>
          <p:cNvPr id="454" name="Google Shape;454;p38"/>
          <p:cNvSpPr txBox="1"/>
          <p:nvPr/>
        </p:nvSpPr>
        <p:spPr>
          <a:xfrm>
            <a:off x="2272693" y="3323575"/>
            <a:ext cx="1311000" cy="6651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Gaming</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Daily routine</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A day in my life</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Study vlog</a:t>
            </a:r>
            <a:endParaRPr sz="600" b="1">
              <a:solidFill>
                <a:schemeClr val="dk1"/>
              </a:solidFill>
              <a:latin typeface="Poppins" panose="00000800000000000000"/>
              <a:ea typeface="Poppins" panose="00000800000000000000"/>
              <a:cs typeface="Poppins" panose="00000800000000000000"/>
              <a:sym typeface="Poppins" panose="00000800000000000000"/>
            </a:endParaRPr>
          </a:p>
        </p:txBody>
      </p:sp>
      <p:sp>
        <p:nvSpPr>
          <p:cNvPr id="455" name="Google Shape;455;p38"/>
          <p:cNvSpPr txBox="1"/>
          <p:nvPr/>
        </p:nvSpPr>
        <p:spPr>
          <a:xfrm>
            <a:off x="586343" y="4225725"/>
            <a:ext cx="1311000" cy="7944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Viral video</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Trending video</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Shorts video</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Minivlogs</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Shorts viral</a:t>
            </a:r>
            <a:endParaRPr sz="600" b="1">
              <a:solidFill>
                <a:schemeClr val="dk1"/>
              </a:solidFill>
              <a:latin typeface="Poppins" panose="00000800000000000000"/>
              <a:ea typeface="Poppins" panose="00000800000000000000"/>
              <a:cs typeface="Poppins" panose="00000800000000000000"/>
              <a:sym typeface="Poppins" panose="00000800000000000000"/>
            </a:endParaRPr>
          </a:p>
        </p:txBody>
      </p:sp>
      <p:sp>
        <p:nvSpPr>
          <p:cNvPr id="456" name="Google Shape;456;p38"/>
          <p:cNvSpPr txBox="1"/>
          <p:nvPr/>
        </p:nvSpPr>
        <p:spPr>
          <a:xfrm>
            <a:off x="2291818" y="4313725"/>
            <a:ext cx="1311000" cy="7944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India</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Students</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Productive</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r>
              <a:rPr lang="en-GB" sz="600" b="1">
                <a:solidFill>
                  <a:schemeClr val="dk1"/>
                </a:solidFill>
                <a:latin typeface="Poppins" panose="00000800000000000000"/>
                <a:ea typeface="Poppins" panose="00000800000000000000"/>
                <a:cs typeface="Poppins" panose="00000800000000000000"/>
                <a:sym typeface="Poppins" panose="00000800000000000000"/>
              </a:rPr>
              <a:t>College</a:t>
            </a:r>
            <a:endParaRPr sz="600" b="1">
              <a:solidFill>
                <a:schemeClr val="dk1"/>
              </a:solidFill>
              <a:latin typeface="Poppins" panose="00000800000000000000"/>
              <a:ea typeface="Poppins" panose="00000800000000000000"/>
              <a:cs typeface="Poppins" panose="00000800000000000000"/>
              <a:sym typeface="Poppins" panose="00000800000000000000"/>
            </a:endParaRPr>
          </a:p>
          <a:p>
            <a:pPr marL="0" lvl="0" indent="0" algn="l" rtl="0">
              <a:lnSpc>
                <a:spcPct val="140000"/>
              </a:lnSpc>
              <a:spcBef>
                <a:spcPts val="0"/>
              </a:spcBef>
              <a:spcAft>
                <a:spcPts val="0"/>
              </a:spcAft>
              <a:buNone/>
            </a:pPr>
            <a:endParaRPr sz="600" b="1">
              <a:solidFill>
                <a:schemeClr val="dk1"/>
              </a:solidFill>
              <a:latin typeface="Poppins" panose="00000800000000000000"/>
              <a:ea typeface="Poppins" panose="00000800000000000000"/>
              <a:cs typeface="Poppins" panose="00000800000000000000"/>
              <a:sym typeface="Poppins" panose="00000800000000000000"/>
            </a:endParaRPr>
          </a:p>
        </p:txBody>
      </p:sp>
      <p:grpSp>
        <p:nvGrpSpPr>
          <p:cNvPr id="457" name="Google Shape;457;p38"/>
          <p:cNvGrpSpPr/>
          <p:nvPr/>
        </p:nvGrpSpPr>
        <p:grpSpPr>
          <a:xfrm>
            <a:off x="403053" y="165127"/>
            <a:ext cx="2518484" cy="487650"/>
            <a:chOff x="-27" y="-32"/>
            <a:chExt cx="1326635" cy="256874"/>
          </a:xfrm>
        </p:grpSpPr>
        <p:sp>
          <p:nvSpPr>
            <p:cNvPr id="458" name="Google Shape;458;p38"/>
            <p:cNvSpPr/>
            <p:nvPr/>
          </p:nvSpPr>
          <p:spPr>
            <a:xfrm>
              <a:off x="0"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B2217"/>
            </a:solidFill>
            <a:ln>
              <a:noFill/>
            </a:ln>
          </p:spPr>
        </p:sp>
        <p:sp>
          <p:nvSpPr>
            <p:cNvPr id="459" name="Google Shape;459;p38"/>
            <p:cNvSpPr txBox="1"/>
            <p:nvPr/>
          </p:nvSpPr>
          <p:spPr>
            <a:xfrm>
              <a:off x="-27" y="-32"/>
              <a:ext cx="1326600" cy="256800"/>
            </a:xfrm>
            <a:prstGeom prst="rect">
              <a:avLst/>
            </a:prstGeom>
            <a:solidFill>
              <a:srgbClr val="BB2217"/>
            </a:solid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WHAT TAGS TO USE?</a:t>
              </a:r>
              <a:endParaRPr sz="700"/>
            </a:p>
          </p:txBody>
        </p:sp>
      </p:grpSp>
      <p:grpSp>
        <p:nvGrpSpPr>
          <p:cNvPr id="460" name="Google Shape;460;p38"/>
          <p:cNvGrpSpPr/>
          <p:nvPr/>
        </p:nvGrpSpPr>
        <p:grpSpPr>
          <a:xfrm>
            <a:off x="3298403" y="165124"/>
            <a:ext cx="2518519" cy="487653"/>
            <a:chOff x="-46" y="-34"/>
            <a:chExt cx="1326654" cy="256876"/>
          </a:xfrm>
        </p:grpSpPr>
        <p:sp>
          <p:nvSpPr>
            <p:cNvPr id="461" name="Google Shape;461;p38"/>
            <p:cNvSpPr/>
            <p:nvPr/>
          </p:nvSpPr>
          <p:spPr>
            <a:xfrm>
              <a:off x="0"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B2117"/>
            </a:solidFill>
            <a:ln>
              <a:noFill/>
            </a:ln>
          </p:spPr>
        </p:sp>
        <p:sp>
          <p:nvSpPr>
            <p:cNvPr id="462" name="Google Shape;462;p38"/>
            <p:cNvSpPr txBox="1"/>
            <p:nvPr/>
          </p:nvSpPr>
          <p:spPr>
            <a:xfrm>
              <a:off x="-46" y="-34"/>
              <a:ext cx="1326600" cy="256800"/>
            </a:xfrm>
            <a:prstGeom prst="rect">
              <a:avLst/>
            </a:prstGeom>
            <a:solidFill>
              <a:srgbClr val="B0A9A9"/>
            </a:solid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HOW TO COMBINE TAGS?</a:t>
              </a:r>
              <a:endParaRPr sz="700"/>
            </a:p>
          </p:txBody>
        </p:sp>
      </p:grpSp>
      <p:grpSp>
        <p:nvGrpSpPr>
          <p:cNvPr id="463" name="Google Shape;463;p38"/>
          <p:cNvGrpSpPr/>
          <p:nvPr/>
        </p:nvGrpSpPr>
        <p:grpSpPr>
          <a:xfrm>
            <a:off x="6212677" y="165176"/>
            <a:ext cx="2525017" cy="487601"/>
            <a:chOff x="166089" y="-6"/>
            <a:chExt cx="1330076" cy="256848"/>
          </a:xfrm>
        </p:grpSpPr>
        <p:sp>
          <p:nvSpPr>
            <p:cNvPr id="464" name="Google Shape;464;p38"/>
            <p:cNvSpPr/>
            <p:nvPr/>
          </p:nvSpPr>
          <p:spPr>
            <a:xfrm>
              <a:off x="166089"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4B4B4"/>
            </a:solidFill>
            <a:ln>
              <a:noFill/>
            </a:ln>
          </p:spPr>
        </p:sp>
        <p:sp>
          <p:nvSpPr>
            <p:cNvPr id="465" name="Google Shape;465;p38"/>
            <p:cNvSpPr txBox="1"/>
            <p:nvPr/>
          </p:nvSpPr>
          <p:spPr>
            <a:xfrm>
              <a:off x="169566" y="-6"/>
              <a:ext cx="1326600" cy="2568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HOW MANY TAGS TO USE?</a:t>
              </a:r>
              <a:endParaRPr sz="70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469" name="Shape 469"/>
        <p:cNvGrpSpPr/>
        <p:nvPr/>
      </p:nvGrpSpPr>
      <p:grpSpPr>
        <a:xfrm>
          <a:off x="0" y="0"/>
          <a:ext cx="0" cy="0"/>
          <a:chOff x="0" y="0"/>
          <a:chExt cx="0" cy="0"/>
        </a:xfrm>
      </p:grpSpPr>
      <p:grpSp>
        <p:nvGrpSpPr>
          <p:cNvPr id="470" name="Google Shape;470;p39"/>
          <p:cNvGrpSpPr/>
          <p:nvPr/>
        </p:nvGrpSpPr>
        <p:grpSpPr>
          <a:xfrm>
            <a:off x="403053" y="165127"/>
            <a:ext cx="2518484" cy="487650"/>
            <a:chOff x="-27" y="-32"/>
            <a:chExt cx="1326635" cy="256874"/>
          </a:xfrm>
        </p:grpSpPr>
        <p:sp>
          <p:nvSpPr>
            <p:cNvPr id="471" name="Google Shape;471;p39"/>
            <p:cNvSpPr/>
            <p:nvPr/>
          </p:nvSpPr>
          <p:spPr>
            <a:xfrm>
              <a:off x="0"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0AAA9"/>
            </a:solidFill>
            <a:ln>
              <a:noFill/>
            </a:ln>
          </p:spPr>
        </p:sp>
        <p:sp>
          <p:nvSpPr>
            <p:cNvPr id="472" name="Google Shape;472;p39"/>
            <p:cNvSpPr txBox="1"/>
            <p:nvPr/>
          </p:nvSpPr>
          <p:spPr>
            <a:xfrm>
              <a:off x="-27" y="-32"/>
              <a:ext cx="1326600" cy="2568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WHAT TAGS TO USE?</a:t>
              </a:r>
              <a:endParaRPr sz="700"/>
            </a:p>
          </p:txBody>
        </p:sp>
      </p:grpSp>
      <p:grpSp>
        <p:nvGrpSpPr>
          <p:cNvPr id="473" name="Google Shape;473;p39"/>
          <p:cNvGrpSpPr/>
          <p:nvPr/>
        </p:nvGrpSpPr>
        <p:grpSpPr>
          <a:xfrm>
            <a:off x="3298403" y="165124"/>
            <a:ext cx="2518519" cy="487653"/>
            <a:chOff x="-46" y="-34"/>
            <a:chExt cx="1326654" cy="256876"/>
          </a:xfrm>
        </p:grpSpPr>
        <p:sp>
          <p:nvSpPr>
            <p:cNvPr id="474" name="Google Shape;474;p39"/>
            <p:cNvSpPr/>
            <p:nvPr/>
          </p:nvSpPr>
          <p:spPr>
            <a:xfrm>
              <a:off x="0"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B2117"/>
            </a:solidFill>
            <a:ln>
              <a:noFill/>
            </a:ln>
          </p:spPr>
        </p:sp>
        <p:sp>
          <p:nvSpPr>
            <p:cNvPr id="475" name="Google Shape;475;p39"/>
            <p:cNvSpPr txBox="1"/>
            <p:nvPr/>
          </p:nvSpPr>
          <p:spPr>
            <a:xfrm>
              <a:off x="-46" y="-34"/>
              <a:ext cx="1326600" cy="2568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HOW TO COMBINE TAGS?</a:t>
              </a:r>
              <a:endParaRPr sz="700"/>
            </a:p>
          </p:txBody>
        </p:sp>
      </p:grpSp>
      <p:grpSp>
        <p:nvGrpSpPr>
          <p:cNvPr id="476" name="Google Shape;476;p39"/>
          <p:cNvGrpSpPr/>
          <p:nvPr/>
        </p:nvGrpSpPr>
        <p:grpSpPr>
          <a:xfrm>
            <a:off x="6212677" y="165176"/>
            <a:ext cx="2525017" cy="487601"/>
            <a:chOff x="166089" y="-6"/>
            <a:chExt cx="1330076" cy="256848"/>
          </a:xfrm>
        </p:grpSpPr>
        <p:sp>
          <p:nvSpPr>
            <p:cNvPr id="477" name="Google Shape;477;p39"/>
            <p:cNvSpPr/>
            <p:nvPr/>
          </p:nvSpPr>
          <p:spPr>
            <a:xfrm>
              <a:off x="166089"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4B4B4"/>
            </a:solidFill>
            <a:ln>
              <a:noFill/>
            </a:ln>
          </p:spPr>
        </p:sp>
        <p:sp>
          <p:nvSpPr>
            <p:cNvPr id="478" name="Google Shape;478;p39"/>
            <p:cNvSpPr txBox="1"/>
            <p:nvPr/>
          </p:nvSpPr>
          <p:spPr>
            <a:xfrm>
              <a:off x="169566" y="-6"/>
              <a:ext cx="1326600" cy="2568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HOW MANY TAGS TO USE?</a:t>
              </a:r>
              <a:endParaRPr sz="700"/>
            </a:p>
          </p:txBody>
        </p:sp>
      </p:grpSp>
      <p:sp>
        <p:nvSpPr>
          <p:cNvPr id="479" name="Google Shape;479;p39"/>
          <p:cNvSpPr/>
          <p:nvPr/>
        </p:nvSpPr>
        <p:spPr>
          <a:xfrm>
            <a:off x="824025" y="1192725"/>
            <a:ext cx="7574450" cy="3390842"/>
          </a:xfrm>
          <a:custGeom>
            <a:avLst/>
            <a:gdLst/>
            <a:ahLst/>
            <a:cxnLst/>
            <a:rect l="l" t="t" r="r" b="b"/>
            <a:pathLst>
              <a:path w="15698343" h="7535205" extrusionOk="0">
                <a:moveTo>
                  <a:pt x="0" y="0"/>
                </a:moveTo>
                <a:lnTo>
                  <a:pt x="15698344" y="0"/>
                </a:lnTo>
                <a:lnTo>
                  <a:pt x="15698344" y="7535205"/>
                </a:lnTo>
                <a:lnTo>
                  <a:pt x="0" y="7535205"/>
                </a:lnTo>
                <a:lnTo>
                  <a:pt x="0" y="0"/>
                </a:lnTo>
                <a:close/>
              </a:path>
            </a:pathLst>
          </a:custGeom>
          <a:blipFill rotWithShape="1">
            <a:blip r:embed="rId1"/>
            <a:stretch>
              <a:fillRect/>
            </a:stretch>
          </a:blipFill>
          <a:ln>
            <a:noFill/>
          </a:ln>
        </p:spPr>
      </p:sp>
      <p:sp>
        <p:nvSpPr>
          <p:cNvPr id="480" name="Google Shape;480;p39"/>
          <p:cNvSpPr txBox="1"/>
          <p:nvPr/>
        </p:nvSpPr>
        <p:spPr>
          <a:xfrm>
            <a:off x="1449447" y="860951"/>
            <a:ext cx="67839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b="1">
                <a:latin typeface="Poppins" panose="00000800000000000000"/>
                <a:ea typeface="Poppins" panose="00000800000000000000"/>
                <a:cs typeface="Poppins" panose="00000800000000000000"/>
                <a:sym typeface="Poppins" panose="00000800000000000000"/>
              </a:rPr>
              <a:t>5.2 </a:t>
            </a:r>
            <a:r>
              <a:rPr lang="en-GB" sz="1400" b="1" i="0" u="none" strike="noStrike" cap="none">
                <a:solidFill>
                  <a:srgbClr val="000000"/>
                </a:solidFill>
                <a:latin typeface="Poppins" panose="00000800000000000000"/>
                <a:ea typeface="Poppins" panose="00000800000000000000"/>
                <a:cs typeface="Poppins" panose="00000800000000000000"/>
                <a:sym typeface="Poppins" panose="00000800000000000000"/>
              </a:rPr>
              <a:t>Best-performing videos combine content tags with platform tags</a:t>
            </a:r>
            <a:endParaRPr sz="700"/>
          </a:p>
        </p:txBody>
      </p:sp>
      <p:sp>
        <p:nvSpPr>
          <p:cNvPr id="481" name="Google Shape;481;p39"/>
          <p:cNvSpPr/>
          <p:nvPr/>
        </p:nvSpPr>
        <p:spPr>
          <a:xfrm>
            <a:off x="453250" y="4703375"/>
            <a:ext cx="8579100" cy="407100"/>
          </a:xfrm>
          <a:prstGeom prst="rect">
            <a:avLst/>
          </a:prstGeom>
          <a:solidFill>
            <a:srgbClr val="BB2217">
              <a:alpha val="68630"/>
            </a:srgbClr>
          </a:solidFill>
          <a:ln>
            <a:noFill/>
          </a:ln>
          <a:effectLst>
            <a:outerShdw algn="bl" rotWithShape="0">
              <a:srgbClr val="000000">
                <a:alpha val="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just" rtl="0">
              <a:lnSpc>
                <a:spcPct val="154000"/>
              </a:lnSpc>
              <a:spcBef>
                <a:spcPts val="0"/>
              </a:spcBef>
              <a:spcAft>
                <a:spcPts val="0"/>
              </a:spcAft>
              <a:buNone/>
            </a:pPr>
            <a:r>
              <a:rPr lang="en-GB" sz="1100" b="1">
                <a:solidFill>
                  <a:schemeClr val="lt1"/>
                </a:solidFill>
                <a:latin typeface="Poppins" panose="00000800000000000000"/>
                <a:ea typeface="Poppins" panose="00000800000000000000"/>
                <a:cs typeface="Poppins" panose="00000800000000000000"/>
                <a:sym typeface="Poppins" panose="00000800000000000000"/>
              </a:rPr>
              <a:t>Recommendation：Combine at least one platform reach tag with 2–3 content fit tags to land in the Golden zone</a:t>
            </a:r>
            <a:endParaRPr sz="15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485" name="Shape 485"/>
        <p:cNvGrpSpPr/>
        <p:nvPr/>
      </p:nvGrpSpPr>
      <p:grpSpPr>
        <a:xfrm>
          <a:off x="0" y="0"/>
          <a:ext cx="0" cy="0"/>
          <a:chOff x="0" y="0"/>
          <a:chExt cx="0" cy="0"/>
        </a:xfrm>
      </p:grpSpPr>
      <p:sp>
        <p:nvSpPr>
          <p:cNvPr id="486" name="Google Shape;486;p40"/>
          <p:cNvSpPr/>
          <p:nvPr/>
        </p:nvSpPr>
        <p:spPr>
          <a:xfrm>
            <a:off x="822163" y="792700"/>
            <a:ext cx="7499672" cy="2385084"/>
          </a:xfrm>
          <a:custGeom>
            <a:avLst/>
            <a:gdLst/>
            <a:ahLst/>
            <a:cxnLst/>
            <a:rect l="l" t="t" r="r" b="b"/>
            <a:pathLst>
              <a:path w="16215507" h="5390020" extrusionOk="0">
                <a:moveTo>
                  <a:pt x="0" y="0"/>
                </a:moveTo>
                <a:lnTo>
                  <a:pt x="16215506" y="0"/>
                </a:lnTo>
                <a:lnTo>
                  <a:pt x="16215506" y="5390020"/>
                </a:lnTo>
                <a:lnTo>
                  <a:pt x="0" y="5390020"/>
                </a:lnTo>
                <a:lnTo>
                  <a:pt x="0" y="0"/>
                </a:lnTo>
                <a:close/>
              </a:path>
            </a:pathLst>
          </a:custGeom>
          <a:blipFill rotWithShape="1">
            <a:blip r:embed="rId1"/>
            <a:stretch>
              <a:fillRect/>
            </a:stretch>
          </a:blipFill>
          <a:ln>
            <a:noFill/>
          </a:ln>
        </p:spPr>
      </p:sp>
      <p:sp>
        <p:nvSpPr>
          <p:cNvPr id="487" name="Google Shape;487;p40"/>
          <p:cNvSpPr txBox="1"/>
          <p:nvPr/>
        </p:nvSpPr>
        <p:spPr>
          <a:xfrm>
            <a:off x="822175" y="3271054"/>
            <a:ext cx="3953700" cy="156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020" b="1" i="0" u="none" strike="noStrike" cap="none">
                <a:solidFill>
                  <a:srgbClr val="000000"/>
                </a:solidFill>
                <a:latin typeface="Poppins" panose="00000800000000000000"/>
                <a:ea typeface="Poppins" panose="00000800000000000000"/>
                <a:cs typeface="Poppins" panose="00000800000000000000"/>
                <a:sym typeface="Poppins" panose="00000800000000000000"/>
              </a:rPr>
              <a:t>The contradiction:</a:t>
            </a:r>
            <a:endParaRPr sz="650"/>
          </a:p>
        </p:txBody>
      </p:sp>
      <p:grpSp>
        <p:nvGrpSpPr>
          <p:cNvPr id="488" name="Google Shape;488;p40"/>
          <p:cNvGrpSpPr/>
          <p:nvPr/>
        </p:nvGrpSpPr>
        <p:grpSpPr>
          <a:xfrm>
            <a:off x="1523613" y="3555193"/>
            <a:ext cx="2183973" cy="991875"/>
            <a:chOff x="0" y="-146288"/>
            <a:chExt cx="6295686" cy="2859254"/>
          </a:xfrm>
        </p:grpSpPr>
        <p:grpSp>
          <p:nvGrpSpPr>
            <p:cNvPr id="489" name="Google Shape;489;p40"/>
            <p:cNvGrpSpPr/>
            <p:nvPr/>
          </p:nvGrpSpPr>
          <p:grpSpPr>
            <a:xfrm>
              <a:off x="0" y="634477"/>
              <a:ext cx="2874044" cy="1245379"/>
              <a:chOff x="0" y="-47625"/>
              <a:chExt cx="500850" cy="217028"/>
            </a:xfrm>
          </p:grpSpPr>
          <p:sp>
            <p:nvSpPr>
              <p:cNvPr id="490" name="Google Shape;490;p40"/>
              <p:cNvSpPr/>
              <p:nvPr/>
            </p:nvSpPr>
            <p:spPr>
              <a:xfrm>
                <a:off x="0" y="0"/>
                <a:ext cx="500850" cy="169403"/>
              </a:xfrm>
              <a:custGeom>
                <a:avLst/>
                <a:gdLst/>
                <a:ahLst/>
                <a:cxnLst/>
                <a:rect l="l" t="t" r="r" b="b"/>
                <a:pathLst>
                  <a:path w="500850" h="169403" extrusionOk="0">
                    <a:moveTo>
                      <a:pt x="84701" y="0"/>
                    </a:moveTo>
                    <a:lnTo>
                      <a:pt x="416148" y="0"/>
                    </a:lnTo>
                    <a:cubicBezTo>
                      <a:pt x="462928" y="0"/>
                      <a:pt x="500850" y="37922"/>
                      <a:pt x="500850" y="84701"/>
                    </a:cubicBezTo>
                    <a:lnTo>
                      <a:pt x="500850" y="84701"/>
                    </a:lnTo>
                    <a:cubicBezTo>
                      <a:pt x="500850" y="131481"/>
                      <a:pt x="462928" y="169403"/>
                      <a:pt x="416148" y="169403"/>
                    </a:cubicBezTo>
                    <a:lnTo>
                      <a:pt x="84701" y="169403"/>
                    </a:lnTo>
                    <a:cubicBezTo>
                      <a:pt x="37922" y="169403"/>
                      <a:pt x="0" y="131481"/>
                      <a:pt x="0" y="84701"/>
                    </a:cubicBezTo>
                    <a:lnTo>
                      <a:pt x="0" y="84701"/>
                    </a:lnTo>
                    <a:cubicBezTo>
                      <a:pt x="0" y="37922"/>
                      <a:pt x="37922" y="0"/>
                      <a:pt x="84701" y="0"/>
                    </a:cubicBezTo>
                    <a:close/>
                  </a:path>
                </a:pathLst>
              </a:custGeom>
              <a:solidFill>
                <a:srgbClr val="BB2117"/>
              </a:solidFill>
              <a:ln>
                <a:noFill/>
              </a:ln>
            </p:spPr>
            <p:txBody>
              <a:bodyPr spcFirstLastPara="1" wrap="square" lIns="42300" tIns="42300" rIns="42300" bIns="42300" anchor="ctr" anchorCtr="0">
                <a:noAutofit/>
              </a:bodyPr>
              <a:lstStyle/>
              <a:p>
                <a:pPr marL="0" lvl="0" indent="0" algn="l" rtl="0">
                  <a:spcBef>
                    <a:spcPts val="0"/>
                  </a:spcBef>
                  <a:spcAft>
                    <a:spcPts val="0"/>
                  </a:spcAft>
                  <a:buNone/>
                </a:pPr>
              </a:p>
            </p:txBody>
          </p:sp>
          <p:sp>
            <p:nvSpPr>
              <p:cNvPr id="491" name="Google Shape;491;p40"/>
              <p:cNvSpPr txBox="1"/>
              <p:nvPr/>
            </p:nvSpPr>
            <p:spPr>
              <a:xfrm>
                <a:off x="0" y="-47625"/>
                <a:ext cx="500850" cy="217028"/>
              </a:xfrm>
              <a:prstGeom prst="rect">
                <a:avLst/>
              </a:prstGeom>
              <a:noFill/>
              <a:ln>
                <a:noFill/>
              </a:ln>
            </p:spPr>
            <p:txBody>
              <a:bodyPr spcFirstLastPara="1" wrap="square" lIns="23500" tIns="23500" rIns="23500" bIns="23500" anchor="ctr" anchorCtr="0">
                <a:noAutofit/>
              </a:bodyPr>
              <a:lstStyle/>
              <a:p>
                <a:pPr marL="0" marR="0" lvl="0" indent="0" algn="ctr" rtl="0">
                  <a:lnSpc>
                    <a:spcPct val="140000"/>
                  </a:lnSpc>
                  <a:spcBef>
                    <a:spcPts val="0"/>
                  </a:spcBef>
                  <a:spcAft>
                    <a:spcPts val="0"/>
                  </a:spcAft>
                  <a:buNone/>
                </a:pPr>
                <a:r>
                  <a:rPr lang="en-GB" sz="740" b="1" i="0" u="none" strike="noStrike" cap="none">
                    <a:solidFill>
                      <a:srgbClr val="FFFFFF"/>
                    </a:solidFill>
                    <a:latin typeface="Poppins" panose="00000800000000000000"/>
                    <a:ea typeface="Poppins" panose="00000800000000000000"/>
                    <a:cs typeface="Poppins" panose="00000800000000000000"/>
                    <a:sym typeface="Poppins" panose="00000800000000000000"/>
                  </a:rPr>
                  <a:t>More hashtags</a:t>
                </a:r>
                <a:endParaRPr sz="650"/>
              </a:p>
            </p:txBody>
          </p:sp>
        </p:grpSp>
        <p:grpSp>
          <p:nvGrpSpPr>
            <p:cNvPr id="492" name="Google Shape;492;p40"/>
            <p:cNvGrpSpPr/>
            <p:nvPr/>
          </p:nvGrpSpPr>
          <p:grpSpPr>
            <a:xfrm>
              <a:off x="3421642" y="1468322"/>
              <a:ext cx="2874044" cy="1244645"/>
              <a:chOff x="0" y="-27337"/>
              <a:chExt cx="500850" cy="216900"/>
            </a:xfrm>
          </p:grpSpPr>
          <p:sp>
            <p:nvSpPr>
              <p:cNvPr id="493" name="Google Shape;493;p40"/>
              <p:cNvSpPr/>
              <p:nvPr/>
            </p:nvSpPr>
            <p:spPr>
              <a:xfrm>
                <a:off x="0" y="0"/>
                <a:ext cx="500850" cy="169403"/>
              </a:xfrm>
              <a:custGeom>
                <a:avLst/>
                <a:gdLst/>
                <a:ahLst/>
                <a:cxnLst/>
                <a:rect l="l" t="t" r="r" b="b"/>
                <a:pathLst>
                  <a:path w="500850" h="169403" extrusionOk="0">
                    <a:moveTo>
                      <a:pt x="84701" y="0"/>
                    </a:moveTo>
                    <a:lnTo>
                      <a:pt x="416148" y="0"/>
                    </a:lnTo>
                    <a:cubicBezTo>
                      <a:pt x="462928" y="0"/>
                      <a:pt x="500850" y="37922"/>
                      <a:pt x="500850" y="84701"/>
                    </a:cubicBezTo>
                    <a:lnTo>
                      <a:pt x="500850" y="84701"/>
                    </a:lnTo>
                    <a:cubicBezTo>
                      <a:pt x="500850" y="131481"/>
                      <a:pt x="462928" y="169403"/>
                      <a:pt x="416148" y="169403"/>
                    </a:cubicBezTo>
                    <a:lnTo>
                      <a:pt x="84701" y="169403"/>
                    </a:lnTo>
                    <a:cubicBezTo>
                      <a:pt x="37922" y="169403"/>
                      <a:pt x="0" y="131481"/>
                      <a:pt x="0" y="84701"/>
                    </a:cubicBezTo>
                    <a:lnTo>
                      <a:pt x="0" y="84701"/>
                    </a:lnTo>
                    <a:cubicBezTo>
                      <a:pt x="0" y="37922"/>
                      <a:pt x="37922" y="0"/>
                      <a:pt x="84701" y="0"/>
                    </a:cubicBezTo>
                    <a:close/>
                  </a:path>
                </a:pathLst>
              </a:custGeom>
              <a:solidFill>
                <a:srgbClr val="BB2117"/>
              </a:solidFill>
              <a:ln>
                <a:noFill/>
              </a:ln>
            </p:spPr>
            <p:txBody>
              <a:bodyPr spcFirstLastPara="1" wrap="square" lIns="42300" tIns="42300" rIns="42300" bIns="42300" anchor="ctr" anchorCtr="0">
                <a:noAutofit/>
              </a:bodyPr>
              <a:lstStyle/>
              <a:p>
                <a:pPr marL="0" lvl="0" indent="0" algn="l" rtl="0">
                  <a:spcBef>
                    <a:spcPts val="0"/>
                  </a:spcBef>
                  <a:spcAft>
                    <a:spcPts val="0"/>
                  </a:spcAft>
                  <a:buNone/>
                </a:pPr>
              </a:p>
            </p:txBody>
          </p:sp>
          <p:sp>
            <p:nvSpPr>
              <p:cNvPr id="494" name="Google Shape;494;p40"/>
              <p:cNvSpPr txBox="1"/>
              <p:nvPr/>
            </p:nvSpPr>
            <p:spPr>
              <a:xfrm>
                <a:off x="0" y="-27337"/>
                <a:ext cx="500700" cy="216900"/>
              </a:xfrm>
              <a:prstGeom prst="rect">
                <a:avLst/>
              </a:prstGeom>
              <a:noFill/>
              <a:ln>
                <a:noFill/>
              </a:ln>
            </p:spPr>
            <p:txBody>
              <a:bodyPr spcFirstLastPara="1" wrap="square" lIns="23500" tIns="23500" rIns="23500" bIns="23500" anchor="ctr" anchorCtr="0">
                <a:noAutofit/>
              </a:bodyPr>
              <a:lstStyle/>
              <a:p>
                <a:pPr marL="0" marR="0" lvl="0" indent="0" algn="ctr" rtl="0">
                  <a:lnSpc>
                    <a:spcPct val="140000"/>
                  </a:lnSpc>
                  <a:spcBef>
                    <a:spcPts val="0"/>
                  </a:spcBef>
                  <a:spcAft>
                    <a:spcPts val="0"/>
                  </a:spcAft>
                  <a:buNone/>
                </a:pPr>
                <a:r>
                  <a:rPr lang="en-GB" sz="740" b="1" i="0" u="none" strike="noStrike" cap="none">
                    <a:solidFill>
                      <a:srgbClr val="FFFFFF"/>
                    </a:solidFill>
                    <a:latin typeface="Poppins" panose="00000800000000000000"/>
                    <a:ea typeface="Poppins" panose="00000800000000000000"/>
                    <a:cs typeface="Poppins" panose="00000800000000000000"/>
                    <a:sym typeface="Poppins" panose="00000800000000000000"/>
                  </a:rPr>
                  <a:t>Like rate</a:t>
                </a:r>
                <a:endParaRPr sz="650"/>
              </a:p>
            </p:txBody>
          </p:sp>
        </p:grpSp>
        <p:grpSp>
          <p:nvGrpSpPr>
            <p:cNvPr id="495" name="Google Shape;495;p40"/>
            <p:cNvGrpSpPr/>
            <p:nvPr/>
          </p:nvGrpSpPr>
          <p:grpSpPr>
            <a:xfrm>
              <a:off x="5644191" y="1868823"/>
              <a:ext cx="433975" cy="459403"/>
              <a:chOff x="0" y="-47625"/>
              <a:chExt cx="812800" cy="860425"/>
            </a:xfrm>
          </p:grpSpPr>
          <p:sp>
            <p:nvSpPr>
              <p:cNvPr id="496" name="Google Shape;496;p40"/>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6F6F6"/>
              </a:solidFill>
              <a:ln>
                <a:noFill/>
              </a:ln>
            </p:spPr>
          </p:sp>
          <p:sp>
            <p:nvSpPr>
              <p:cNvPr id="497" name="Google Shape;497;p40"/>
              <p:cNvSpPr txBox="1"/>
              <p:nvPr/>
            </p:nvSpPr>
            <p:spPr>
              <a:xfrm>
                <a:off x="203200" y="-47625"/>
                <a:ext cx="406400" cy="758825"/>
              </a:xfrm>
              <a:prstGeom prst="rect">
                <a:avLst/>
              </a:prstGeom>
              <a:noFill/>
              <a:ln>
                <a:noFill/>
              </a:ln>
            </p:spPr>
            <p:txBody>
              <a:bodyPr spcFirstLastPara="1" wrap="square" lIns="23500" tIns="23500" rIns="23500" bIns="23500" anchor="ctr" anchorCtr="0">
                <a:noAutofit/>
              </a:bodyPr>
              <a:lstStyle/>
              <a:p>
                <a:pPr marL="0" marR="0" lvl="0" indent="0" algn="ctr" rtl="0">
                  <a:lnSpc>
                    <a:spcPct val="129000"/>
                  </a:lnSpc>
                  <a:spcBef>
                    <a:spcPts val="0"/>
                  </a:spcBef>
                  <a:spcAft>
                    <a:spcPts val="0"/>
                  </a:spcAft>
                  <a:buNone/>
                </a:pPr>
                <a:endParaRPr sz="835" b="0" i="0" u="none" strike="noStrike" cap="none">
                  <a:solidFill>
                    <a:schemeClr val="dk1"/>
                  </a:solidFill>
                  <a:latin typeface="Calibri"/>
                  <a:ea typeface="Calibri"/>
                  <a:cs typeface="Calibri"/>
                  <a:sym typeface="Calibri"/>
                </a:endParaRPr>
              </a:p>
            </p:txBody>
          </p:sp>
        </p:grpSp>
        <p:grpSp>
          <p:nvGrpSpPr>
            <p:cNvPr id="498" name="Google Shape;498;p40"/>
            <p:cNvGrpSpPr/>
            <p:nvPr/>
          </p:nvGrpSpPr>
          <p:grpSpPr>
            <a:xfrm>
              <a:off x="3421642" y="-146288"/>
              <a:ext cx="2874044" cy="1244645"/>
              <a:chOff x="0" y="-25493"/>
              <a:chExt cx="500850" cy="216900"/>
            </a:xfrm>
          </p:grpSpPr>
          <p:sp>
            <p:nvSpPr>
              <p:cNvPr id="499" name="Google Shape;499;p40"/>
              <p:cNvSpPr/>
              <p:nvPr/>
            </p:nvSpPr>
            <p:spPr>
              <a:xfrm>
                <a:off x="0" y="0"/>
                <a:ext cx="500850" cy="169403"/>
              </a:xfrm>
              <a:custGeom>
                <a:avLst/>
                <a:gdLst/>
                <a:ahLst/>
                <a:cxnLst/>
                <a:rect l="l" t="t" r="r" b="b"/>
                <a:pathLst>
                  <a:path w="500850" h="169403" extrusionOk="0">
                    <a:moveTo>
                      <a:pt x="84701" y="0"/>
                    </a:moveTo>
                    <a:lnTo>
                      <a:pt x="416148" y="0"/>
                    </a:lnTo>
                    <a:cubicBezTo>
                      <a:pt x="462928" y="0"/>
                      <a:pt x="500850" y="37922"/>
                      <a:pt x="500850" y="84701"/>
                    </a:cubicBezTo>
                    <a:lnTo>
                      <a:pt x="500850" y="84701"/>
                    </a:lnTo>
                    <a:cubicBezTo>
                      <a:pt x="500850" y="131481"/>
                      <a:pt x="462928" y="169403"/>
                      <a:pt x="416148" y="169403"/>
                    </a:cubicBezTo>
                    <a:lnTo>
                      <a:pt x="84701" y="169403"/>
                    </a:lnTo>
                    <a:cubicBezTo>
                      <a:pt x="37922" y="169403"/>
                      <a:pt x="0" y="131481"/>
                      <a:pt x="0" y="84701"/>
                    </a:cubicBezTo>
                    <a:lnTo>
                      <a:pt x="0" y="84701"/>
                    </a:lnTo>
                    <a:cubicBezTo>
                      <a:pt x="0" y="37922"/>
                      <a:pt x="37922" y="0"/>
                      <a:pt x="84701" y="0"/>
                    </a:cubicBezTo>
                    <a:close/>
                  </a:path>
                </a:pathLst>
              </a:custGeom>
              <a:solidFill>
                <a:srgbClr val="BB2117"/>
              </a:solidFill>
              <a:ln>
                <a:noFill/>
              </a:ln>
            </p:spPr>
            <p:txBody>
              <a:bodyPr spcFirstLastPara="1" wrap="square" lIns="42300" tIns="42300" rIns="42300" bIns="42300" anchor="ctr" anchorCtr="0">
                <a:noAutofit/>
              </a:bodyPr>
              <a:lstStyle/>
              <a:p>
                <a:pPr marL="0" lvl="0" indent="0" algn="l" rtl="0">
                  <a:spcBef>
                    <a:spcPts val="0"/>
                  </a:spcBef>
                  <a:spcAft>
                    <a:spcPts val="0"/>
                  </a:spcAft>
                  <a:buNone/>
                </a:pPr>
              </a:p>
            </p:txBody>
          </p:sp>
          <p:sp>
            <p:nvSpPr>
              <p:cNvPr id="500" name="Google Shape;500;p40"/>
              <p:cNvSpPr txBox="1"/>
              <p:nvPr/>
            </p:nvSpPr>
            <p:spPr>
              <a:xfrm>
                <a:off x="0" y="-25493"/>
                <a:ext cx="500700" cy="216900"/>
              </a:xfrm>
              <a:prstGeom prst="rect">
                <a:avLst/>
              </a:prstGeom>
              <a:noFill/>
              <a:ln>
                <a:noFill/>
              </a:ln>
            </p:spPr>
            <p:txBody>
              <a:bodyPr spcFirstLastPara="1" wrap="square" lIns="23500" tIns="23500" rIns="23500" bIns="23500" anchor="ctr" anchorCtr="0">
                <a:noAutofit/>
              </a:bodyPr>
              <a:lstStyle/>
              <a:p>
                <a:pPr marL="0" marR="0" lvl="0" indent="0" algn="ctr" rtl="0">
                  <a:lnSpc>
                    <a:spcPct val="140000"/>
                  </a:lnSpc>
                  <a:spcBef>
                    <a:spcPts val="0"/>
                  </a:spcBef>
                  <a:spcAft>
                    <a:spcPts val="0"/>
                  </a:spcAft>
                  <a:buNone/>
                </a:pPr>
                <a:r>
                  <a:rPr lang="en-GB" sz="740" b="1" i="0" u="none" strike="noStrike" cap="none">
                    <a:solidFill>
                      <a:srgbClr val="FFFFFF"/>
                    </a:solidFill>
                    <a:latin typeface="Poppins" panose="00000800000000000000"/>
                    <a:ea typeface="Poppins" panose="00000800000000000000"/>
                    <a:cs typeface="Poppins" panose="00000800000000000000"/>
                    <a:sym typeface="Poppins" panose="00000800000000000000"/>
                  </a:rPr>
                  <a:t>Views</a:t>
                </a:r>
                <a:endParaRPr sz="650"/>
              </a:p>
            </p:txBody>
          </p:sp>
        </p:grpSp>
        <p:grpSp>
          <p:nvGrpSpPr>
            <p:cNvPr id="501" name="Google Shape;501;p40"/>
            <p:cNvGrpSpPr/>
            <p:nvPr/>
          </p:nvGrpSpPr>
          <p:grpSpPr>
            <a:xfrm rot="10800000">
              <a:off x="5427204" y="269058"/>
              <a:ext cx="433975" cy="459403"/>
              <a:chOff x="0" y="-47625"/>
              <a:chExt cx="812800" cy="860425"/>
            </a:xfrm>
          </p:grpSpPr>
          <p:sp>
            <p:nvSpPr>
              <p:cNvPr id="502" name="Google Shape;502;p40"/>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6F6F6"/>
              </a:solidFill>
              <a:ln>
                <a:noFill/>
              </a:ln>
            </p:spPr>
          </p:sp>
          <p:sp>
            <p:nvSpPr>
              <p:cNvPr id="503" name="Google Shape;503;p40"/>
              <p:cNvSpPr txBox="1"/>
              <p:nvPr/>
            </p:nvSpPr>
            <p:spPr>
              <a:xfrm>
                <a:off x="203200" y="-47625"/>
                <a:ext cx="406400" cy="758825"/>
              </a:xfrm>
              <a:prstGeom prst="rect">
                <a:avLst/>
              </a:prstGeom>
              <a:noFill/>
              <a:ln>
                <a:noFill/>
              </a:ln>
            </p:spPr>
            <p:txBody>
              <a:bodyPr spcFirstLastPara="1" wrap="square" lIns="23500" tIns="23500" rIns="23500" bIns="23500" anchor="ctr" anchorCtr="0">
                <a:noAutofit/>
              </a:bodyPr>
              <a:lstStyle/>
              <a:p>
                <a:pPr marL="0" marR="0" lvl="0" indent="0" algn="ctr" rtl="0">
                  <a:lnSpc>
                    <a:spcPct val="129000"/>
                  </a:lnSpc>
                  <a:spcBef>
                    <a:spcPts val="0"/>
                  </a:spcBef>
                  <a:spcAft>
                    <a:spcPts val="0"/>
                  </a:spcAft>
                  <a:buNone/>
                </a:pPr>
                <a:endParaRPr sz="835" b="0" i="0" u="none" strike="noStrike" cap="none">
                  <a:solidFill>
                    <a:schemeClr val="dk1"/>
                  </a:solidFill>
                  <a:latin typeface="Calibri"/>
                  <a:ea typeface="Calibri"/>
                  <a:cs typeface="Calibri"/>
                  <a:sym typeface="Calibri"/>
                </a:endParaRPr>
              </a:p>
            </p:txBody>
          </p:sp>
        </p:grpSp>
      </p:grpSp>
      <p:sp>
        <p:nvSpPr>
          <p:cNvPr id="504" name="Google Shape;504;p40"/>
          <p:cNvSpPr txBox="1"/>
          <p:nvPr/>
        </p:nvSpPr>
        <p:spPr>
          <a:xfrm>
            <a:off x="4264791" y="3246300"/>
            <a:ext cx="4056900" cy="1577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020" b="1" i="0" u="none" strike="noStrike" cap="none">
                <a:solidFill>
                  <a:srgbClr val="000000"/>
                </a:solidFill>
                <a:latin typeface="Poppins" panose="00000800000000000000"/>
                <a:ea typeface="Poppins" panose="00000800000000000000"/>
                <a:cs typeface="Poppins" panose="00000800000000000000"/>
                <a:sym typeface="Poppins" panose="00000800000000000000"/>
              </a:rPr>
              <a:t>Different between Large and Micro youtuber：</a:t>
            </a:r>
            <a:endParaRPr sz="650"/>
          </a:p>
          <a:p>
            <a:pPr marL="0" marR="0" lvl="0" indent="0" algn="l" rtl="0">
              <a:lnSpc>
                <a:spcPct val="140000"/>
              </a:lnSpc>
              <a:spcBef>
                <a:spcPts val="0"/>
              </a:spcBef>
              <a:spcAft>
                <a:spcPts val="0"/>
              </a:spcAft>
              <a:buNone/>
            </a:pPr>
            <a:endParaRPr sz="1020" b="1" i="0" u="none" strike="noStrike" cap="none">
              <a:solidFill>
                <a:srgbClr val="000000"/>
              </a:solidFill>
              <a:latin typeface="Poppins" panose="00000800000000000000"/>
              <a:ea typeface="Poppins" panose="00000800000000000000"/>
              <a:cs typeface="Poppins" panose="00000800000000000000"/>
              <a:sym typeface="Poppins" panose="00000800000000000000"/>
            </a:endParaRPr>
          </a:p>
          <a:p>
            <a:pPr marL="200025" marR="0" lvl="1" indent="-93980" algn="l" rtl="0">
              <a:lnSpc>
                <a:spcPct val="140000"/>
              </a:lnSpc>
              <a:spcBef>
                <a:spcPts val="0"/>
              </a:spcBef>
              <a:spcAft>
                <a:spcPts val="0"/>
              </a:spcAft>
              <a:buClr>
                <a:srgbClr val="000000"/>
              </a:buClr>
              <a:buSzPts val="925"/>
              <a:buFont typeface="Arial" panose="020B0704020202020204"/>
              <a:buChar char="•"/>
            </a:pPr>
            <a:r>
              <a:rPr lang="en-GB" sz="925" b="1" i="0" u="none" strike="noStrike" cap="none">
                <a:solidFill>
                  <a:srgbClr val="000000"/>
                </a:solidFill>
                <a:latin typeface="Poppins" panose="00000800000000000000"/>
                <a:ea typeface="Poppins" panose="00000800000000000000"/>
                <a:cs typeface="Poppins" panose="00000800000000000000"/>
                <a:sym typeface="Poppins" panose="00000800000000000000"/>
              </a:rPr>
              <a:t>Large channels: subscriber base guarantees engaged core audience → extra hashtags = pure upside</a:t>
            </a:r>
            <a:endParaRPr sz="650"/>
          </a:p>
          <a:p>
            <a:pPr marL="0" marR="0" lvl="0" indent="0" algn="l" rtl="0">
              <a:lnSpc>
                <a:spcPct val="140000"/>
              </a:lnSpc>
              <a:spcBef>
                <a:spcPts val="0"/>
              </a:spcBef>
              <a:spcAft>
                <a:spcPts val="0"/>
              </a:spcAft>
              <a:buNone/>
            </a:pPr>
            <a:endParaRPr sz="925" b="1" i="0" u="none" strike="noStrike" cap="none">
              <a:solidFill>
                <a:srgbClr val="000000"/>
              </a:solidFill>
              <a:latin typeface="Poppins" panose="00000800000000000000"/>
              <a:ea typeface="Poppins" panose="00000800000000000000"/>
              <a:cs typeface="Poppins" panose="00000800000000000000"/>
              <a:sym typeface="Poppins" panose="00000800000000000000"/>
            </a:endParaRPr>
          </a:p>
          <a:p>
            <a:pPr marL="200025" marR="0" lvl="1" indent="-93980" algn="l" rtl="0">
              <a:lnSpc>
                <a:spcPct val="140000"/>
              </a:lnSpc>
              <a:spcBef>
                <a:spcPts val="0"/>
              </a:spcBef>
              <a:spcAft>
                <a:spcPts val="0"/>
              </a:spcAft>
              <a:buClr>
                <a:srgbClr val="000000"/>
              </a:buClr>
              <a:buSzPts val="925"/>
              <a:buFont typeface="Arial" panose="020B0704020202020204"/>
              <a:buChar char="•"/>
            </a:pPr>
            <a:r>
              <a:rPr lang="en-GB" sz="925" b="1" i="0" u="none" strike="noStrike" cap="none">
                <a:solidFill>
                  <a:srgbClr val="000000"/>
                </a:solidFill>
                <a:latin typeface="Poppins" panose="00000800000000000000"/>
                <a:ea typeface="Poppins" panose="00000800000000000000"/>
                <a:cs typeface="Poppins" panose="00000800000000000000"/>
                <a:sym typeface="Poppins" panose="00000800000000000000"/>
              </a:rPr>
              <a:t>Micro channels: no subscriber buffer → more hashtags = diluted audience → lower like rate → algorithm stops pushing</a:t>
            </a:r>
            <a:endParaRPr sz="650"/>
          </a:p>
          <a:p>
            <a:pPr marL="0" marR="0" lvl="0" indent="0" algn="l" rtl="0">
              <a:lnSpc>
                <a:spcPct val="154000"/>
              </a:lnSpc>
              <a:spcBef>
                <a:spcPts val="0"/>
              </a:spcBef>
              <a:spcAft>
                <a:spcPts val="0"/>
              </a:spcAft>
              <a:buNone/>
            </a:pPr>
            <a:endParaRPr sz="925" b="1" i="0" u="none" strike="noStrike" cap="none">
              <a:solidFill>
                <a:srgbClr val="000000"/>
              </a:solidFill>
              <a:latin typeface="Poppins" panose="00000800000000000000"/>
              <a:ea typeface="Poppins" panose="00000800000000000000"/>
              <a:cs typeface="Poppins" panose="00000800000000000000"/>
              <a:sym typeface="Poppins" panose="00000800000000000000"/>
            </a:endParaRPr>
          </a:p>
        </p:txBody>
      </p:sp>
      <p:sp>
        <p:nvSpPr>
          <p:cNvPr id="505" name="Google Shape;505;p40"/>
          <p:cNvSpPr/>
          <p:nvPr/>
        </p:nvSpPr>
        <p:spPr>
          <a:xfrm>
            <a:off x="2516346" y="3739138"/>
            <a:ext cx="198600" cy="667200"/>
          </a:xfrm>
          <a:prstGeom prst="leftBracket">
            <a:avLst>
              <a:gd name="adj" fmla="val 8333"/>
            </a:avLst>
          </a:prstGeom>
          <a:noFill/>
          <a:ln w="8825" cap="flat" cmpd="sng">
            <a:solidFill>
              <a:schemeClr val="dk2"/>
            </a:solidFill>
            <a:prstDash val="solid"/>
            <a:round/>
            <a:headEnd type="none" w="sm" len="sm"/>
            <a:tailEnd type="none" w="sm" len="sm"/>
          </a:ln>
        </p:spPr>
        <p:txBody>
          <a:bodyPr spcFirstLastPara="1" wrap="square" lIns="84575" tIns="84575" rIns="84575" bIns="84575" anchor="ctr" anchorCtr="0">
            <a:noAutofit/>
          </a:bodyPr>
          <a:lstStyle/>
          <a:p>
            <a:pPr marL="0" lvl="0" indent="0" algn="ctr" rtl="0">
              <a:spcBef>
                <a:spcPts val="0"/>
              </a:spcBef>
              <a:spcAft>
                <a:spcPts val="0"/>
              </a:spcAft>
              <a:buNone/>
            </a:pPr>
            <a:endParaRPr sz="1295"/>
          </a:p>
        </p:txBody>
      </p:sp>
      <p:grpSp>
        <p:nvGrpSpPr>
          <p:cNvPr id="506" name="Google Shape;506;p40"/>
          <p:cNvGrpSpPr/>
          <p:nvPr/>
        </p:nvGrpSpPr>
        <p:grpSpPr>
          <a:xfrm>
            <a:off x="403053" y="165127"/>
            <a:ext cx="2518484" cy="487650"/>
            <a:chOff x="-27" y="-32"/>
            <a:chExt cx="1326635" cy="256874"/>
          </a:xfrm>
        </p:grpSpPr>
        <p:sp>
          <p:nvSpPr>
            <p:cNvPr id="507" name="Google Shape;507;p40"/>
            <p:cNvSpPr/>
            <p:nvPr/>
          </p:nvSpPr>
          <p:spPr>
            <a:xfrm>
              <a:off x="0"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0AAA9"/>
            </a:solidFill>
            <a:ln>
              <a:noFill/>
            </a:ln>
          </p:spPr>
        </p:sp>
        <p:sp>
          <p:nvSpPr>
            <p:cNvPr id="508" name="Google Shape;508;p40"/>
            <p:cNvSpPr txBox="1"/>
            <p:nvPr/>
          </p:nvSpPr>
          <p:spPr>
            <a:xfrm>
              <a:off x="-27" y="-32"/>
              <a:ext cx="1326600" cy="2568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WHAT TAGS TO USE?</a:t>
              </a:r>
              <a:endParaRPr sz="700"/>
            </a:p>
          </p:txBody>
        </p:sp>
      </p:grpSp>
      <p:grpSp>
        <p:nvGrpSpPr>
          <p:cNvPr id="509" name="Google Shape;509;p40"/>
          <p:cNvGrpSpPr/>
          <p:nvPr/>
        </p:nvGrpSpPr>
        <p:grpSpPr>
          <a:xfrm>
            <a:off x="3298403" y="165124"/>
            <a:ext cx="2518519" cy="487653"/>
            <a:chOff x="-46" y="-34"/>
            <a:chExt cx="1326654" cy="256876"/>
          </a:xfrm>
        </p:grpSpPr>
        <p:sp>
          <p:nvSpPr>
            <p:cNvPr id="510" name="Google Shape;510;p40"/>
            <p:cNvSpPr/>
            <p:nvPr/>
          </p:nvSpPr>
          <p:spPr>
            <a:xfrm>
              <a:off x="0"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B2117"/>
            </a:solidFill>
            <a:ln>
              <a:noFill/>
            </a:ln>
          </p:spPr>
        </p:sp>
        <p:sp>
          <p:nvSpPr>
            <p:cNvPr id="511" name="Google Shape;511;p40"/>
            <p:cNvSpPr txBox="1"/>
            <p:nvPr/>
          </p:nvSpPr>
          <p:spPr>
            <a:xfrm>
              <a:off x="-46" y="-34"/>
              <a:ext cx="1326600" cy="256800"/>
            </a:xfrm>
            <a:prstGeom prst="rect">
              <a:avLst/>
            </a:prstGeom>
            <a:solidFill>
              <a:srgbClr val="B0A9A9"/>
            </a:solid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HOW TO COMBINE TAGS?</a:t>
              </a:r>
              <a:endParaRPr sz="700"/>
            </a:p>
          </p:txBody>
        </p:sp>
      </p:grpSp>
      <p:grpSp>
        <p:nvGrpSpPr>
          <p:cNvPr id="512" name="Google Shape;512;p40"/>
          <p:cNvGrpSpPr/>
          <p:nvPr/>
        </p:nvGrpSpPr>
        <p:grpSpPr>
          <a:xfrm>
            <a:off x="6212677" y="165176"/>
            <a:ext cx="2525017" cy="487601"/>
            <a:chOff x="166089" y="-6"/>
            <a:chExt cx="1330076" cy="256848"/>
          </a:xfrm>
        </p:grpSpPr>
        <p:sp>
          <p:nvSpPr>
            <p:cNvPr id="513" name="Google Shape;513;p40"/>
            <p:cNvSpPr/>
            <p:nvPr/>
          </p:nvSpPr>
          <p:spPr>
            <a:xfrm>
              <a:off x="166089" y="0"/>
              <a:ext cx="1326608" cy="256842"/>
            </a:xfrm>
            <a:custGeom>
              <a:avLst/>
              <a:gdLst/>
              <a:ahLst/>
              <a:cxnLst/>
              <a:rect l="l" t="t" r="r" b="b"/>
              <a:pathLst>
                <a:path w="1326608" h="256842" extrusionOk="0">
                  <a:moveTo>
                    <a:pt x="0" y="0"/>
                  </a:moveTo>
                  <a:lnTo>
                    <a:pt x="1326608" y="0"/>
                  </a:lnTo>
                  <a:lnTo>
                    <a:pt x="1326608" y="256842"/>
                  </a:lnTo>
                  <a:lnTo>
                    <a:pt x="0" y="256842"/>
                  </a:lnTo>
                  <a:close/>
                </a:path>
              </a:pathLst>
            </a:custGeom>
            <a:solidFill>
              <a:srgbClr val="BB2217"/>
            </a:solidFill>
            <a:ln>
              <a:noFill/>
            </a:ln>
          </p:spPr>
        </p:sp>
        <p:sp>
          <p:nvSpPr>
            <p:cNvPr id="514" name="Google Shape;514;p40"/>
            <p:cNvSpPr txBox="1"/>
            <p:nvPr/>
          </p:nvSpPr>
          <p:spPr>
            <a:xfrm>
              <a:off x="169566" y="-6"/>
              <a:ext cx="1326600" cy="256800"/>
            </a:xfrm>
            <a:prstGeom prst="rect">
              <a:avLst/>
            </a:prstGeom>
            <a:solidFill>
              <a:srgbClr val="BB2217"/>
            </a:solid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FFFFF"/>
                  </a:solidFill>
                  <a:latin typeface="Poppins" panose="00000800000000000000"/>
                  <a:ea typeface="Poppins" panose="00000800000000000000"/>
                  <a:cs typeface="Poppins" panose="00000800000000000000"/>
                  <a:sym typeface="Poppins" panose="00000800000000000000"/>
                </a:rPr>
                <a:t>HOW MANY TAGS TO USE?</a:t>
              </a:r>
              <a:endParaRPr sz="700"/>
            </a:p>
          </p:txBody>
        </p:sp>
      </p:grpSp>
      <p:sp>
        <p:nvSpPr>
          <p:cNvPr id="515" name="Google Shape;515;p40"/>
          <p:cNvSpPr/>
          <p:nvPr/>
        </p:nvSpPr>
        <p:spPr>
          <a:xfrm>
            <a:off x="822250" y="4724425"/>
            <a:ext cx="7499700" cy="392700"/>
          </a:xfrm>
          <a:prstGeom prst="rect">
            <a:avLst/>
          </a:prstGeom>
          <a:solidFill>
            <a:srgbClr val="BB2217">
              <a:alpha val="68630"/>
            </a:srgbClr>
          </a:solidFill>
          <a:ln>
            <a:noFill/>
          </a:ln>
          <a:effectLst>
            <a:outerShdw algn="bl" rotWithShape="0">
              <a:srgbClr val="000000">
                <a:alpha val="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lnSpc>
                <a:spcPct val="154000"/>
              </a:lnSpc>
              <a:spcBef>
                <a:spcPts val="0"/>
              </a:spcBef>
              <a:spcAft>
                <a:spcPts val="0"/>
              </a:spcAft>
              <a:buNone/>
            </a:pPr>
            <a:r>
              <a:rPr lang="en-GB" sz="1100" b="1">
                <a:solidFill>
                  <a:schemeClr val="lt1"/>
                </a:solidFill>
                <a:latin typeface="Poppins" panose="00000800000000000000"/>
                <a:ea typeface="Poppins" panose="00000800000000000000"/>
                <a:cs typeface="Poppins" panose="00000800000000000000"/>
                <a:sym typeface="Poppins" panose="00000800000000000000"/>
              </a:rPr>
              <a:t>Recommendation：</a:t>
            </a:r>
            <a:r>
              <a:rPr lang="en-GB" sz="1100" b="1">
                <a:solidFill>
                  <a:schemeClr val="lt1"/>
                </a:solidFill>
                <a:latin typeface="Poppins" panose="00000800000000000000"/>
                <a:ea typeface="Poppins" panose="00000800000000000000"/>
                <a:cs typeface="Poppins" panose="00000800000000000000"/>
                <a:sym typeface="Poppins" panose="00000800000000000000"/>
              </a:rPr>
              <a:t>Keep hashtag count at 0–3 to retain a more targeted viewer. </a:t>
            </a:r>
            <a:endParaRPr sz="15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519" name="Shape 519"/>
        <p:cNvGrpSpPr/>
        <p:nvPr/>
      </p:nvGrpSpPr>
      <p:grpSpPr>
        <a:xfrm>
          <a:off x="0" y="0"/>
          <a:ext cx="0" cy="0"/>
          <a:chOff x="0" y="0"/>
          <a:chExt cx="0" cy="0"/>
        </a:xfrm>
      </p:grpSpPr>
      <p:pic>
        <p:nvPicPr>
          <p:cNvPr id="520" name="Google Shape;520;p41"/>
          <p:cNvPicPr preferRelativeResize="0"/>
          <p:nvPr/>
        </p:nvPicPr>
        <p:blipFill>
          <a:blip r:embed="rId1"/>
          <a:stretch>
            <a:fillRect/>
          </a:stretch>
        </p:blipFill>
        <p:spPr>
          <a:xfrm>
            <a:off x="152400" y="152400"/>
            <a:ext cx="8839199" cy="4783015"/>
          </a:xfrm>
          <a:prstGeom prst="rect">
            <a:avLst/>
          </a:prstGeom>
          <a:noFill/>
          <a:ln>
            <a:noFill/>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524" name="Shape 524"/>
        <p:cNvGrpSpPr/>
        <p:nvPr/>
      </p:nvGrpSpPr>
      <p:grpSpPr>
        <a:xfrm>
          <a:off x="0" y="0"/>
          <a:ext cx="0" cy="0"/>
          <a:chOff x="0" y="0"/>
          <a:chExt cx="0" cy="0"/>
        </a:xfrm>
      </p:grpSpPr>
      <p:pic>
        <p:nvPicPr>
          <p:cNvPr id="525" name="Google Shape;525;p42"/>
          <p:cNvPicPr preferRelativeResize="0"/>
          <p:nvPr/>
        </p:nvPicPr>
        <p:blipFill>
          <a:blip r:embed="rId1"/>
          <a:stretch>
            <a:fillRect/>
          </a:stretch>
        </p:blipFill>
        <p:spPr>
          <a:xfrm>
            <a:off x="0" y="0"/>
            <a:ext cx="9104872"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529" name="Shape 529"/>
        <p:cNvGrpSpPr/>
        <p:nvPr/>
      </p:nvGrpSpPr>
      <p:grpSpPr>
        <a:xfrm>
          <a:off x="0" y="0"/>
          <a:ext cx="0" cy="0"/>
          <a:chOff x="0" y="0"/>
          <a:chExt cx="0" cy="0"/>
        </a:xfrm>
      </p:grpSpPr>
      <p:pic>
        <p:nvPicPr>
          <p:cNvPr id="530" name="Google Shape;530;p43"/>
          <p:cNvPicPr preferRelativeResize="0"/>
          <p:nvPr/>
        </p:nvPicPr>
        <p:blipFill>
          <a:blip r:embed="rId1"/>
          <a:stretch>
            <a:fillRect/>
          </a:stretch>
        </p:blipFill>
        <p:spPr>
          <a:xfrm>
            <a:off x="0" y="0"/>
            <a:ext cx="9144002" cy="514745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534" name="Shape 534"/>
        <p:cNvGrpSpPr/>
        <p:nvPr/>
      </p:nvGrpSpPr>
      <p:grpSpPr>
        <a:xfrm>
          <a:off x="0" y="0"/>
          <a:ext cx="0" cy="0"/>
          <a:chOff x="0" y="0"/>
          <a:chExt cx="0" cy="0"/>
        </a:xfrm>
      </p:grpSpPr>
      <p:pic>
        <p:nvPicPr>
          <p:cNvPr id="535" name="Google Shape;535;p44"/>
          <p:cNvPicPr preferRelativeResize="0"/>
          <p:nvPr/>
        </p:nvPicPr>
        <p:blipFill>
          <a:blip r:embed="rId1"/>
          <a:stretch>
            <a:fillRect/>
          </a:stretch>
        </p:blipFill>
        <p:spPr>
          <a:xfrm>
            <a:off x="0" y="0"/>
            <a:ext cx="9144002" cy="512215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539" name="Shape 539"/>
        <p:cNvGrpSpPr/>
        <p:nvPr/>
      </p:nvGrpSpPr>
      <p:grpSpPr>
        <a:xfrm>
          <a:off x="0" y="0"/>
          <a:ext cx="0" cy="0"/>
          <a:chOff x="0" y="0"/>
          <a:chExt cx="0" cy="0"/>
        </a:xfrm>
      </p:grpSpPr>
      <p:pic>
        <p:nvPicPr>
          <p:cNvPr id="540" name="Google Shape;540;p45" descr="thank you slide with no details further"/>
          <p:cNvPicPr preferRelativeResize="0"/>
          <p:nvPr/>
        </p:nvPicPr>
        <p:blipFill>
          <a:blip r:embed="rId1"/>
          <a:stretch>
            <a:fillRect/>
          </a:stretch>
        </p:blipFill>
        <p:spPr>
          <a:xfrm>
            <a:off x="-35700" y="0"/>
            <a:ext cx="9210675" cy="5143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544" name="Shape 544"/>
        <p:cNvGrpSpPr/>
        <p:nvPr/>
      </p:nvGrpSpPr>
      <p:grpSpPr>
        <a:xfrm>
          <a:off x="0" y="0"/>
          <a:ext cx="0" cy="0"/>
          <a:chOff x="0" y="0"/>
          <a:chExt cx="0" cy="0"/>
        </a:xfrm>
      </p:grpSpPr>
      <p:sp>
        <p:nvSpPr>
          <p:cNvPr id="545" name="Google Shape;545;p46"/>
          <p:cNvSpPr/>
          <p:nvPr/>
        </p:nvSpPr>
        <p:spPr>
          <a:xfrm>
            <a:off x="0" y="0"/>
            <a:ext cx="914400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grpSp>
        <p:nvGrpSpPr>
          <p:cNvPr id="546" name="Google Shape;546;p46"/>
          <p:cNvGrpSpPr/>
          <p:nvPr/>
        </p:nvGrpSpPr>
        <p:grpSpPr>
          <a:xfrm>
            <a:off x="4766059" y="373607"/>
            <a:ext cx="3968639" cy="1727531"/>
            <a:chOff x="0" y="-47625"/>
            <a:chExt cx="1311409" cy="570851"/>
          </a:xfrm>
        </p:grpSpPr>
        <p:sp>
          <p:nvSpPr>
            <p:cNvPr id="547" name="Google Shape;547;p46"/>
            <p:cNvSpPr/>
            <p:nvPr/>
          </p:nvSpPr>
          <p:spPr>
            <a:xfrm>
              <a:off x="0" y="0"/>
              <a:ext cx="1311409" cy="523226"/>
            </a:xfrm>
            <a:custGeom>
              <a:avLst/>
              <a:gdLst/>
              <a:ahLst/>
              <a:cxnLst/>
              <a:rect l="l" t="t" r="r" b="b"/>
              <a:pathLst>
                <a:path w="1311409" h="523226" extrusionOk="0">
                  <a:moveTo>
                    <a:pt x="0" y="0"/>
                  </a:moveTo>
                  <a:lnTo>
                    <a:pt x="1311409" y="0"/>
                  </a:lnTo>
                  <a:lnTo>
                    <a:pt x="1311409" y="523226"/>
                  </a:lnTo>
                  <a:lnTo>
                    <a:pt x="0" y="523226"/>
                  </a:lnTo>
                  <a:close/>
                </a:path>
              </a:pathLst>
            </a:custGeom>
            <a:solidFill>
              <a:srgbClr val="BB2117"/>
            </a:solidFill>
            <a:ln>
              <a:noFill/>
            </a:ln>
          </p:spPr>
        </p:sp>
        <p:sp>
          <p:nvSpPr>
            <p:cNvPr id="548" name="Google Shape;548;p46"/>
            <p:cNvSpPr txBox="1"/>
            <p:nvPr/>
          </p:nvSpPr>
          <p:spPr>
            <a:xfrm>
              <a:off x="0" y="-47625"/>
              <a:ext cx="1311409" cy="570851"/>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cxnSp>
        <p:nvCxnSpPr>
          <p:cNvPr id="549" name="Google Shape;549;p46"/>
          <p:cNvCxnSpPr/>
          <p:nvPr/>
        </p:nvCxnSpPr>
        <p:spPr>
          <a:xfrm rot="10800000">
            <a:off x="0" y="4391152"/>
            <a:ext cx="9144000" cy="0"/>
          </a:xfrm>
          <a:prstGeom prst="straightConnector1">
            <a:avLst/>
          </a:prstGeom>
          <a:noFill/>
          <a:ln w="9525" cap="flat" cmpd="sng">
            <a:solidFill>
              <a:srgbClr val="000000"/>
            </a:solidFill>
            <a:prstDash val="solid"/>
            <a:round/>
            <a:headEnd type="none" w="sm" len="sm"/>
            <a:tailEnd type="none" w="sm" len="sm"/>
          </a:ln>
        </p:spPr>
      </p:cxnSp>
      <p:cxnSp>
        <p:nvCxnSpPr>
          <p:cNvPr id="550" name="Google Shape;550;p46"/>
          <p:cNvCxnSpPr/>
          <p:nvPr/>
        </p:nvCxnSpPr>
        <p:spPr>
          <a:xfrm rot="10800000">
            <a:off x="4313903" y="244633"/>
            <a:ext cx="0" cy="4149376"/>
          </a:xfrm>
          <a:prstGeom prst="straightConnector1">
            <a:avLst/>
          </a:prstGeom>
          <a:noFill/>
          <a:ln w="9525" cap="flat" cmpd="sng">
            <a:solidFill>
              <a:srgbClr val="000000"/>
            </a:solidFill>
            <a:prstDash val="solid"/>
            <a:round/>
            <a:headEnd type="none" w="sm" len="sm"/>
            <a:tailEnd type="none" w="sm" len="sm"/>
          </a:ln>
        </p:spPr>
      </p:cxnSp>
      <p:sp>
        <p:nvSpPr>
          <p:cNvPr id="551" name="Google Shape;551;p46"/>
          <p:cNvSpPr txBox="1"/>
          <p:nvPr/>
        </p:nvSpPr>
        <p:spPr>
          <a:xfrm>
            <a:off x="409303" y="498682"/>
            <a:ext cx="1429237" cy="26066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000000"/>
                </a:solidFill>
                <a:latin typeface="Arial" panose="020B0704020202020204"/>
                <a:ea typeface="Arial" panose="020B0704020202020204"/>
                <a:cs typeface="Arial" panose="020B0704020202020204"/>
                <a:sym typeface="Arial" panose="020B0704020202020204"/>
              </a:rPr>
              <a:t>Introduction</a:t>
            </a:r>
            <a:endParaRPr sz="700"/>
          </a:p>
        </p:txBody>
      </p:sp>
      <p:sp>
        <p:nvSpPr>
          <p:cNvPr id="552" name="Google Shape;552;p46"/>
          <p:cNvSpPr txBox="1"/>
          <p:nvPr/>
        </p:nvSpPr>
        <p:spPr>
          <a:xfrm>
            <a:off x="406922" y="3147813"/>
            <a:ext cx="3442638" cy="832168"/>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SWOT analysis is an essential tool in the world of business and organizational planning. By recognizing its four main elements-Strengths, Weaknesses, Opportunities, and Threats-an organization can assess its strategic position and make more informed decisions. SWOT is the foundation for formulating long-term strategies that are resilient and adaptive to environmental changes.</a:t>
            </a:r>
            <a:endParaRPr sz="700"/>
          </a:p>
        </p:txBody>
      </p:sp>
      <p:sp>
        <p:nvSpPr>
          <p:cNvPr id="553" name="Google Shape;553;p46"/>
          <p:cNvSpPr txBox="1"/>
          <p:nvPr/>
        </p:nvSpPr>
        <p:spPr>
          <a:xfrm>
            <a:off x="406922" y="4674779"/>
            <a:ext cx="180383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SWOT Analysis Presentation</a:t>
            </a:r>
            <a:endParaRPr sz="700"/>
          </a:p>
        </p:txBody>
      </p:sp>
      <p:sp>
        <p:nvSpPr>
          <p:cNvPr id="554" name="Google Shape;554;p46"/>
          <p:cNvSpPr txBox="1"/>
          <p:nvPr/>
        </p:nvSpPr>
        <p:spPr>
          <a:xfrm>
            <a:off x="2585382" y="4674779"/>
            <a:ext cx="1358909"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www.reallygreatsite.com</a:t>
            </a:r>
            <a:endParaRPr sz="700"/>
          </a:p>
        </p:txBody>
      </p:sp>
      <p:sp>
        <p:nvSpPr>
          <p:cNvPr id="555" name="Google Shape;555;p46"/>
          <p:cNvSpPr txBox="1"/>
          <p:nvPr/>
        </p:nvSpPr>
        <p:spPr>
          <a:xfrm>
            <a:off x="406921" y="863333"/>
            <a:ext cx="2767679" cy="144303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3200" b="1" i="0" u="none" strike="noStrike" cap="none">
                <a:solidFill>
                  <a:srgbClr val="BB2117"/>
                </a:solidFill>
                <a:latin typeface="Ultra"/>
                <a:ea typeface="Ultra"/>
                <a:cs typeface="Ultra"/>
                <a:sym typeface="Ultra"/>
              </a:rPr>
              <a:t>Why Is Swot Analysis Important?</a:t>
            </a:r>
            <a:endParaRPr sz="700"/>
          </a:p>
        </p:txBody>
      </p:sp>
      <p:sp>
        <p:nvSpPr>
          <p:cNvPr id="556" name="Google Shape;556;p46"/>
          <p:cNvSpPr txBox="1"/>
          <p:nvPr/>
        </p:nvSpPr>
        <p:spPr>
          <a:xfrm>
            <a:off x="4945149" y="1019122"/>
            <a:ext cx="1200165"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FFFFFF"/>
                </a:solidFill>
                <a:latin typeface="Arimo" panose="020B0604020202020204"/>
                <a:ea typeface="Arimo" panose="020B0604020202020204"/>
                <a:cs typeface="Arimo" panose="020B0604020202020204"/>
                <a:sym typeface="Arimo" panose="020B0604020202020204"/>
              </a:rPr>
              <a:t>More Targeted Decision Making</a:t>
            </a:r>
            <a:endParaRPr sz="700"/>
          </a:p>
        </p:txBody>
      </p:sp>
      <p:sp>
        <p:nvSpPr>
          <p:cNvPr id="557" name="Google Shape;557;p46"/>
          <p:cNvSpPr txBox="1"/>
          <p:nvPr/>
        </p:nvSpPr>
        <p:spPr>
          <a:xfrm>
            <a:off x="4945149" y="1534424"/>
            <a:ext cx="1564095"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SWOT helps set priorities and reduce uncertainty in planning.</a:t>
            </a:r>
            <a:endParaRPr sz="700"/>
          </a:p>
        </p:txBody>
      </p:sp>
      <p:sp>
        <p:nvSpPr>
          <p:cNvPr id="558" name="Google Shape;558;p46"/>
          <p:cNvSpPr/>
          <p:nvPr/>
        </p:nvSpPr>
        <p:spPr>
          <a:xfrm>
            <a:off x="8287202" y="4637596"/>
            <a:ext cx="447495" cy="256293"/>
          </a:xfrm>
          <a:custGeom>
            <a:avLst/>
            <a:gdLst/>
            <a:ahLst/>
            <a:cxnLst/>
            <a:rect l="l" t="t" r="r" b="b"/>
            <a:pathLst>
              <a:path w="894990" h="512585" extrusionOk="0">
                <a:moveTo>
                  <a:pt x="0" y="0"/>
                </a:moveTo>
                <a:lnTo>
                  <a:pt x="894991" y="0"/>
                </a:lnTo>
                <a:lnTo>
                  <a:pt x="894991" y="512585"/>
                </a:lnTo>
                <a:lnTo>
                  <a:pt x="0" y="512585"/>
                </a:lnTo>
                <a:lnTo>
                  <a:pt x="0" y="0"/>
                </a:lnTo>
                <a:close/>
              </a:path>
            </a:pathLst>
          </a:custGeom>
          <a:blipFill rotWithShape="1">
            <a:blip r:embed="rId2"/>
            <a:stretch>
              <a:fillRect/>
            </a:stretch>
          </a:blipFill>
          <a:ln>
            <a:noFill/>
          </a:ln>
        </p:spPr>
      </p:sp>
      <p:sp>
        <p:nvSpPr>
          <p:cNvPr id="559" name="Google Shape;559;p46"/>
          <p:cNvSpPr txBox="1"/>
          <p:nvPr/>
        </p:nvSpPr>
        <p:spPr>
          <a:xfrm>
            <a:off x="4945149" y="670132"/>
            <a:ext cx="21166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01</a:t>
            </a:r>
            <a:endParaRPr sz="700"/>
          </a:p>
        </p:txBody>
      </p:sp>
      <p:grpSp>
        <p:nvGrpSpPr>
          <p:cNvPr id="560" name="Google Shape;560;p46"/>
          <p:cNvGrpSpPr/>
          <p:nvPr/>
        </p:nvGrpSpPr>
        <p:grpSpPr>
          <a:xfrm>
            <a:off x="4766059" y="2028498"/>
            <a:ext cx="1945430" cy="2089555"/>
            <a:chOff x="0" y="-47625"/>
            <a:chExt cx="642854" cy="690479"/>
          </a:xfrm>
        </p:grpSpPr>
        <p:sp>
          <p:nvSpPr>
            <p:cNvPr id="561" name="Google Shape;561;p46"/>
            <p:cNvSpPr/>
            <p:nvPr/>
          </p:nvSpPr>
          <p:spPr>
            <a:xfrm>
              <a:off x="0" y="0"/>
              <a:ext cx="642854" cy="642854"/>
            </a:xfrm>
            <a:custGeom>
              <a:avLst/>
              <a:gdLst/>
              <a:ahLst/>
              <a:cxnLst/>
              <a:rect l="l" t="t" r="r" b="b"/>
              <a:pathLst>
                <a:path w="642854" h="642854" extrusionOk="0">
                  <a:moveTo>
                    <a:pt x="0" y="0"/>
                  </a:moveTo>
                  <a:lnTo>
                    <a:pt x="642854" y="0"/>
                  </a:lnTo>
                  <a:lnTo>
                    <a:pt x="642854" y="642854"/>
                  </a:lnTo>
                  <a:lnTo>
                    <a:pt x="0" y="642854"/>
                  </a:lnTo>
                  <a:close/>
                </a:path>
              </a:pathLst>
            </a:custGeom>
            <a:solidFill>
              <a:srgbClr val="6F6F6F"/>
            </a:solidFill>
            <a:ln>
              <a:noFill/>
            </a:ln>
          </p:spPr>
        </p:sp>
        <p:sp>
          <p:nvSpPr>
            <p:cNvPr id="562" name="Google Shape;562;p46"/>
            <p:cNvSpPr txBox="1"/>
            <p:nvPr/>
          </p:nvSpPr>
          <p:spPr>
            <a:xfrm>
              <a:off x="0" y="-47625"/>
              <a:ext cx="642854" cy="690479"/>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563" name="Google Shape;563;p46"/>
          <p:cNvSpPr txBox="1"/>
          <p:nvPr/>
        </p:nvSpPr>
        <p:spPr>
          <a:xfrm>
            <a:off x="4945149" y="2674013"/>
            <a:ext cx="1562702"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FFFFFF"/>
                </a:solidFill>
                <a:latin typeface="Arimo" panose="020B0604020202020204"/>
                <a:ea typeface="Arimo" panose="020B0604020202020204"/>
                <a:cs typeface="Arimo" panose="020B0604020202020204"/>
                <a:sym typeface="Arimo" panose="020B0604020202020204"/>
              </a:rPr>
              <a:t>Comprehensive Evaluation of Internal and External</a:t>
            </a:r>
            <a:endParaRPr sz="700"/>
          </a:p>
        </p:txBody>
      </p:sp>
      <p:sp>
        <p:nvSpPr>
          <p:cNvPr id="564" name="Google Shape;564;p46"/>
          <p:cNvSpPr txBox="1"/>
          <p:nvPr/>
        </p:nvSpPr>
        <p:spPr>
          <a:xfrm>
            <a:off x="4945149" y="3189315"/>
            <a:ext cx="1562702" cy="55594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A balanced analysis of internal strengths and weaknesses and external opportunities and threats enriches strategic insights.</a:t>
            </a:r>
            <a:endParaRPr sz="700"/>
          </a:p>
        </p:txBody>
      </p:sp>
      <p:sp>
        <p:nvSpPr>
          <p:cNvPr id="565" name="Google Shape;565;p46"/>
          <p:cNvSpPr txBox="1"/>
          <p:nvPr/>
        </p:nvSpPr>
        <p:spPr>
          <a:xfrm>
            <a:off x="4945149" y="2325023"/>
            <a:ext cx="21166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02</a:t>
            </a:r>
            <a:endParaRPr sz="700"/>
          </a:p>
        </p:txBody>
      </p:sp>
      <p:grpSp>
        <p:nvGrpSpPr>
          <p:cNvPr id="566" name="Google Shape;566;p46"/>
          <p:cNvGrpSpPr/>
          <p:nvPr/>
        </p:nvGrpSpPr>
        <p:grpSpPr>
          <a:xfrm>
            <a:off x="6789267" y="2028498"/>
            <a:ext cx="1945431" cy="2089555"/>
            <a:chOff x="0" y="-47625"/>
            <a:chExt cx="642854" cy="690479"/>
          </a:xfrm>
        </p:grpSpPr>
        <p:sp>
          <p:nvSpPr>
            <p:cNvPr id="567" name="Google Shape;567;p46"/>
            <p:cNvSpPr/>
            <p:nvPr/>
          </p:nvSpPr>
          <p:spPr>
            <a:xfrm>
              <a:off x="0" y="0"/>
              <a:ext cx="642854" cy="642854"/>
            </a:xfrm>
            <a:custGeom>
              <a:avLst/>
              <a:gdLst/>
              <a:ahLst/>
              <a:cxnLst/>
              <a:rect l="l" t="t" r="r" b="b"/>
              <a:pathLst>
                <a:path w="642854" h="642854" extrusionOk="0">
                  <a:moveTo>
                    <a:pt x="0" y="0"/>
                  </a:moveTo>
                  <a:lnTo>
                    <a:pt x="642854" y="0"/>
                  </a:lnTo>
                  <a:lnTo>
                    <a:pt x="642854" y="642854"/>
                  </a:lnTo>
                  <a:lnTo>
                    <a:pt x="0" y="642854"/>
                  </a:lnTo>
                  <a:close/>
                </a:path>
              </a:pathLst>
            </a:custGeom>
            <a:solidFill>
              <a:srgbClr val="000000"/>
            </a:solidFill>
            <a:ln>
              <a:noFill/>
            </a:ln>
          </p:spPr>
        </p:sp>
        <p:sp>
          <p:nvSpPr>
            <p:cNvPr id="568" name="Google Shape;568;p46"/>
            <p:cNvSpPr txBox="1"/>
            <p:nvPr/>
          </p:nvSpPr>
          <p:spPr>
            <a:xfrm>
              <a:off x="0" y="-47625"/>
              <a:ext cx="642854" cy="690479"/>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569" name="Google Shape;569;p46"/>
          <p:cNvSpPr txBox="1"/>
          <p:nvPr/>
        </p:nvSpPr>
        <p:spPr>
          <a:xfrm>
            <a:off x="6968357" y="2674013"/>
            <a:ext cx="1427804"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FFFFFF"/>
                </a:solidFill>
                <a:latin typeface="Arimo" panose="020B0604020202020204"/>
                <a:ea typeface="Arimo" panose="020B0604020202020204"/>
                <a:cs typeface="Arimo" panose="020B0604020202020204"/>
                <a:sym typeface="Arimo" panose="020B0604020202020204"/>
              </a:rPr>
              <a:t>Realistic and Scalable Strategy Platform</a:t>
            </a:r>
            <a:endParaRPr sz="700"/>
          </a:p>
        </p:txBody>
      </p:sp>
      <p:sp>
        <p:nvSpPr>
          <p:cNvPr id="570" name="Google Shape;570;p46"/>
          <p:cNvSpPr txBox="1"/>
          <p:nvPr/>
        </p:nvSpPr>
        <p:spPr>
          <a:xfrm>
            <a:off x="6968357" y="3189315"/>
            <a:ext cx="1614796" cy="55594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SWOT provides a realistic framework for feasible strategies based on resources and market conditions.</a:t>
            </a:r>
            <a:endParaRPr sz="700"/>
          </a:p>
        </p:txBody>
      </p:sp>
      <p:sp>
        <p:nvSpPr>
          <p:cNvPr id="571" name="Google Shape;571;p46"/>
          <p:cNvSpPr txBox="1"/>
          <p:nvPr/>
        </p:nvSpPr>
        <p:spPr>
          <a:xfrm>
            <a:off x="6968357" y="2325023"/>
            <a:ext cx="21166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03</a:t>
            </a:r>
            <a:endParaRPr sz="700"/>
          </a:p>
        </p:txBody>
      </p:sp>
      <p:sp>
        <p:nvSpPr>
          <p:cNvPr id="572" name="Google Shape;572;p46"/>
          <p:cNvSpPr txBox="1"/>
          <p:nvPr/>
        </p:nvSpPr>
        <p:spPr>
          <a:xfrm>
            <a:off x="406922" y="2557463"/>
            <a:ext cx="2421842" cy="389572"/>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200" b="0" i="0" u="none" strike="noStrike" cap="none">
                <a:solidFill>
                  <a:srgbClr val="000000"/>
                </a:solidFill>
                <a:latin typeface="Arial" panose="020B0704020202020204"/>
                <a:ea typeface="Arial" panose="020B0704020202020204"/>
                <a:cs typeface="Arial" panose="020B0704020202020204"/>
                <a:sym typeface="Arial" panose="020B0704020202020204"/>
              </a:rPr>
              <a:t>Basic Understanding of SWOT Analysis as a Key Strategic Tool</a:t>
            </a:r>
            <a:endParaRPr sz="700"/>
          </a:p>
        </p:txBody>
      </p:sp>
      <p:cxnSp>
        <p:nvCxnSpPr>
          <p:cNvPr id="573" name="Google Shape;573;p46"/>
          <p:cNvCxnSpPr/>
          <p:nvPr/>
        </p:nvCxnSpPr>
        <p:spPr>
          <a:xfrm rot="10800000">
            <a:off x="0" y="244634"/>
            <a:ext cx="9144000" cy="0"/>
          </a:xfrm>
          <a:prstGeom prst="straightConnector1">
            <a:avLst/>
          </a:prstGeom>
          <a:noFill/>
          <a:ln w="9525" cap="flat" cmpd="sng">
            <a:solidFill>
              <a:srgbClr val="000000"/>
            </a:solidFill>
            <a:prstDash val="solid"/>
            <a:round/>
            <a:headEnd type="none" w="sm" len="sm"/>
            <a:tailEnd type="none" w="sm" len="sm"/>
          </a:ln>
        </p:spPr>
      </p:cxn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577" name="Shape 577"/>
        <p:cNvGrpSpPr/>
        <p:nvPr/>
      </p:nvGrpSpPr>
      <p:grpSpPr>
        <a:xfrm>
          <a:off x="0" y="0"/>
          <a:ext cx="0" cy="0"/>
          <a:chOff x="0" y="0"/>
          <a:chExt cx="0" cy="0"/>
        </a:xfrm>
      </p:grpSpPr>
      <p:grpSp>
        <p:nvGrpSpPr>
          <p:cNvPr id="578" name="Google Shape;578;p47"/>
          <p:cNvGrpSpPr/>
          <p:nvPr/>
        </p:nvGrpSpPr>
        <p:grpSpPr>
          <a:xfrm>
            <a:off x="5873711" y="1812178"/>
            <a:ext cx="2860986" cy="623857"/>
            <a:chOff x="0" y="-47625"/>
            <a:chExt cx="945393" cy="206149"/>
          </a:xfrm>
        </p:grpSpPr>
        <p:sp>
          <p:nvSpPr>
            <p:cNvPr id="579" name="Google Shape;579;p47"/>
            <p:cNvSpPr/>
            <p:nvPr/>
          </p:nvSpPr>
          <p:spPr>
            <a:xfrm>
              <a:off x="0" y="0"/>
              <a:ext cx="945393" cy="158524"/>
            </a:xfrm>
            <a:custGeom>
              <a:avLst/>
              <a:gdLst/>
              <a:ahLst/>
              <a:cxnLst/>
              <a:rect l="l" t="t" r="r" b="b"/>
              <a:pathLst>
                <a:path w="945393" h="158524" extrusionOk="0">
                  <a:moveTo>
                    <a:pt x="0" y="0"/>
                  </a:moveTo>
                  <a:lnTo>
                    <a:pt x="945393" y="0"/>
                  </a:lnTo>
                  <a:lnTo>
                    <a:pt x="945393" y="158524"/>
                  </a:lnTo>
                  <a:lnTo>
                    <a:pt x="0" y="158524"/>
                  </a:lnTo>
                  <a:close/>
                </a:path>
              </a:pathLst>
            </a:custGeom>
            <a:solidFill>
              <a:srgbClr val="BB2117"/>
            </a:solidFill>
            <a:ln>
              <a:noFill/>
            </a:ln>
          </p:spPr>
        </p:sp>
        <p:sp>
          <p:nvSpPr>
            <p:cNvPr id="580" name="Google Shape;580;p47"/>
            <p:cNvSpPr txBox="1"/>
            <p:nvPr/>
          </p:nvSpPr>
          <p:spPr>
            <a:xfrm>
              <a:off x="0" y="-47625"/>
              <a:ext cx="945393" cy="206149"/>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cxnSp>
        <p:nvCxnSpPr>
          <p:cNvPr id="581" name="Google Shape;581;p47"/>
          <p:cNvCxnSpPr/>
          <p:nvPr/>
        </p:nvCxnSpPr>
        <p:spPr>
          <a:xfrm rot="10800000">
            <a:off x="0" y="4391152"/>
            <a:ext cx="9144000" cy="0"/>
          </a:xfrm>
          <a:prstGeom prst="straightConnector1">
            <a:avLst/>
          </a:prstGeom>
          <a:noFill/>
          <a:ln w="9525" cap="flat" cmpd="sng">
            <a:solidFill>
              <a:srgbClr val="000000"/>
            </a:solidFill>
            <a:prstDash val="solid"/>
            <a:round/>
            <a:headEnd type="none" w="sm" len="sm"/>
            <a:tailEnd type="none" w="sm" len="sm"/>
          </a:ln>
        </p:spPr>
      </p:cxnSp>
      <p:sp>
        <p:nvSpPr>
          <p:cNvPr id="582" name="Google Shape;582;p47"/>
          <p:cNvSpPr/>
          <p:nvPr/>
        </p:nvSpPr>
        <p:spPr>
          <a:xfrm>
            <a:off x="8287202" y="4637596"/>
            <a:ext cx="447495" cy="256293"/>
          </a:xfrm>
          <a:custGeom>
            <a:avLst/>
            <a:gdLst/>
            <a:ahLst/>
            <a:cxnLst/>
            <a:rect l="l" t="t" r="r" b="b"/>
            <a:pathLst>
              <a:path w="894990" h="512585" extrusionOk="0">
                <a:moveTo>
                  <a:pt x="0" y="0"/>
                </a:moveTo>
                <a:lnTo>
                  <a:pt x="894991" y="0"/>
                </a:lnTo>
                <a:lnTo>
                  <a:pt x="894991" y="512585"/>
                </a:lnTo>
                <a:lnTo>
                  <a:pt x="0" y="512585"/>
                </a:lnTo>
                <a:lnTo>
                  <a:pt x="0" y="0"/>
                </a:lnTo>
                <a:close/>
              </a:path>
            </a:pathLst>
          </a:custGeom>
          <a:blipFill rotWithShape="1">
            <a:blip r:embed="rId1"/>
            <a:stretch>
              <a:fillRect/>
            </a:stretch>
          </a:blipFill>
          <a:ln>
            <a:noFill/>
          </a:ln>
        </p:spPr>
      </p:sp>
      <p:grpSp>
        <p:nvGrpSpPr>
          <p:cNvPr id="583" name="Google Shape;583;p47"/>
          <p:cNvGrpSpPr/>
          <p:nvPr/>
        </p:nvGrpSpPr>
        <p:grpSpPr>
          <a:xfrm>
            <a:off x="0" y="-124500"/>
            <a:ext cx="9144000" cy="1568967"/>
            <a:chOff x="0" y="-47625"/>
            <a:chExt cx="3021571" cy="518454"/>
          </a:xfrm>
        </p:grpSpPr>
        <p:sp>
          <p:nvSpPr>
            <p:cNvPr id="584" name="Google Shape;584;p47"/>
            <p:cNvSpPr/>
            <p:nvPr/>
          </p:nvSpPr>
          <p:spPr>
            <a:xfrm>
              <a:off x="0" y="0"/>
              <a:ext cx="3021571" cy="470829"/>
            </a:xfrm>
            <a:custGeom>
              <a:avLst/>
              <a:gdLst/>
              <a:ahLst/>
              <a:cxnLst/>
              <a:rect l="l" t="t" r="r" b="b"/>
              <a:pathLst>
                <a:path w="3021571" h="470829" extrusionOk="0">
                  <a:moveTo>
                    <a:pt x="0" y="0"/>
                  </a:moveTo>
                  <a:lnTo>
                    <a:pt x="3021571" y="0"/>
                  </a:lnTo>
                  <a:lnTo>
                    <a:pt x="3021571" y="470829"/>
                  </a:lnTo>
                  <a:lnTo>
                    <a:pt x="0" y="470829"/>
                  </a:lnTo>
                  <a:close/>
                </a:path>
              </a:pathLst>
            </a:custGeom>
            <a:solidFill>
              <a:srgbClr val="BB2117"/>
            </a:solidFill>
            <a:ln>
              <a:noFill/>
            </a:ln>
          </p:spPr>
        </p:sp>
        <p:sp>
          <p:nvSpPr>
            <p:cNvPr id="585" name="Google Shape;585;p47"/>
            <p:cNvSpPr txBox="1"/>
            <p:nvPr/>
          </p:nvSpPr>
          <p:spPr>
            <a:xfrm>
              <a:off x="0" y="-47625"/>
              <a:ext cx="3021571" cy="518454"/>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586" name="Google Shape;586;p47"/>
          <p:cNvGrpSpPr/>
          <p:nvPr/>
        </p:nvGrpSpPr>
        <p:grpSpPr>
          <a:xfrm>
            <a:off x="3491655" y="184105"/>
            <a:ext cx="3254482" cy="1067481"/>
            <a:chOff x="0" y="0"/>
            <a:chExt cx="8678617" cy="2846614"/>
          </a:xfrm>
        </p:grpSpPr>
        <p:sp>
          <p:nvSpPr>
            <p:cNvPr id="587" name="Google Shape;587;p47"/>
            <p:cNvSpPr/>
            <p:nvPr/>
          </p:nvSpPr>
          <p:spPr>
            <a:xfrm>
              <a:off x="0" y="0"/>
              <a:ext cx="2845506" cy="2846614"/>
            </a:xfrm>
            <a:custGeom>
              <a:avLst/>
              <a:gdLst/>
              <a:ahLst/>
              <a:cxnLst/>
              <a:rect l="l" t="t" r="r" b="b"/>
              <a:pathLst>
                <a:path w="2845506" h="2846614" extrusionOk="0">
                  <a:moveTo>
                    <a:pt x="0" y="0"/>
                  </a:moveTo>
                  <a:lnTo>
                    <a:pt x="2845506" y="0"/>
                  </a:lnTo>
                  <a:lnTo>
                    <a:pt x="2845506" y="2846614"/>
                  </a:lnTo>
                  <a:lnTo>
                    <a:pt x="0" y="2846614"/>
                  </a:lnTo>
                  <a:lnTo>
                    <a:pt x="0" y="0"/>
                  </a:lnTo>
                  <a:close/>
                </a:path>
              </a:pathLst>
            </a:custGeom>
            <a:blipFill rotWithShape="1">
              <a:blip r:embed="rId2">
                <a:alphaModFix amt="40000"/>
              </a:blip>
              <a:stretch>
                <a:fillRect l="-135289" t="-9200" r="-5315" b="-131312"/>
              </a:stretch>
            </a:blipFill>
            <a:ln>
              <a:noFill/>
            </a:ln>
          </p:spPr>
        </p:sp>
        <p:sp>
          <p:nvSpPr>
            <p:cNvPr id="588" name="Google Shape;588;p47"/>
            <p:cNvSpPr/>
            <p:nvPr/>
          </p:nvSpPr>
          <p:spPr>
            <a:xfrm>
              <a:off x="2916336" y="0"/>
              <a:ext cx="2845506" cy="2846614"/>
            </a:xfrm>
            <a:custGeom>
              <a:avLst/>
              <a:gdLst/>
              <a:ahLst/>
              <a:cxnLst/>
              <a:rect l="l" t="t" r="r" b="b"/>
              <a:pathLst>
                <a:path w="2845506" h="2846614" extrusionOk="0">
                  <a:moveTo>
                    <a:pt x="0" y="0"/>
                  </a:moveTo>
                  <a:lnTo>
                    <a:pt x="2845505" y="0"/>
                  </a:lnTo>
                  <a:lnTo>
                    <a:pt x="2845505" y="2846614"/>
                  </a:lnTo>
                  <a:lnTo>
                    <a:pt x="0" y="2846614"/>
                  </a:lnTo>
                  <a:lnTo>
                    <a:pt x="0" y="0"/>
                  </a:lnTo>
                  <a:close/>
                </a:path>
              </a:pathLst>
            </a:custGeom>
            <a:blipFill rotWithShape="1">
              <a:blip r:embed="rId3">
                <a:alphaModFix amt="40000"/>
              </a:blip>
              <a:stretch>
                <a:fillRect l="-28271" t="-107364" r="-112333" b="-33142"/>
              </a:stretch>
            </a:blipFill>
            <a:ln>
              <a:noFill/>
            </a:ln>
          </p:spPr>
        </p:sp>
        <p:sp>
          <p:nvSpPr>
            <p:cNvPr id="589" name="Google Shape;589;p47"/>
            <p:cNvSpPr/>
            <p:nvPr/>
          </p:nvSpPr>
          <p:spPr>
            <a:xfrm>
              <a:off x="5833111" y="0"/>
              <a:ext cx="2845506" cy="2846614"/>
            </a:xfrm>
            <a:custGeom>
              <a:avLst/>
              <a:gdLst/>
              <a:ahLst/>
              <a:cxnLst/>
              <a:rect l="l" t="t" r="r" b="b"/>
              <a:pathLst>
                <a:path w="2845506" h="2846614" extrusionOk="0">
                  <a:moveTo>
                    <a:pt x="0" y="0"/>
                  </a:moveTo>
                  <a:lnTo>
                    <a:pt x="2845506" y="0"/>
                  </a:lnTo>
                  <a:lnTo>
                    <a:pt x="2845506" y="2846614"/>
                  </a:lnTo>
                  <a:lnTo>
                    <a:pt x="0" y="2846614"/>
                  </a:lnTo>
                  <a:lnTo>
                    <a:pt x="0" y="0"/>
                  </a:lnTo>
                  <a:close/>
                </a:path>
              </a:pathLst>
            </a:custGeom>
            <a:blipFill rotWithShape="1">
              <a:blip r:embed="rId4">
                <a:alphaModFix amt="40000"/>
              </a:blip>
              <a:stretch>
                <a:fillRect l="-138437" t="-107518" r="-2168" b="-32988"/>
              </a:stretch>
            </a:blipFill>
            <a:ln>
              <a:noFill/>
            </a:ln>
          </p:spPr>
        </p:sp>
      </p:grpSp>
      <p:sp>
        <p:nvSpPr>
          <p:cNvPr id="590" name="Google Shape;590;p47"/>
          <p:cNvSpPr/>
          <p:nvPr/>
        </p:nvSpPr>
        <p:spPr>
          <a:xfrm>
            <a:off x="2397864" y="184105"/>
            <a:ext cx="1067065" cy="1067481"/>
          </a:xfrm>
          <a:custGeom>
            <a:avLst/>
            <a:gdLst/>
            <a:ahLst/>
            <a:cxnLst/>
            <a:rect l="l" t="t" r="r" b="b"/>
            <a:pathLst>
              <a:path w="2134129" h="2134961" extrusionOk="0">
                <a:moveTo>
                  <a:pt x="0" y="0"/>
                </a:moveTo>
                <a:lnTo>
                  <a:pt x="2134129" y="0"/>
                </a:lnTo>
                <a:lnTo>
                  <a:pt x="2134129" y="2134961"/>
                </a:lnTo>
                <a:lnTo>
                  <a:pt x="0" y="2134961"/>
                </a:lnTo>
                <a:lnTo>
                  <a:pt x="0" y="0"/>
                </a:lnTo>
                <a:close/>
              </a:path>
            </a:pathLst>
          </a:custGeom>
          <a:blipFill rotWithShape="1">
            <a:blip r:embed="rId5"/>
            <a:stretch>
              <a:fillRect l="-26382" t="-8569" r="-114222" b="-131937"/>
            </a:stretch>
          </a:blipFill>
          <a:ln>
            <a:noFill/>
          </a:ln>
        </p:spPr>
      </p:sp>
      <p:grpSp>
        <p:nvGrpSpPr>
          <p:cNvPr id="591" name="Google Shape;591;p47"/>
          <p:cNvGrpSpPr/>
          <p:nvPr/>
        </p:nvGrpSpPr>
        <p:grpSpPr>
          <a:xfrm>
            <a:off x="5873711" y="1539868"/>
            <a:ext cx="2860986" cy="416435"/>
            <a:chOff x="0" y="-47625"/>
            <a:chExt cx="945393" cy="137608"/>
          </a:xfrm>
        </p:grpSpPr>
        <p:sp>
          <p:nvSpPr>
            <p:cNvPr id="592" name="Google Shape;592;p47"/>
            <p:cNvSpPr/>
            <p:nvPr/>
          </p:nvSpPr>
          <p:spPr>
            <a:xfrm>
              <a:off x="0" y="0"/>
              <a:ext cx="945393" cy="89983"/>
            </a:xfrm>
            <a:custGeom>
              <a:avLst/>
              <a:gdLst/>
              <a:ahLst/>
              <a:cxnLst/>
              <a:rect l="l" t="t" r="r" b="b"/>
              <a:pathLst>
                <a:path w="945393" h="89983" extrusionOk="0">
                  <a:moveTo>
                    <a:pt x="0" y="0"/>
                  </a:moveTo>
                  <a:lnTo>
                    <a:pt x="945393" y="0"/>
                  </a:lnTo>
                  <a:lnTo>
                    <a:pt x="945393" y="89983"/>
                  </a:lnTo>
                  <a:lnTo>
                    <a:pt x="0" y="89983"/>
                  </a:lnTo>
                  <a:close/>
                </a:path>
              </a:pathLst>
            </a:custGeom>
            <a:solidFill>
              <a:srgbClr val="000000"/>
            </a:solidFill>
            <a:ln>
              <a:noFill/>
            </a:ln>
          </p:spPr>
        </p:sp>
        <p:sp>
          <p:nvSpPr>
            <p:cNvPr id="593" name="Google Shape;593;p47"/>
            <p:cNvSpPr txBox="1"/>
            <p:nvPr/>
          </p:nvSpPr>
          <p:spPr>
            <a:xfrm>
              <a:off x="0" y="-47625"/>
              <a:ext cx="945393" cy="137608"/>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cxnSp>
        <p:nvCxnSpPr>
          <p:cNvPr id="594" name="Google Shape;594;p47"/>
          <p:cNvCxnSpPr/>
          <p:nvPr/>
        </p:nvCxnSpPr>
        <p:spPr>
          <a:xfrm rot="10800000">
            <a:off x="4719020" y="1444467"/>
            <a:ext cx="0" cy="2949544"/>
          </a:xfrm>
          <a:prstGeom prst="straightConnector1">
            <a:avLst/>
          </a:prstGeom>
          <a:noFill/>
          <a:ln w="9525" cap="flat" cmpd="sng">
            <a:solidFill>
              <a:srgbClr val="000000"/>
            </a:solidFill>
            <a:prstDash val="solid"/>
            <a:round/>
            <a:headEnd type="none" w="sm" len="sm"/>
            <a:tailEnd type="none" w="sm" len="sm"/>
          </a:ln>
        </p:spPr>
      </p:cxnSp>
      <p:grpSp>
        <p:nvGrpSpPr>
          <p:cNvPr id="595" name="Google Shape;595;p47"/>
          <p:cNvGrpSpPr/>
          <p:nvPr/>
        </p:nvGrpSpPr>
        <p:grpSpPr>
          <a:xfrm>
            <a:off x="5123874" y="1539868"/>
            <a:ext cx="749840" cy="896167"/>
            <a:chOff x="0" y="-47625"/>
            <a:chExt cx="247779" cy="296132"/>
          </a:xfrm>
        </p:grpSpPr>
        <p:sp>
          <p:nvSpPr>
            <p:cNvPr id="596" name="Google Shape;596;p47"/>
            <p:cNvSpPr/>
            <p:nvPr/>
          </p:nvSpPr>
          <p:spPr>
            <a:xfrm>
              <a:off x="0" y="0"/>
              <a:ext cx="247779" cy="248507"/>
            </a:xfrm>
            <a:custGeom>
              <a:avLst/>
              <a:gdLst/>
              <a:ahLst/>
              <a:cxnLst/>
              <a:rect l="l" t="t" r="r" b="b"/>
              <a:pathLst>
                <a:path w="247779" h="248507" extrusionOk="0">
                  <a:moveTo>
                    <a:pt x="0" y="0"/>
                  </a:moveTo>
                  <a:lnTo>
                    <a:pt x="247779" y="0"/>
                  </a:lnTo>
                  <a:lnTo>
                    <a:pt x="247779" y="248507"/>
                  </a:lnTo>
                  <a:lnTo>
                    <a:pt x="0" y="248507"/>
                  </a:lnTo>
                  <a:close/>
                </a:path>
              </a:pathLst>
            </a:custGeom>
            <a:solidFill>
              <a:srgbClr val="6F6F6F"/>
            </a:solidFill>
            <a:ln>
              <a:noFill/>
            </a:ln>
          </p:spPr>
        </p:sp>
        <p:sp>
          <p:nvSpPr>
            <p:cNvPr id="597" name="Google Shape;597;p47"/>
            <p:cNvSpPr txBox="1"/>
            <p:nvPr/>
          </p:nvSpPr>
          <p:spPr>
            <a:xfrm>
              <a:off x="0" y="-47625"/>
              <a:ext cx="247778" cy="296132"/>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598" name="Google Shape;598;p47"/>
          <p:cNvSpPr/>
          <p:nvPr/>
        </p:nvSpPr>
        <p:spPr>
          <a:xfrm>
            <a:off x="5288197" y="1839151"/>
            <a:ext cx="421192" cy="431438"/>
          </a:xfrm>
          <a:custGeom>
            <a:avLst/>
            <a:gdLst/>
            <a:ahLst/>
            <a:cxnLst/>
            <a:rect l="l" t="t" r="r" b="b"/>
            <a:pathLst>
              <a:path w="842384" h="862877" extrusionOk="0">
                <a:moveTo>
                  <a:pt x="0" y="0"/>
                </a:moveTo>
                <a:lnTo>
                  <a:pt x="842384" y="0"/>
                </a:lnTo>
                <a:lnTo>
                  <a:pt x="842384" y="862877"/>
                </a:lnTo>
                <a:lnTo>
                  <a:pt x="0" y="862877"/>
                </a:lnTo>
                <a:lnTo>
                  <a:pt x="0" y="0"/>
                </a:lnTo>
                <a:close/>
              </a:path>
            </a:pathLst>
          </a:custGeom>
          <a:blipFill rotWithShape="1">
            <a:blip r:embed="rId6"/>
            <a:stretch>
              <a:fillRect/>
            </a:stretch>
          </a:blipFill>
          <a:ln>
            <a:noFill/>
          </a:ln>
        </p:spPr>
      </p:sp>
      <p:grpSp>
        <p:nvGrpSpPr>
          <p:cNvPr id="599" name="Google Shape;599;p47"/>
          <p:cNvGrpSpPr/>
          <p:nvPr/>
        </p:nvGrpSpPr>
        <p:grpSpPr>
          <a:xfrm>
            <a:off x="5873711" y="2686642"/>
            <a:ext cx="2860986" cy="623857"/>
            <a:chOff x="0" y="-47625"/>
            <a:chExt cx="945393" cy="206149"/>
          </a:xfrm>
        </p:grpSpPr>
        <p:sp>
          <p:nvSpPr>
            <p:cNvPr id="600" name="Google Shape;600;p47"/>
            <p:cNvSpPr/>
            <p:nvPr/>
          </p:nvSpPr>
          <p:spPr>
            <a:xfrm>
              <a:off x="0" y="0"/>
              <a:ext cx="945393" cy="158524"/>
            </a:xfrm>
            <a:custGeom>
              <a:avLst/>
              <a:gdLst/>
              <a:ahLst/>
              <a:cxnLst/>
              <a:rect l="l" t="t" r="r" b="b"/>
              <a:pathLst>
                <a:path w="945393" h="158524" extrusionOk="0">
                  <a:moveTo>
                    <a:pt x="0" y="0"/>
                  </a:moveTo>
                  <a:lnTo>
                    <a:pt x="945393" y="0"/>
                  </a:lnTo>
                  <a:lnTo>
                    <a:pt x="945393" y="158524"/>
                  </a:lnTo>
                  <a:lnTo>
                    <a:pt x="0" y="158524"/>
                  </a:lnTo>
                  <a:close/>
                </a:path>
              </a:pathLst>
            </a:custGeom>
            <a:solidFill>
              <a:srgbClr val="BB2117"/>
            </a:solidFill>
            <a:ln>
              <a:noFill/>
            </a:ln>
          </p:spPr>
        </p:sp>
        <p:sp>
          <p:nvSpPr>
            <p:cNvPr id="601" name="Google Shape;601;p47"/>
            <p:cNvSpPr txBox="1"/>
            <p:nvPr/>
          </p:nvSpPr>
          <p:spPr>
            <a:xfrm>
              <a:off x="0" y="-47625"/>
              <a:ext cx="945393" cy="206149"/>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602" name="Google Shape;602;p47"/>
          <p:cNvGrpSpPr/>
          <p:nvPr/>
        </p:nvGrpSpPr>
        <p:grpSpPr>
          <a:xfrm>
            <a:off x="5873711" y="2414332"/>
            <a:ext cx="2860986" cy="416435"/>
            <a:chOff x="0" y="-47625"/>
            <a:chExt cx="945393" cy="137608"/>
          </a:xfrm>
        </p:grpSpPr>
        <p:sp>
          <p:nvSpPr>
            <p:cNvPr id="603" name="Google Shape;603;p47"/>
            <p:cNvSpPr/>
            <p:nvPr/>
          </p:nvSpPr>
          <p:spPr>
            <a:xfrm>
              <a:off x="0" y="0"/>
              <a:ext cx="945393" cy="89983"/>
            </a:xfrm>
            <a:custGeom>
              <a:avLst/>
              <a:gdLst/>
              <a:ahLst/>
              <a:cxnLst/>
              <a:rect l="l" t="t" r="r" b="b"/>
              <a:pathLst>
                <a:path w="945393" h="89983" extrusionOk="0">
                  <a:moveTo>
                    <a:pt x="0" y="0"/>
                  </a:moveTo>
                  <a:lnTo>
                    <a:pt x="945393" y="0"/>
                  </a:lnTo>
                  <a:lnTo>
                    <a:pt x="945393" y="89983"/>
                  </a:lnTo>
                  <a:lnTo>
                    <a:pt x="0" y="89983"/>
                  </a:lnTo>
                  <a:close/>
                </a:path>
              </a:pathLst>
            </a:custGeom>
            <a:solidFill>
              <a:srgbClr val="000000"/>
            </a:solidFill>
            <a:ln>
              <a:noFill/>
            </a:ln>
          </p:spPr>
        </p:sp>
        <p:sp>
          <p:nvSpPr>
            <p:cNvPr id="604" name="Google Shape;604;p47"/>
            <p:cNvSpPr txBox="1"/>
            <p:nvPr/>
          </p:nvSpPr>
          <p:spPr>
            <a:xfrm>
              <a:off x="0" y="-47625"/>
              <a:ext cx="945393" cy="137608"/>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605" name="Google Shape;605;p47"/>
          <p:cNvGrpSpPr/>
          <p:nvPr/>
        </p:nvGrpSpPr>
        <p:grpSpPr>
          <a:xfrm>
            <a:off x="5123874" y="2414332"/>
            <a:ext cx="749840" cy="896167"/>
            <a:chOff x="0" y="-47625"/>
            <a:chExt cx="247779" cy="296132"/>
          </a:xfrm>
        </p:grpSpPr>
        <p:sp>
          <p:nvSpPr>
            <p:cNvPr id="606" name="Google Shape;606;p47"/>
            <p:cNvSpPr/>
            <p:nvPr/>
          </p:nvSpPr>
          <p:spPr>
            <a:xfrm>
              <a:off x="0" y="0"/>
              <a:ext cx="247779" cy="248507"/>
            </a:xfrm>
            <a:custGeom>
              <a:avLst/>
              <a:gdLst/>
              <a:ahLst/>
              <a:cxnLst/>
              <a:rect l="l" t="t" r="r" b="b"/>
              <a:pathLst>
                <a:path w="247779" h="248507" extrusionOk="0">
                  <a:moveTo>
                    <a:pt x="0" y="0"/>
                  </a:moveTo>
                  <a:lnTo>
                    <a:pt x="247779" y="0"/>
                  </a:lnTo>
                  <a:lnTo>
                    <a:pt x="247779" y="248507"/>
                  </a:lnTo>
                  <a:lnTo>
                    <a:pt x="0" y="248507"/>
                  </a:lnTo>
                  <a:close/>
                </a:path>
              </a:pathLst>
            </a:custGeom>
            <a:solidFill>
              <a:srgbClr val="6F6F6F"/>
            </a:solidFill>
            <a:ln>
              <a:noFill/>
            </a:ln>
          </p:spPr>
        </p:sp>
        <p:sp>
          <p:nvSpPr>
            <p:cNvPr id="607" name="Google Shape;607;p47"/>
            <p:cNvSpPr txBox="1"/>
            <p:nvPr/>
          </p:nvSpPr>
          <p:spPr>
            <a:xfrm>
              <a:off x="0" y="-47625"/>
              <a:ext cx="247778" cy="296132"/>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608" name="Google Shape;608;p47"/>
          <p:cNvGrpSpPr/>
          <p:nvPr/>
        </p:nvGrpSpPr>
        <p:grpSpPr>
          <a:xfrm>
            <a:off x="5873711" y="3561106"/>
            <a:ext cx="2860986" cy="623857"/>
            <a:chOff x="0" y="-47625"/>
            <a:chExt cx="945393" cy="206149"/>
          </a:xfrm>
        </p:grpSpPr>
        <p:sp>
          <p:nvSpPr>
            <p:cNvPr id="609" name="Google Shape;609;p47"/>
            <p:cNvSpPr/>
            <p:nvPr/>
          </p:nvSpPr>
          <p:spPr>
            <a:xfrm>
              <a:off x="0" y="0"/>
              <a:ext cx="945393" cy="158524"/>
            </a:xfrm>
            <a:custGeom>
              <a:avLst/>
              <a:gdLst/>
              <a:ahLst/>
              <a:cxnLst/>
              <a:rect l="l" t="t" r="r" b="b"/>
              <a:pathLst>
                <a:path w="945393" h="158524" extrusionOk="0">
                  <a:moveTo>
                    <a:pt x="0" y="0"/>
                  </a:moveTo>
                  <a:lnTo>
                    <a:pt x="945393" y="0"/>
                  </a:lnTo>
                  <a:lnTo>
                    <a:pt x="945393" y="158524"/>
                  </a:lnTo>
                  <a:lnTo>
                    <a:pt x="0" y="158524"/>
                  </a:lnTo>
                  <a:close/>
                </a:path>
              </a:pathLst>
            </a:custGeom>
            <a:solidFill>
              <a:srgbClr val="BB2117"/>
            </a:solidFill>
            <a:ln>
              <a:noFill/>
            </a:ln>
          </p:spPr>
        </p:sp>
        <p:sp>
          <p:nvSpPr>
            <p:cNvPr id="610" name="Google Shape;610;p47"/>
            <p:cNvSpPr txBox="1"/>
            <p:nvPr/>
          </p:nvSpPr>
          <p:spPr>
            <a:xfrm>
              <a:off x="0" y="-47625"/>
              <a:ext cx="945393" cy="206149"/>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611" name="Google Shape;611;p47"/>
          <p:cNvGrpSpPr/>
          <p:nvPr/>
        </p:nvGrpSpPr>
        <p:grpSpPr>
          <a:xfrm>
            <a:off x="5873711" y="3288796"/>
            <a:ext cx="2860986" cy="416435"/>
            <a:chOff x="0" y="-47625"/>
            <a:chExt cx="945393" cy="137608"/>
          </a:xfrm>
        </p:grpSpPr>
        <p:sp>
          <p:nvSpPr>
            <p:cNvPr id="612" name="Google Shape;612;p47"/>
            <p:cNvSpPr/>
            <p:nvPr/>
          </p:nvSpPr>
          <p:spPr>
            <a:xfrm>
              <a:off x="0" y="0"/>
              <a:ext cx="945393" cy="89983"/>
            </a:xfrm>
            <a:custGeom>
              <a:avLst/>
              <a:gdLst/>
              <a:ahLst/>
              <a:cxnLst/>
              <a:rect l="l" t="t" r="r" b="b"/>
              <a:pathLst>
                <a:path w="945393" h="89983" extrusionOk="0">
                  <a:moveTo>
                    <a:pt x="0" y="0"/>
                  </a:moveTo>
                  <a:lnTo>
                    <a:pt x="945393" y="0"/>
                  </a:lnTo>
                  <a:lnTo>
                    <a:pt x="945393" y="89983"/>
                  </a:lnTo>
                  <a:lnTo>
                    <a:pt x="0" y="89983"/>
                  </a:lnTo>
                  <a:close/>
                </a:path>
              </a:pathLst>
            </a:custGeom>
            <a:solidFill>
              <a:srgbClr val="000000"/>
            </a:solidFill>
            <a:ln>
              <a:noFill/>
            </a:ln>
          </p:spPr>
        </p:sp>
        <p:sp>
          <p:nvSpPr>
            <p:cNvPr id="613" name="Google Shape;613;p47"/>
            <p:cNvSpPr txBox="1"/>
            <p:nvPr/>
          </p:nvSpPr>
          <p:spPr>
            <a:xfrm>
              <a:off x="0" y="-47625"/>
              <a:ext cx="945393" cy="137608"/>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614" name="Google Shape;614;p47"/>
          <p:cNvGrpSpPr/>
          <p:nvPr/>
        </p:nvGrpSpPr>
        <p:grpSpPr>
          <a:xfrm>
            <a:off x="5123874" y="3288796"/>
            <a:ext cx="749840" cy="896167"/>
            <a:chOff x="0" y="-47625"/>
            <a:chExt cx="247779" cy="296132"/>
          </a:xfrm>
        </p:grpSpPr>
        <p:sp>
          <p:nvSpPr>
            <p:cNvPr id="615" name="Google Shape;615;p47"/>
            <p:cNvSpPr/>
            <p:nvPr/>
          </p:nvSpPr>
          <p:spPr>
            <a:xfrm>
              <a:off x="0" y="0"/>
              <a:ext cx="247779" cy="248507"/>
            </a:xfrm>
            <a:custGeom>
              <a:avLst/>
              <a:gdLst/>
              <a:ahLst/>
              <a:cxnLst/>
              <a:rect l="l" t="t" r="r" b="b"/>
              <a:pathLst>
                <a:path w="247779" h="248507" extrusionOk="0">
                  <a:moveTo>
                    <a:pt x="0" y="0"/>
                  </a:moveTo>
                  <a:lnTo>
                    <a:pt x="247779" y="0"/>
                  </a:lnTo>
                  <a:lnTo>
                    <a:pt x="247779" y="248507"/>
                  </a:lnTo>
                  <a:lnTo>
                    <a:pt x="0" y="248507"/>
                  </a:lnTo>
                  <a:close/>
                </a:path>
              </a:pathLst>
            </a:custGeom>
            <a:solidFill>
              <a:srgbClr val="6F6F6F"/>
            </a:solidFill>
            <a:ln>
              <a:noFill/>
            </a:ln>
          </p:spPr>
        </p:sp>
        <p:sp>
          <p:nvSpPr>
            <p:cNvPr id="616" name="Google Shape;616;p47"/>
            <p:cNvSpPr txBox="1"/>
            <p:nvPr/>
          </p:nvSpPr>
          <p:spPr>
            <a:xfrm>
              <a:off x="0" y="-47625"/>
              <a:ext cx="247778" cy="296132"/>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617" name="Google Shape;617;p47"/>
          <p:cNvSpPr/>
          <p:nvPr/>
        </p:nvSpPr>
        <p:spPr>
          <a:xfrm>
            <a:off x="5273572" y="2694612"/>
            <a:ext cx="450441" cy="450441"/>
          </a:xfrm>
          <a:custGeom>
            <a:avLst/>
            <a:gdLst/>
            <a:ahLst/>
            <a:cxnLst/>
            <a:rect l="l" t="t" r="r" b="b"/>
            <a:pathLst>
              <a:path w="900882" h="900882" extrusionOk="0">
                <a:moveTo>
                  <a:pt x="0" y="0"/>
                </a:moveTo>
                <a:lnTo>
                  <a:pt x="900882" y="0"/>
                </a:lnTo>
                <a:lnTo>
                  <a:pt x="900882" y="900883"/>
                </a:lnTo>
                <a:lnTo>
                  <a:pt x="0" y="900883"/>
                </a:lnTo>
                <a:lnTo>
                  <a:pt x="0" y="0"/>
                </a:lnTo>
                <a:close/>
              </a:path>
            </a:pathLst>
          </a:custGeom>
          <a:blipFill rotWithShape="1">
            <a:blip r:embed="rId7"/>
            <a:stretch>
              <a:fillRect/>
            </a:stretch>
          </a:blipFill>
          <a:ln>
            <a:noFill/>
          </a:ln>
        </p:spPr>
      </p:sp>
      <p:sp>
        <p:nvSpPr>
          <p:cNvPr id="618" name="Google Shape;618;p47"/>
          <p:cNvSpPr/>
          <p:nvPr/>
        </p:nvSpPr>
        <p:spPr>
          <a:xfrm>
            <a:off x="5288549" y="3596249"/>
            <a:ext cx="396689" cy="446346"/>
          </a:xfrm>
          <a:custGeom>
            <a:avLst/>
            <a:gdLst/>
            <a:ahLst/>
            <a:cxnLst/>
            <a:rect l="l" t="t" r="r" b="b"/>
            <a:pathLst>
              <a:path w="793379" h="892691" extrusionOk="0">
                <a:moveTo>
                  <a:pt x="0" y="0"/>
                </a:moveTo>
                <a:lnTo>
                  <a:pt x="793379" y="0"/>
                </a:lnTo>
                <a:lnTo>
                  <a:pt x="793379" y="892691"/>
                </a:lnTo>
                <a:lnTo>
                  <a:pt x="0" y="892691"/>
                </a:lnTo>
                <a:lnTo>
                  <a:pt x="0" y="0"/>
                </a:lnTo>
                <a:close/>
              </a:path>
            </a:pathLst>
          </a:custGeom>
          <a:blipFill rotWithShape="1">
            <a:blip r:embed="rId8"/>
            <a:stretch>
              <a:fillRect/>
            </a:stretch>
          </a:blipFill>
          <a:ln>
            <a:noFill/>
          </a:ln>
        </p:spPr>
      </p:sp>
      <p:sp>
        <p:nvSpPr>
          <p:cNvPr id="619" name="Google Shape;619;p47"/>
          <p:cNvSpPr txBox="1"/>
          <p:nvPr/>
        </p:nvSpPr>
        <p:spPr>
          <a:xfrm>
            <a:off x="409303" y="1693518"/>
            <a:ext cx="978173" cy="22987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GB" sz="1600" b="0" i="0" u="none" strike="noStrike" cap="none">
                <a:solidFill>
                  <a:srgbClr val="000000"/>
                </a:solidFill>
                <a:latin typeface="Arial" panose="020B0704020202020204"/>
                <a:ea typeface="Arial" panose="020B0704020202020204"/>
                <a:cs typeface="Arial" panose="020B0704020202020204"/>
                <a:sym typeface="Arial" panose="020B0704020202020204"/>
              </a:rPr>
              <a:t>Exploring</a:t>
            </a:r>
            <a:endParaRPr sz="700"/>
          </a:p>
        </p:txBody>
      </p:sp>
      <p:sp>
        <p:nvSpPr>
          <p:cNvPr id="620" name="Google Shape;620;p47"/>
          <p:cNvSpPr txBox="1"/>
          <p:nvPr/>
        </p:nvSpPr>
        <p:spPr>
          <a:xfrm>
            <a:off x="409303" y="3557481"/>
            <a:ext cx="3902524" cy="555943"/>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Identifying an organization's internal strengths is critical to understanding what is already working well. These include unique resources, technological advantages, a strong work culture, and a good reputation in the market. These strengths become the key foundation in creating value and differentiating oneself from competitors.</a:t>
            </a:r>
            <a:endParaRPr sz="700"/>
          </a:p>
        </p:txBody>
      </p:sp>
      <p:sp>
        <p:nvSpPr>
          <p:cNvPr id="621" name="Google Shape;621;p47"/>
          <p:cNvSpPr txBox="1"/>
          <p:nvPr/>
        </p:nvSpPr>
        <p:spPr>
          <a:xfrm>
            <a:off x="406922" y="4674779"/>
            <a:ext cx="180383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SWOT Analysis Presentation</a:t>
            </a:r>
            <a:endParaRPr sz="700"/>
          </a:p>
        </p:txBody>
      </p:sp>
      <p:sp>
        <p:nvSpPr>
          <p:cNvPr id="622" name="Google Shape;622;p47"/>
          <p:cNvSpPr txBox="1"/>
          <p:nvPr/>
        </p:nvSpPr>
        <p:spPr>
          <a:xfrm>
            <a:off x="2585382" y="4674779"/>
            <a:ext cx="1358909"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www.reallygreatsite.com</a:t>
            </a:r>
            <a:endParaRPr sz="700"/>
          </a:p>
        </p:txBody>
      </p:sp>
      <p:sp>
        <p:nvSpPr>
          <p:cNvPr id="623" name="Google Shape;623;p47"/>
          <p:cNvSpPr txBox="1"/>
          <p:nvPr/>
        </p:nvSpPr>
        <p:spPr>
          <a:xfrm>
            <a:off x="406922" y="1958848"/>
            <a:ext cx="2286415" cy="4810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3200" b="1" i="0" u="none" strike="noStrike" cap="none">
                <a:solidFill>
                  <a:srgbClr val="BB2117"/>
                </a:solidFill>
                <a:latin typeface="Ultra"/>
                <a:ea typeface="Ultra"/>
                <a:cs typeface="Ultra"/>
                <a:sym typeface="Ultra"/>
              </a:rPr>
              <a:t>Strengths</a:t>
            </a:r>
            <a:endParaRPr sz="700"/>
          </a:p>
        </p:txBody>
      </p:sp>
      <p:sp>
        <p:nvSpPr>
          <p:cNvPr id="624" name="Google Shape;624;p47"/>
          <p:cNvSpPr txBox="1"/>
          <p:nvPr/>
        </p:nvSpPr>
        <p:spPr>
          <a:xfrm>
            <a:off x="6087363" y="1724422"/>
            <a:ext cx="1987126"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FFFFFF"/>
                </a:solidFill>
                <a:latin typeface="Arimo" panose="020B0604020202020204"/>
                <a:ea typeface="Arimo" panose="020B0604020202020204"/>
                <a:cs typeface="Arimo" panose="020B0604020202020204"/>
                <a:sym typeface="Arimo" panose="020B0604020202020204"/>
              </a:rPr>
              <a:t>High Quality Human Resources</a:t>
            </a:r>
            <a:endParaRPr sz="700"/>
          </a:p>
        </p:txBody>
      </p:sp>
      <p:sp>
        <p:nvSpPr>
          <p:cNvPr id="625" name="Google Shape;625;p47"/>
          <p:cNvSpPr txBox="1"/>
          <p:nvPr/>
        </p:nvSpPr>
        <p:spPr>
          <a:xfrm>
            <a:off x="6087363" y="2013949"/>
            <a:ext cx="2542287" cy="27971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Competent and creative teams are able to accelerate innovation and adaptation to challenges.</a:t>
            </a:r>
            <a:endParaRPr sz="700"/>
          </a:p>
        </p:txBody>
      </p:sp>
      <p:sp>
        <p:nvSpPr>
          <p:cNvPr id="626" name="Google Shape;626;p47"/>
          <p:cNvSpPr txBox="1"/>
          <p:nvPr/>
        </p:nvSpPr>
        <p:spPr>
          <a:xfrm>
            <a:off x="409303" y="2880921"/>
            <a:ext cx="2940499" cy="389572"/>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200" b="0" i="0" u="none" strike="noStrike" cap="none">
                <a:solidFill>
                  <a:srgbClr val="000000"/>
                </a:solidFill>
                <a:latin typeface="Arial" panose="020B0704020202020204"/>
                <a:ea typeface="Arial" panose="020B0704020202020204"/>
                <a:cs typeface="Arial" panose="020B0704020202020204"/>
                <a:sym typeface="Arial" panose="020B0704020202020204"/>
              </a:rPr>
              <a:t>Highlighting Internal Factors that Become Competitive Advantages</a:t>
            </a:r>
            <a:endParaRPr sz="700"/>
          </a:p>
        </p:txBody>
      </p:sp>
      <p:sp>
        <p:nvSpPr>
          <p:cNvPr id="627" name="Google Shape;627;p47"/>
          <p:cNvSpPr txBox="1"/>
          <p:nvPr/>
        </p:nvSpPr>
        <p:spPr>
          <a:xfrm>
            <a:off x="6087363" y="2598886"/>
            <a:ext cx="1987126"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FFFFFF"/>
                </a:solidFill>
                <a:latin typeface="Arimo" panose="020B0604020202020204"/>
                <a:ea typeface="Arimo" panose="020B0604020202020204"/>
                <a:cs typeface="Arimo" panose="020B0604020202020204"/>
                <a:sym typeface="Arimo" panose="020B0604020202020204"/>
              </a:rPr>
              <a:t>Superior Technology and Innovation</a:t>
            </a:r>
            <a:endParaRPr sz="700"/>
          </a:p>
        </p:txBody>
      </p:sp>
      <p:sp>
        <p:nvSpPr>
          <p:cNvPr id="628" name="Google Shape;628;p47"/>
          <p:cNvSpPr txBox="1"/>
          <p:nvPr/>
        </p:nvSpPr>
        <p:spPr>
          <a:xfrm>
            <a:off x="6087363" y="2888413"/>
            <a:ext cx="2478479" cy="27971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Excellence in the use of technology provides efficiency and competitiveness.</a:t>
            </a:r>
            <a:endParaRPr sz="700"/>
          </a:p>
        </p:txBody>
      </p:sp>
      <p:sp>
        <p:nvSpPr>
          <p:cNvPr id="629" name="Google Shape;629;p47"/>
          <p:cNvSpPr txBox="1"/>
          <p:nvPr/>
        </p:nvSpPr>
        <p:spPr>
          <a:xfrm>
            <a:off x="6087363" y="3473349"/>
            <a:ext cx="1987126"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FFFFFF"/>
                </a:solidFill>
                <a:latin typeface="Arimo" panose="020B0604020202020204"/>
                <a:ea typeface="Arimo" panose="020B0604020202020204"/>
                <a:cs typeface="Arimo" panose="020B0604020202020204"/>
                <a:sym typeface="Arimo" panose="020B0604020202020204"/>
              </a:rPr>
              <a:t>Strong Reputation and Brand</a:t>
            </a:r>
            <a:endParaRPr sz="700"/>
          </a:p>
        </p:txBody>
      </p:sp>
      <p:sp>
        <p:nvSpPr>
          <p:cNvPr id="630" name="Google Shape;630;p47"/>
          <p:cNvSpPr txBox="1"/>
          <p:nvPr/>
        </p:nvSpPr>
        <p:spPr>
          <a:xfrm>
            <a:off x="6087363" y="3762877"/>
            <a:ext cx="2542287"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A positive image in the eyes of customers creates loyalty and market preference.</a:t>
            </a:r>
            <a:endParaRPr sz="70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634" name="Shape 634"/>
        <p:cNvGrpSpPr/>
        <p:nvPr/>
      </p:nvGrpSpPr>
      <p:grpSpPr>
        <a:xfrm>
          <a:off x="0" y="0"/>
          <a:ext cx="0" cy="0"/>
          <a:chOff x="0" y="0"/>
          <a:chExt cx="0" cy="0"/>
        </a:xfrm>
      </p:grpSpPr>
      <p:sp>
        <p:nvSpPr>
          <p:cNvPr id="635" name="Google Shape;635;p48"/>
          <p:cNvSpPr/>
          <p:nvPr/>
        </p:nvSpPr>
        <p:spPr>
          <a:xfrm>
            <a:off x="0" y="0"/>
            <a:ext cx="914400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cxnSp>
        <p:nvCxnSpPr>
          <p:cNvPr id="636" name="Google Shape;636;p48"/>
          <p:cNvCxnSpPr/>
          <p:nvPr/>
        </p:nvCxnSpPr>
        <p:spPr>
          <a:xfrm rot="10800000">
            <a:off x="0" y="4391152"/>
            <a:ext cx="9144000" cy="0"/>
          </a:xfrm>
          <a:prstGeom prst="straightConnector1">
            <a:avLst/>
          </a:prstGeom>
          <a:noFill/>
          <a:ln w="9525" cap="flat" cmpd="sng">
            <a:solidFill>
              <a:srgbClr val="000000"/>
            </a:solidFill>
            <a:prstDash val="solid"/>
            <a:round/>
            <a:headEnd type="none" w="sm" len="sm"/>
            <a:tailEnd type="none" w="sm" len="sm"/>
          </a:ln>
        </p:spPr>
      </p:cxnSp>
      <p:sp>
        <p:nvSpPr>
          <p:cNvPr id="637" name="Google Shape;637;p48"/>
          <p:cNvSpPr/>
          <p:nvPr/>
        </p:nvSpPr>
        <p:spPr>
          <a:xfrm>
            <a:off x="8287202" y="4637596"/>
            <a:ext cx="447495" cy="256293"/>
          </a:xfrm>
          <a:custGeom>
            <a:avLst/>
            <a:gdLst/>
            <a:ahLst/>
            <a:cxnLst/>
            <a:rect l="l" t="t" r="r" b="b"/>
            <a:pathLst>
              <a:path w="894990" h="512585" extrusionOk="0">
                <a:moveTo>
                  <a:pt x="0" y="0"/>
                </a:moveTo>
                <a:lnTo>
                  <a:pt x="894991" y="0"/>
                </a:lnTo>
                <a:lnTo>
                  <a:pt x="894991" y="512585"/>
                </a:lnTo>
                <a:lnTo>
                  <a:pt x="0" y="512585"/>
                </a:lnTo>
                <a:lnTo>
                  <a:pt x="0" y="0"/>
                </a:lnTo>
                <a:close/>
              </a:path>
            </a:pathLst>
          </a:custGeom>
          <a:blipFill rotWithShape="1">
            <a:blip r:embed="rId2"/>
            <a:stretch>
              <a:fillRect/>
            </a:stretch>
          </a:blipFill>
          <a:ln>
            <a:noFill/>
          </a:ln>
        </p:spPr>
      </p:sp>
      <p:grpSp>
        <p:nvGrpSpPr>
          <p:cNvPr id="638" name="Google Shape;638;p48"/>
          <p:cNvGrpSpPr/>
          <p:nvPr/>
        </p:nvGrpSpPr>
        <p:grpSpPr>
          <a:xfrm>
            <a:off x="0" y="-124500"/>
            <a:ext cx="9144000" cy="1568967"/>
            <a:chOff x="0" y="-47625"/>
            <a:chExt cx="3021571" cy="518454"/>
          </a:xfrm>
        </p:grpSpPr>
        <p:sp>
          <p:nvSpPr>
            <p:cNvPr id="639" name="Google Shape;639;p48"/>
            <p:cNvSpPr/>
            <p:nvPr/>
          </p:nvSpPr>
          <p:spPr>
            <a:xfrm>
              <a:off x="0" y="0"/>
              <a:ext cx="3021571" cy="470829"/>
            </a:xfrm>
            <a:custGeom>
              <a:avLst/>
              <a:gdLst/>
              <a:ahLst/>
              <a:cxnLst/>
              <a:rect l="l" t="t" r="r" b="b"/>
              <a:pathLst>
                <a:path w="3021571" h="470829" extrusionOk="0">
                  <a:moveTo>
                    <a:pt x="0" y="0"/>
                  </a:moveTo>
                  <a:lnTo>
                    <a:pt x="3021571" y="0"/>
                  </a:lnTo>
                  <a:lnTo>
                    <a:pt x="3021571" y="470829"/>
                  </a:lnTo>
                  <a:lnTo>
                    <a:pt x="0" y="470829"/>
                  </a:lnTo>
                  <a:close/>
                </a:path>
              </a:pathLst>
            </a:custGeom>
            <a:solidFill>
              <a:srgbClr val="BB2117"/>
            </a:solidFill>
            <a:ln>
              <a:noFill/>
            </a:ln>
          </p:spPr>
        </p:sp>
        <p:sp>
          <p:nvSpPr>
            <p:cNvPr id="640" name="Google Shape;640;p48"/>
            <p:cNvSpPr txBox="1"/>
            <p:nvPr/>
          </p:nvSpPr>
          <p:spPr>
            <a:xfrm>
              <a:off x="0" y="-47625"/>
              <a:ext cx="3021571" cy="518454"/>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641" name="Google Shape;641;p48"/>
          <p:cNvSpPr/>
          <p:nvPr/>
        </p:nvSpPr>
        <p:spPr>
          <a:xfrm>
            <a:off x="2397864" y="184105"/>
            <a:ext cx="1067065" cy="1067481"/>
          </a:xfrm>
          <a:custGeom>
            <a:avLst/>
            <a:gdLst/>
            <a:ahLst/>
            <a:cxnLst/>
            <a:rect l="l" t="t" r="r" b="b"/>
            <a:pathLst>
              <a:path w="2134129" h="2134961" extrusionOk="0">
                <a:moveTo>
                  <a:pt x="0" y="0"/>
                </a:moveTo>
                <a:lnTo>
                  <a:pt x="2134129" y="0"/>
                </a:lnTo>
                <a:lnTo>
                  <a:pt x="2134129" y="2134961"/>
                </a:lnTo>
                <a:lnTo>
                  <a:pt x="0" y="2134961"/>
                </a:lnTo>
                <a:lnTo>
                  <a:pt x="0" y="0"/>
                </a:lnTo>
                <a:close/>
              </a:path>
            </a:pathLst>
          </a:custGeom>
          <a:blipFill rotWithShape="1">
            <a:blip r:embed="rId3">
              <a:alphaModFix amt="40000"/>
            </a:blip>
            <a:stretch>
              <a:fillRect l="-26382" t="-8569" r="-114222" b="-131937"/>
            </a:stretch>
          </a:blipFill>
          <a:ln>
            <a:noFill/>
          </a:ln>
        </p:spPr>
      </p:sp>
      <p:sp>
        <p:nvSpPr>
          <p:cNvPr id="642" name="Google Shape;642;p48"/>
          <p:cNvSpPr/>
          <p:nvPr/>
        </p:nvSpPr>
        <p:spPr>
          <a:xfrm>
            <a:off x="3491655" y="184105"/>
            <a:ext cx="1067065" cy="1067481"/>
          </a:xfrm>
          <a:custGeom>
            <a:avLst/>
            <a:gdLst/>
            <a:ahLst/>
            <a:cxnLst/>
            <a:rect l="l" t="t" r="r" b="b"/>
            <a:pathLst>
              <a:path w="2134129" h="2134961" extrusionOk="0">
                <a:moveTo>
                  <a:pt x="0" y="0"/>
                </a:moveTo>
                <a:lnTo>
                  <a:pt x="2134130" y="0"/>
                </a:lnTo>
                <a:lnTo>
                  <a:pt x="2134130" y="2134961"/>
                </a:lnTo>
                <a:lnTo>
                  <a:pt x="0" y="2134961"/>
                </a:lnTo>
                <a:lnTo>
                  <a:pt x="0" y="0"/>
                </a:lnTo>
                <a:close/>
              </a:path>
            </a:pathLst>
          </a:custGeom>
          <a:blipFill rotWithShape="1">
            <a:blip r:embed="rId4"/>
            <a:stretch>
              <a:fillRect l="-135289" t="-9200" r="-5315" b="-131312"/>
            </a:stretch>
          </a:blipFill>
          <a:ln>
            <a:noFill/>
          </a:ln>
        </p:spPr>
      </p:sp>
      <p:sp>
        <p:nvSpPr>
          <p:cNvPr id="643" name="Google Shape;643;p48"/>
          <p:cNvSpPr/>
          <p:nvPr/>
        </p:nvSpPr>
        <p:spPr>
          <a:xfrm>
            <a:off x="4585281" y="184105"/>
            <a:ext cx="1067064" cy="1067481"/>
          </a:xfrm>
          <a:custGeom>
            <a:avLst/>
            <a:gdLst/>
            <a:ahLst/>
            <a:cxnLst/>
            <a:rect l="l" t="t" r="r" b="b"/>
            <a:pathLst>
              <a:path w="2134129" h="2134961" extrusionOk="0">
                <a:moveTo>
                  <a:pt x="0" y="0"/>
                </a:moveTo>
                <a:lnTo>
                  <a:pt x="2134130" y="0"/>
                </a:lnTo>
                <a:lnTo>
                  <a:pt x="2134130" y="2134961"/>
                </a:lnTo>
                <a:lnTo>
                  <a:pt x="0" y="2134961"/>
                </a:lnTo>
                <a:lnTo>
                  <a:pt x="0" y="0"/>
                </a:lnTo>
                <a:close/>
              </a:path>
            </a:pathLst>
          </a:custGeom>
          <a:blipFill rotWithShape="1">
            <a:blip r:embed="rId5">
              <a:alphaModFix amt="40000"/>
            </a:blip>
            <a:stretch>
              <a:fillRect l="-28271" t="-107364" r="-112333" b="-33142"/>
            </a:stretch>
          </a:blipFill>
          <a:ln>
            <a:noFill/>
          </a:ln>
        </p:spPr>
      </p:sp>
      <p:sp>
        <p:nvSpPr>
          <p:cNvPr id="644" name="Google Shape;644;p48"/>
          <p:cNvSpPr/>
          <p:nvPr/>
        </p:nvSpPr>
        <p:spPr>
          <a:xfrm>
            <a:off x="5679072" y="184105"/>
            <a:ext cx="1067065" cy="1067481"/>
          </a:xfrm>
          <a:custGeom>
            <a:avLst/>
            <a:gdLst/>
            <a:ahLst/>
            <a:cxnLst/>
            <a:rect l="l" t="t" r="r" b="b"/>
            <a:pathLst>
              <a:path w="2134129" h="2134961" extrusionOk="0">
                <a:moveTo>
                  <a:pt x="0" y="0"/>
                </a:moveTo>
                <a:lnTo>
                  <a:pt x="2134129" y="0"/>
                </a:lnTo>
                <a:lnTo>
                  <a:pt x="2134129" y="2134961"/>
                </a:lnTo>
                <a:lnTo>
                  <a:pt x="0" y="2134961"/>
                </a:lnTo>
                <a:lnTo>
                  <a:pt x="0" y="0"/>
                </a:lnTo>
                <a:close/>
              </a:path>
            </a:pathLst>
          </a:custGeom>
          <a:blipFill rotWithShape="1">
            <a:blip r:embed="rId6">
              <a:alphaModFix amt="40000"/>
            </a:blip>
            <a:stretch>
              <a:fillRect l="-138437" t="-107518" r="-2168" b="-32988"/>
            </a:stretch>
          </a:blipFill>
          <a:ln>
            <a:noFill/>
          </a:ln>
        </p:spPr>
      </p:sp>
      <p:cxnSp>
        <p:nvCxnSpPr>
          <p:cNvPr id="645" name="Google Shape;645;p48"/>
          <p:cNvCxnSpPr/>
          <p:nvPr/>
        </p:nvCxnSpPr>
        <p:spPr>
          <a:xfrm rot="10800000">
            <a:off x="0" y="2667677"/>
            <a:ext cx="9144000" cy="0"/>
          </a:xfrm>
          <a:prstGeom prst="straightConnector1">
            <a:avLst/>
          </a:prstGeom>
          <a:noFill/>
          <a:ln w="9525" cap="flat" cmpd="sng">
            <a:solidFill>
              <a:srgbClr val="000000"/>
            </a:solidFill>
            <a:prstDash val="solid"/>
            <a:round/>
            <a:headEnd type="none" w="sm" len="sm"/>
            <a:tailEnd type="none" w="sm" len="sm"/>
          </a:ln>
        </p:spPr>
      </p:cxnSp>
      <p:sp>
        <p:nvSpPr>
          <p:cNvPr id="646" name="Google Shape;646;p48"/>
          <p:cNvSpPr txBox="1"/>
          <p:nvPr/>
        </p:nvSpPr>
        <p:spPr>
          <a:xfrm>
            <a:off x="409303" y="1685311"/>
            <a:ext cx="978173" cy="22987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GB" sz="1600" b="0" i="0" u="none" strike="noStrike" cap="none">
                <a:solidFill>
                  <a:srgbClr val="000000"/>
                </a:solidFill>
                <a:latin typeface="Arial" panose="020B0704020202020204"/>
                <a:ea typeface="Arial" panose="020B0704020202020204"/>
                <a:cs typeface="Arial" panose="020B0704020202020204"/>
                <a:sym typeface="Arial" panose="020B0704020202020204"/>
              </a:rPr>
              <a:t>Identifying</a:t>
            </a:r>
            <a:endParaRPr sz="700"/>
          </a:p>
        </p:txBody>
      </p:sp>
      <p:sp>
        <p:nvSpPr>
          <p:cNvPr id="647" name="Google Shape;647;p48"/>
          <p:cNvSpPr txBox="1"/>
          <p:nvPr/>
        </p:nvSpPr>
        <p:spPr>
          <a:xfrm>
            <a:off x="4832173" y="3644425"/>
            <a:ext cx="3902524" cy="41783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Weaknesses are often hidden in internal processes and can hinder organizational growth. By objectively identifying them, organizations can begin to improve. This process may be uncomfortable, but it is critical to long-term success.</a:t>
            </a:r>
            <a:endParaRPr sz="700"/>
          </a:p>
        </p:txBody>
      </p:sp>
      <p:sp>
        <p:nvSpPr>
          <p:cNvPr id="648" name="Google Shape;648;p48"/>
          <p:cNvSpPr txBox="1"/>
          <p:nvPr/>
        </p:nvSpPr>
        <p:spPr>
          <a:xfrm>
            <a:off x="406922" y="4674779"/>
            <a:ext cx="180383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SWOT Analysis Presentation</a:t>
            </a:r>
            <a:endParaRPr sz="700"/>
          </a:p>
        </p:txBody>
      </p:sp>
      <p:sp>
        <p:nvSpPr>
          <p:cNvPr id="649" name="Google Shape;649;p48"/>
          <p:cNvSpPr txBox="1"/>
          <p:nvPr/>
        </p:nvSpPr>
        <p:spPr>
          <a:xfrm>
            <a:off x="2585382" y="4674779"/>
            <a:ext cx="1358909"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www.reallygreatsite.com</a:t>
            </a:r>
            <a:endParaRPr sz="700"/>
          </a:p>
        </p:txBody>
      </p:sp>
      <p:sp>
        <p:nvSpPr>
          <p:cNvPr id="650" name="Google Shape;650;p48"/>
          <p:cNvSpPr txBox="1"/>
          <p:nvPr/>
        </p:nvSpPr>
        <p:spPr>
          <a:xfrm>
            <a:off x="406922" y="1950641"/>
            <a:ext cx="2857915" cy="4810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3200" b="1" i="0" u="none" strike="noStrike" cap="none">
                <a:solidFill>
                  <a:srgbClr val="BB2117"/>
                </a:solidFill>
                <a:latin typeface="Ultra"/>
                <a:ea typeface="Ultra"/>
                <a:cs typeface="Ultra"/>
                <a:sym typeface="Ultra"/>
              </a:rPr>
              <a:t>Weaknesses</a:t>
            </a:r>
            <a:endParaRPr sz="700"/>
          </a:p>
        </p:txBody>
      </p:sp>
      <p:sp>
        <p:nvSpPr>
          <p:cNvPr id="651" name="Google Shape;651;p48"/>
          <p:cNvSpPr txBox="1"/>
          <p:nvPr/>
        </p:nvSpPr>
        <p:spPr>
          <a:xfrm>
            <a:off x="622955" y="2785938"/>
            <a:ext cx="1911030"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Lack of Standardized Processes</a:t>
            </a:r>
            <a:endParaRPr sz="700"/>
          </a:p>
        </p:txBody>
      </p:sp>
      <p:sp>
        <p:nvSpPr>
          <p:cNvPr id="652" name="Google Shape;652;p48"/>
          <p:cNvSpPr txBox="1"/>
          <p:nvPr/>
        </p:nvSpPr>
        <p:spPr>
          <a:xfrm>
            <a:off x="622955" y="2958340"/>
            <a:ext cx="2711282"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Operational inefficiencies can slow down business growth.</a:t>
            </a:r>
            <a:endParaRPr sz="700"/>
          </a:p>
        </p:txBody>
      </p:sp>
      <p:sp>
        <p:nvSpPr>
          <p:cNvPr id="653" name="Google Shape;653;p48"/>
          <p:cNvSpPr txBox="1"/>
          <p:nvPr/>
        </p:nvSpPr>
        <p:spPr>
          <a:xfrm>
            <a:off x="4832174" y="2967865"/>
            <a:ext cx="2940499" cy="389572"/>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200" b="0" i="0" u="none" strike="noStrike" cap="none">
                <a:solidFill>
                  <a:srgbClr val="000000"/>
                </a:solidFill>
                <a:latin typeface="Arial" panose="020B0704020202020204"/>
                <a:ea typeface="Arial" panose="020B0704020202020204"/>
                <a:cs typeface="Arial" panose="020B0704020202020204"/>
                <a:sym typeface="Arial" panose="020B0704020202020204"/>
              </a:rPr>
              <a:t>Addressing Weak Points that Hinder Performance and Growth</a:t>
            </a:r>
            <a:endParaRPr sz="700"/>
          </a:p>
        </p:txBody>
      </p:sp>
      <p:sp>
        <p:nvSpPr>
          <p:cNvPr id="654" name="Google Shape;654;p48"/>
          <p:cNvSpPr txBox="1"/>
          <p:nvPr/>
        </p:nvSpPr>
        <p:spPr>
          <a:xfrm>
            <a:off x="406921" y="2798955"/>
            <a:ext cx="216034"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01.</a:t>
            </a:r>
            <a:endParaRPr sz="700"/>
          </a:p>
        </p:txBody>
      </p:sp>
      <p:cxnSp>
        <p:nvCxnSpPr>
          <p:cNvPr id="655" name="Google Shape;655;p48"/>
          <p:cNvCxnSpPr/>
          <p:nvPr/>
        </p:nvCxnSpPr>
        <p:spPr>
          <a:xfrm rot="10800000">
            <a:off x="0" y="3245201"/>
            <a:ext cx="4185488" cy="0"/>
          </a:xfrm>
          <a:prstGeom prst="straightConnector1">
            <a:avLst/>
          </a:prstGeom>
          <a:noFill/>
          <a:ln w="9525" cap="flat" cmpd="sng">
            <a:solidFill>
              <a:srgbClr val="000000"/>
            </a:solidFill>
            <a:prstDash val="solid"/>
            <a:round/>
            <a:headEnd type="none" w="sm" len="sm"/>
            <a:tailEnd type="none" w="sm" len="sm"/>
          </a:ln>
        </p:spPr>
      </p:cxnSp>
      <p:cxnSp>
        <p:nvCxnSpPr>
          <p:cNvPr id="656" name="Google Shape;656;p48"/>
          <p:cNvCxnSpPr/>
          <p:nvPr/>
        </p:nvCxnSpPr>
        <p:spPr>
          <a:xfrm rot="10800000">
            <a:off x="4185488" y="2667677"/>
            <a:ext cx="0" cy="1723475"/>
          </a:xfrm>
          <a:prstGeom prst="straightConnector1">
            <a:avLst/>
          </a:prstGeom>
          <a:noFill/>
          <a:ln w="9525" cap="flat" cmpd="sng">
            <a:solidFill>
              <a:srgbClr val="000000"/>
            </a:solidFill>
            <a:prstDash val="solid"/>
            <a:round/>
            <a:headEnd type="none" w="sm" len="sm"/>
            <a:tailEnd type="none" w="sm" len="sm"/>
          </a:ln>
        </p:spPr>
      </p:cxnSp>
      <p:sp>
        <p:nvSpPr>
          <p:cNvPr id="657" name="Google Shape;657;p48"/>
          <p:cNvSpPr txBox="1"/>
          <p:nvPr/>
        </p:nvSpPr>
        <p:spPr>
          <a:xfrm>
            <a:off x="622955" y="3361882"/>
            <a:ext cx="1911030"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Limited Resources</a:t>
            </a:r>
            <a:endParaRPr sz="700"/>
          </a:p>
        </p:txBody>
      </p:sp>
      <p:sp>
        <p:nvSpPr>
          <p:cNvPr id="658" name="Google Shape;658;p48"/>
          <p:cNvSpPr txBox="1"/>
          <p:nvPr/>
        </p:nvSpPr>
        <p:spPr>
          <a:xfrm>
            <a:off x="622955" y="3534285"/>
            <a:ext cx="2711282"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Lack of capital or technology can limit the ability to compete.</a:t>
            </a:r>
            <a:endParaRPr sz="700"/>
          </a:p>
        </p:txBody>
      </p:sp>
      <p:sp>
        <p:nvSpPr>
          <p:cNvPr id="659" name="Google Shape;659;p48"/>
          <p:cNvSpPr txBox="1"/>
          <p:nvPr/>
        </p:nvSpPr>
        <p:spPr>
          <a:xfrm>
            <a:off x="406921" y="3374900"/>
            <a:ext cx="216034"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02.</a:t>
            </a:r>
            <a:endParaRPr sz="700"/>
          </a:p>
        </p:txBody>
      </p:sp>
      <p:cxnSp>
        <p:nvCxnSpPr>
          <p:cNvPr id="660" name="Google Shape;660;p48"/>
          <p:cNvCxnSpPr/>
          <p:nvPr/>
        </p:nvCxnSpPr>
        <p:spPr>
          <a:xfrm rot="10800000">
            <a:off x="0" y="3821146"/>
            <a:ext cx="4185488" cy="0"/>
          </a:xfrm>
          <a:prstGeom prst="straightConnector1">
            <a:avLst/>
          </a:prstGeom>
          <a:noFill/>
          <a:ln w="9525" cap="flat" cmpd="sng">
            <a:solidFill>
              <a:srgbClr val="000000"/>
            </a:solidFill>
            <a:prstDash val="solid"/>
            <a:round/>
            <a:headEnd type="none" w="sm" len="sm"/>
            <a:tailEnd type="none" w="sm" len="sm"/>
          </a:ln>
        </p:spPr>
      </p:cxnSp>
      <p:sp>
        <p:nvSpPr>
          <p:cNvPr id="661" name="Google Shape;661;p48"/>
          <p:cNvSpPr txBox="1"/>
          <p:nvPr/>
        </p:nvSpPr>
        <p:spPr>
          <a:xfrm>
            <a:off x="622955" y="3937827"/>
            <a:ext cx="1911030"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Lack of Strategic Leadership</a:t>
            </a:r>
            <a:endParaRPr sz="700"/>
          </a:p>
        </p:txBody>
      </p:sp>
      <p:sp>
        <p:nvSpPr>
          <p:cNvPr id="662" name="Google Shape;662;p48"/>
          <p:cNvSpPr txBox="1"/>
          <p:nvPr/>
        </p:nvSpPr>
        <p:spPr>
          <a:xfrm>
            <a:off x="622955" y="4110230"/>
            <a:ext cx="3087039"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Lack of clarity of vision can cause an organization to lose direction.</a:t>
            </a:r>
            <a:endParaRPr sz="700"/>
          </a:p>
        </p:txBody>
      </p:sp>
      <p:sp>
        <p:nvSpPr>
          <p:cNvPr id="663" name="Google Shape;663;p48"/>
          <p:cNvSpPr txBox="1"/>
          <p:nvPr/>
        </p:nvSpPr>
        <p:spPr>
          <a:xfrm>
            <a:off x="406921" y="3950845"/>
            <a:ext cx="216034"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03.</a:t>
            </a:r>
            <a:endParaRPr sz="70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667" name="Shape 667"/>
        <p:cNvGrpSpPr/>
        <p:nvPr/>
      </p:nvGrpSpPr>
      <p:grpSpPr>
        <a:xfrm>
          <a:off x="0" y="0"/>
          <a:ext cx="0" cy="0"/>
          <a:chOff x="0" y="0"/>
          <a:chExt cx="0" cy="0"/>
        </a:xfrm>
      </p:grpSpPr>
      <p:sp>
        <p:nvSpPr>
          <p:cNvPr id="668" name="Google Shape;668;p49"/>
          <p:cNvSpPr/>
          <p:nvPr/>
        </p:nvSpPr>
        <p:spPr>
          <a:xfrm>
            <a:off x="0" y="0"/>
            <a:ext cx="914400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cxnSp>
        <p:nvCxnSpPr>
          <p:cNvPr id="669" name="Google Shape;669;p49"/>
          <p:cNvCxnSpPr/>
          <p:nvPr/>
        </p:nvCxnSpPr>
        <p:spPr>
          <a:xfrm rot="10800000">
            <a:off x="0" y="4391152"/>
            <a:ext cx="9144000" cy="0"/>
          </a:xfrm>
          <a:prstGeom prst="straightConnector1">
            <a:avLst/>
          </a:prstGeom>
          <a:noFill/>
          <a:ln w="9525" cap="flat" cmpd="sng">
            <a:solidFill>
              <a:srgbClr val="000000"/>
            </a:solidFill>
            <a:prstDash val="solid"/>
            <a:round/>
            <a:headEnd type="none" w="sm" len="sm"/>
            <a:tailEnd type="none" w="sm" len="sm"/>
          </a:ln>
        </p:spPr>
      </p:cxnSp>
      <p:sp>
        <p:nvSpPr>
          <p:cNvPr id="670" name="Google Shape;670;p49"/>
          <p:cNvSpPr/>
          <p:nvPr/>
        </p:nvSpPr>
        <p:spPr>
          <a:xfrm>
            <a:off x="8287202" y="4637596"/>
            <a:ext cx="447495" cy="256293"/>
          </a:xfrm>
          <a:custGeom>
            <a:avLst/>
            <a:gdLst/>
            <a:ahLst/>
            <a:cxnLst/>
            <a:rect l="l" t="t" r="r" b="b"/>
            <a:pathLst>
              <a:path w="894990" h="512585" extrusionOk="0">
                <a:moveTo>
                  <a:pt x="0" y="0"/>
                </a:moveTo>
                <a:lnTo>
                  <a:pt x="894991" y="0"/>
                </a:lnTo>
                <a:lnTo>
                  <a:pt x="894991" y="512585"/>
                </a:lnTo>
                <a:lnTo>
                  <a:pt x="0" y="512585"/>
                </a:lnTo>
                <a:lnTo>
                  <a:pt x="0" y="0"/>
                </a:lnTo>
                <a:close/>
              </a:path>
            </a:pathLst>
          </a:custGeom>
          <a:blipFill rotWithShape="1">
            <a:blip r:embed="rId2"/>
            <a:stretch>
              <a:fillRect/>
            </a:stretch>
          </a:blipFill>
          <a:ln>
            <a:noFill/>
          </a:ln>
        </p:spPr>
      </p:sp>
      <p:grpSp>
        <p:nvGrpSpPr>
          <p:cNvPr id="671" name="Google Shape;671;p49"/>
          <p:cNvGrpSpPr/>
          <p:nvPr/>
        </p:nvGrpSpPr>
        <p:grpSpPr>
          <a:xfrm>
            <a:off x="0" y="-124500"/>
            <a:ext cx="9144000" cy="1568967"/>
            <a:chOff x="0" y="-47625"/>
            <a:chExt cx="3021571" cy="518454"/>
          </a:xfrm>
        </p:grpSpPr>
        <p:sp>
          <p:nvSpPr>
            <p:cNvPr id="672" name="Google Shape;672;p49"/>
            <p:cNvSpPr/>
            <p:nvPr/>
          </p:nvSpPr>
          <p:spPr>
            <a:xfrm>
              <a:off x="0" y="0"/>
              <a:ext cx="3021571" cy="470829"/>
            </a:xfrm>
            <a:custGeom>
              <a:avLst/>
              <a:gdLst/>
              <a:ahLst/>
              <a:cxnLst/>
              <a:rect l="l" t="t" r="r" b="b"/>
              <a:pathLst>
                <a:path w="3021571" h="470829" extrusionOk="0">
                  <a:moveTo>
                    <a:pt x="0" y="0"/>
                  </a:moveTo>
                  <a:lnTo>
                    <a:pt x="3021571" y="0"/>
                  </a:lnTo>
                  <a:lnTo>
                    <a:pt x="3021571" y="470829"/>
                  </a:lnTo>
                  <a:lnTo>
                    <a:pt x="0" y="470829"/>
                  </a:lnTo>
                  <a:close/>
                </a:path>
              </a:pathLst>
            </a:custGeom>
            <a:solidFill>
              <a:srgbClr val="BB2117"/>
            </a:solidFill>
            <a:ln>
              <a:noFill/>
            </a:ln>
          </p:spPr>
        </p:sp>
        <p:sp>
          <p:nvSpPr>
            <p:cNvPr id="673" name="Google Shape;673;p49"/>
            <p:cNvSpPr txBox="1"/>
            <p:nvPr/>
          </p:nvSpPr>
          <p:spPr>
            <a:xfrm>
              <a:off x="0" y="-47625"/>
              <a:ext cx="3021571" cy="518454"/>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674" name="Google Shape;674;p49"/>
          <p:cNvSpPr/>
          <p:nvPr/>
        </p:nvSpPr>
        <p:spPr>
          <a:xfrm>
            <a:off x="2397864" y="184105"/>
            <a:ext cx="1067065" cy="1067481"/>
          </a:xfrm>
          <a:custGeom>
            <a:avLst/>
            <a:gdLst/>
            <a:ahLst/>
            <a:cxnLst/>
            <a:rect l="l" t="t" r="r" b="b"/>
            <a:pathLst>
              <a:path w="2134129" h="2134961" extrusionOk="0">
                <a:moveTo>
                  <a:pt x="0" y="0"/>
                </a:moveTo>
                <a:lnTo>
                  <a:pt x="2134129" y="0"/>
                </a:lnTo>
                <a:lnTo>
                  <a:pt x="2134129" y="2134961"/>
                </a:lnTo>
                <a:lnTo>
                  <a:pt x="0" y="2134961"/>
                </a:lnTo>
                <a:lnTo>
                  <a:pt x="0" y="0"/>
                </a:lnTo>
                <a:close/>
              </a:path>
            </a:pathLst>
          </a:custGeom>
          <a:blipFill rotWithShape="1">
            <a:blip r:embed="rId3">
              <a:alphaModFix amt="40000"/>
            </a:blip>
            <a:stretch>
              <a:fillRect l="-26382" t="-8569" r="-114222" b="-131937"/>
            </a:stretch>
          </a:blipFill>
          <a:ln>
            <a:noFill/>
          </a:ln>
        </p:spPr>
      </p:sp>
      <p:sp>
        <p:nvSpPr>
          <p:cNvPr id="675" name="Google Shape;675;p49"/>
          <p:cNvSpPr/>
          <p:nvPr/>
        </p:nvSpPr>
        <p:spPr>
          <a:xfrm>
            <a:off x="3491655" y="184105"/>
            <a:ext cx="1067065" cy="1067481"/>
          </a:xfrm>
          <a:custGeom>
            <a:avLst/>
            <a:gdLst/>
            <a:ahLst/>
            <a:cxnLst/>
            <a:rect l="l" t="t" r="r" b="b"/>
            <a:pathLst>
              <a:path w="2134129" h="2134961" extrusionOk="0">
                <a:moveTo>
                  <a:pt x="0" y="0"/>
                </a:moveTo>
                <a:lnTo>
                  <a:pt x="2134130" y="0"/>
                </a:lnTo>
                <a:lnTo>
                  <a:pt x="2134130" y="2134961"/>
                </a:lnTo>
                <a:lnTo>
                  <a:pt x="0" y="2134961"/>
                </a:lnTo>
                <a:lnTo>
                  <a:pt x="0" y="0"/>
                </a:lnTo>
                <a:close/>
              </a:path>
            </a:pathLst>
          </a:custGeom>
          <a:blipFill rotWithShape="1">
            <a:blip r:embed="rId4">
              <a:alphaModFix amt="40000"/>
            </a:blip>
            <a:stretch>
              <a:fillRect l="-135289" t="-9200" r="-5315" b="-131312"/>
            </a:stretch>
          </a:blipFill>
          <a:ln>
            <a:noFill/>
          </a:ln>
        </p:spPr>
      </p:sp>
      <p:sp>
        <p:nvSpPr>
          <p:cNvPr id="676" name="Google Shape;676;p49"/>
          <p:cNvSpPr/>
          <p:nvPr/>
        </p:nvSpPr>
        <p:spPr>
          <a:xfrm>
            <a:off x="4585281" y="184105"/>
            <a:ext cx="1067064" cy="1067481"/>
          </a:xfrm>
          <a:custGeom>
            <a:avLst/>
            <a:gdLst/>
            <a:ahLst/>
            <a:cxnLst/>
            <a:rect l="l" t="t" r="r" b="b"/>
            <a:pathLst>
              <a:path w="2134129" h="2134961" extrusionOk="0">
                <a:moveTo>
                  <a:pt x="0" y="0"/>
                </a:moveTo>
                <a:lnTo>
                  <a:pt x="2134130" y="0"/>
                </a:lnTo>
                <a:lnTo>
                  <a:pt x="2134130" y="2134961"/>
                </a:lnTo>
                <a:lnTo>
                  <a:pt x="0" y="2134961"/>
                </a:lnTo>
                <a:lnTo>
                  <a:pt x="0" y="0"/>
                </a:lnTo>
                <a:close/>
              </a:path>
            </a:pathLst>
          </a:custGeom>
          <a:blipFill rotWithShape="1">
            <a:blip r:embed="rId5"/>
            <a:stretch>
              <a:fillRect l="-28271" t="-107364" r="-112333" b="-33142"/>
            </a:stretch>
          </a:blipFill>
          <a:ln>
            <a:noFill/>
          </a:ln>
        </p:spPr>
      </p:sp>
      <p:sp>
        <p:nvSpPr>
          <p:cNvPr id="677" name="Google Shape;677;p49"/>
          <p:cNvSpPr/>
          <p:nvPr/>
        </p:nvSpPr>
        <p:spPr>
          <a:xfrm>
            <a:off x="5679072" y="184105"/>
            <a:ext cx="1067065" cy="1067481"/>
          </a:xfrm>
          <a:custGeom>
            <a:avLst/>
            <a:gdLst/>
            <a:ahLst/>
            <a:cxnLst/>
            <a:rect l="l" t="t" r="r" b="b"/>
            <a:pathLst>
              <a:path w="2134129" h="2134961" extrusionOk="0">
                <a:moveTo>
                  <a:pt x="0" y="0"/>
                </a:moveTo>
                <a:lnTo>
                  <a:pt x="2134129" y="0"/>
                </a:lnTo>
                <a:lnTo>
                  <a:pt x="2134129" y="2134961"/>
                </a:lnTo>
                <a:lnTo>
                  <a:pt x="0" y="2134961"/>
                </a:lnTo>
                <a:lnTo>
                  <a:pt x="0" y="0"/>
                </a:lnTo>
                <a:close/>
              </a:path>
            </a:pathLst>
          </a:custGeom>
          <a:blipFill rotWithShape="1">
            <a:blip r:embed="rId6">
              <a:alphaModFix amt="40000"/>
            </a:blip>
            <a:stretch>
              <a:fillRect l="-138437" t="-107518" r="-2168" b="-32988"/>
            </a:stretch>
          </a:blipFill>
          <a:ln>
            <a:noFill/>
          </a:ln>
        </p:spPr>
      </p:sp>
      <p:sp>
        <p:nvSpPr>
          <p:cNvPr id="678" name="Google Shape;678;p49"/>
          <p:cNvSpPr txBox="1"/>
          <p:nvPr/>
        </p:nvSpPr>
        <p:spPr>
          <a:xfrm>
            <a:off x="409303" y="1685311"/>
            <a:ext cx="978173" cy="22987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GB" sz="1600" b="0" i="0" u="none" strike="noStrike" cap="none">
                <a:solidFill>
                  <a:srgbClr val="000000"/>
                </a:solidFill>
                <a:latin typeface="Arial" panose="020B0704020202020204"/>
                <a:ea typeface="Arial" panose="020B0704020202020204"/>
                <a:cs typeface="Arial" panose="020B0704020202020204"/>
                <a:sym typeface="Arial" panose="020B0704020202020204"/>
              </a:rPr>
              <a:t>Exploring</a:t>
            </a:r>
            <a:endParaRPr sz="700"/>
          </a:p>
        </p:txBody>
      </p:sp>
      <p:sp>
        <p:nvSpPr>
          <p:cNvPr id="679" name="Google Shape;679;p49"/>
          <p:cNvSpPr txBox="1"/>
          <p:nvPr/>
        </p:nvSpPr>
        <p:spPr>
          <a:xfrm>
            <a:off x="5924457" y="1771671"/>
            <a:ext cx="2810240" cy="69405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Opportunities are external factors that can be leveraged to an organization's advantage. In a changing world, opportunities can arise from new technology trends, changes in consumer behavior, or policy shifts. Sensitivity in reading change signals can pave the way for innovation.</a:t>
            </a:r>
            <a:endParaRPr sz="700"/>
          </a:p>
        </p:txBody>
      </p:sp>
      <p:sp>
        <p:nvSpPr>
          <p:cNvPr id="680" name="Google Shape;680;p49"/>
          <p:cNvSpPr txBox="1"/>
          <p:nvPr/>
        </p:nvSpPr>
        <p:spPr>
          <a:xfrm>
            <a:off x="406922" y="4674779"/>
            <a:ext cx="180383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SWOT Analysis Presentation</a:t>
            </a:r>
            <a:endParaRPr sz="700"/>
          </a:p>
        </p:txBody>
      </p:sp>
      <p:sp>
        <p:nvSpPr>
          <p:cNvPr id="681" name="Google Shape;681;p49"/>
          <p:cNvSpPr txBox="1"/>
          <p:nvPr/>
        </p:nvSpPr>
        <p:spPr>
          <a:xfrm>
            <a:off x="2585382" y="4674779"/>
            <a:ext cx="1358909"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www.reallygreatsite.com</a:t>
            </a:r>
            <a:endParaRPr sz="700"/>
          </a:p>
        </p:txBody>
      </p:sp>
      <p:sp>
        <p:nvSpPr>
          <p:cNvPr id="682" name="Google Shape;682;p49"/>
          <p:cNvSpPr txBox="1"/>
          <p:nvPr/>
        </p:nvSpPr>
        <p:spPr>
          <a:xfrm>
            <a:off x="406922" y="1950641"/>
            <a:ext cx="2988258" cy="4810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3200" b="1" i="0" u="none" strike="noStrike" cap="none">
                <a:solidFill>
                  <a:srgbClr val="BB2117"/>
                </a:solidFill>
                <a:latin typeface="Ultra"/>
                <a:ea typeface="Ultra"/>
                <a:cs typeface="Ultra"/>
                <a:sym typeface="Ultra"/>
              </a:rPr>
              <a:t>Opportunities</a:t>
            </a:r>
            <a:endParaRPr sz="700"/>
          </a:p>
        </p:txBody>
      </p:sp>
      <p:sp>
        <p:nvSpPr>
          <p:cNvPr id="683" name="Google Shape;683;p49"/>
          <p:cNvSpPr txBox="1"/>
          <p:nvPr/>
        </p:nvSpPr>
        <p:spPr>
          <a:xfrm>
            <a:off x="1072979" y="3171162"/>
            <a:ext cx="1183997"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Global Digitalization Trends</a:t>
            </a:r>
            <a:endParaRPr sz="700"/>
          </a:p>
        </p:txBody>
      </p:sp>
      <p:sp>
        <p:nvSpPr>
          <p:cNvPr id="684" name="Google Shape;684;p49"/>
          <p:cNvSpPr txBox="1"/>
          <p:nvPr/>
        </p:nvSpPr>
        <p:spPr>
          <a:xfrm>
            <a:off x="1072979" y="3667054"/>
            <a:ext cx="1576244"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Unlock new market potential and operational efficiencies.</a:t>
            </a:r>
            <a:endParaRPr sz="700"/>
          </a:p>
        </p:txBody>
      </p:sp>
      <p:sp>
        <p:nvSpPr>
          <p:cNvPr id="685" name="Google Shape;685;p49"/>
          <p:cNvSpPr txBox="1"/>
          <p:nvPr/>
        </p:nvSpPr>
        <p:spPr>
          <a:xfrm>
            <a:off x="3944291" y="1781196"/>
            <a:ext cx="1552329" cy="584835"/>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200" b="0" i="0" u="none" strike="noStrike" cap="none">
                <a:solidFill>
                  <a:srgbClr val="000000"/>
                </a:solidFill>
                <a:latin typeface="Arial" panose="020B0704020202020204"/>
                <a:ea typeface="Arial" panose="020B0704020202020204"/>
                <a:cs typeface="Arial" panose="020B0704020202020204"/>
                <a:sym typeface="Arial" panose="020B0704020202020204"/>
              </a:rPr>
              <a:t>Finding Room to Grow and Develop in the External Environment</a:t>
            </a:r>
            <a:endParaRPr sz="700"/>
          </a:p>
        </p:txBody>
      </p:sp>
      <p:sp>
        <p:nvSpPr>
          <p:cNvPr id="686" name="Google Shape;686;p49"/>
          <p:cNvSpPr txBox="1"/>
          <p:nvPr/>
        </p:nvSpPr>
        <p:spPr>
          <a:xfrm>
            <a:off x="3740182" y="3189608"/>
            <a:ext cx="1012895"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Consumer Lifestyle Changes</a:t>
            </a:r>
            <a:endParaRPr sz="700"/>
          </a:p>
        </p:txBody>
      </p:sp>
      <p:sp>
        <p:nvSpPr>
          <p:cNvPr id="687" name="Google Shape;687;p49"/>
          <p:cNvSpPr txBox="1"/>
          <p:nvPr/>
        </p:nvSpPr>
        <p:spPr>
          <a:xfrm>
            <a:off x="3740182" y="3677977"/>
            <a:ext cx="1653885"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Opportunities to customize products and create new services.</a:t>
            </a:r>
            <a:endParaRPr sz="700"/>
          </a:p>
        </p:txBody>
      </p:sp>
      <p:sp>
        <p:nvSpPr>
          <p:cNvPr id="688" name="Google Shape;688;p49"/>
          <p:cNvSpPr txBox="1"/>
          <p:nvPr/>
        </p:nvSpPr>
        <p:spPr>
          <a:xfrm>
            <a:off x="6464300" y="3189608"/>
            <a:ext cx="1401238"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Strategic Partnerships and Market Expansion</a:t>
            </a:r>
            <a:endParaRPr sz="700"/>
          </a:p>
        </p:txBody>
      </p:sp>
      <p:sp>
        <p:nvSpPr>
          <p:cNvPr id="689" name="Google Shape;689;p49"/>
          <p:cNvSpPr txBox="1"/>
          <p:nvPr/>
        </p:nvSpPr>
        <p:spPr>
          <a:xfrm>
            <a:off x="6464300" y="3677977"/>
            <a:ext cx="1719026"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New partnerships can expand market reach and influence.</a:t>
            </a:r>
            <a:endParaRPr sz="700"/>
          </a:p>
        </p:txBody>
      </p:sp>
      <p:grpSp>
        <p:nvGrpSpPr>
          <p:cNvPr id="690" name="Google Shape;690;p49"/>
          <p:cNvGrpSpPr/>
          <p:nvPr/>
        </p:nvGrpSpPr>
        <p:grpSpPr>
          <a:xfrm>
            <a:off x="470346" y="3145541"/>
            <a:ext cx="428043" cy="801231"/>
            <a:chOff x="0" y="-47625"/>
            <a:chExt cx="812800" cy="1521437"/>
          </a:xfrm>
        </p:grpSpPr>
        <p:sp>
          <p:nvSpPr>
            <p:cNvPr id="691" name="Google Shape;691;p49"/>
            <p:cNvSpPr/>
            <p:nvPr/>
          </p:nvSpPr>
          <p:spPr>
            <a:xfrm>
              <a:off x="0" y="0"/>
              <a:ext cx="812800" cy="1473811"/>
            </a:xfrm>
            <a:custGeom>
              <a:avLst/>
              <a:gdLst/>
              <a:ahLst/>
              <a:cxnLst/>
              <a:rect l="l" t="t" r="r" b="b"/>
              <a:pathLst>
                <a:path w="812800" h="1473811" extrusionOk="0">
                  <a:moveTo>
                    <a:pt x="0" y="0"/>
                  </a:moveTo>
                  <a:lnTo>
                    <a:pt x="812800" y="0"/>
                  </a:lnTo>
                  <a:lnTo>
                    <a:pt x="812800" y="1473811"/>
                  </a:lnTo>
                  <a:lnTo>
                    <a:pt x="0" y="1473811"/>
                  </a:lnTo>
                  <a:close/>
                </a:path>
              </a:pathLst>
            </a:custGeom>
            <a:solidFill>
              <a:srgbClr val="BB2117"/>
            </a:solidFill>
            <a:ln>
              <a:noFill/>
            </a:ln>
          </p:spPr>
        </p:sp>
        <p:sp>
          <p:nvSpPr>
            <p:cNvPr id="692" name="Google Shape;692;p49"/>
            <p:cNvSpPr txBox="1"/>
            <p:nvPr/>
          </p:nvSpPr>
          <p:spPr>
            <a:xfrm>
              <a:off x="0" y="-47625"/>
              <a:ext cx="812800" cy="1521437"/>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693" name="Google Shape;693;p49"/>
          <p:cNvSpPr txBox="1"/>
          <p:nvPr/>
        </p:nvSpPr>
        <p:spPr>
          <a:xfrm>
            <a:off x="577357" y="3475988"/>
            <a:ext cx="214022" cy="1416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01</a:t>
            </a:r>
            <a:endParaRPr sz="700"/>
          </a:p>
        </p:txBody>
      </p:sp>
      <p:cxnSp>
        <p:nvCxnSpPr>
          <p:cNvPr id="694" name="Google Shape;694;p49"/>
          <p:cNvCxnSpPr/>
          <p:nvPr/>
        </p:nvCxnSpPr>
        <p:spPr>
          <a:xfrm rot="10800000">
            <a:off x="3599835" y="1456871"/>
            <a:ext cx="0" cy="1280293"/>
          </a:xfrm>
          <a:prstGeom prst="straightConnector1">
            <a:avLst/>
          </a:prstGeom>
          <a:noFill/>
          <a:ln w="9525" cap="flat" cmpd="sng">
            <a:solidFill>
              <a:srgbClr val="000000"/>
            </a:solidFill>
            <a:prstDash val="solid"/>
            <a:round/>
            <a:headEnd type="none" w="sm" len="sm"/>
            <a:tailEnd type="none" w="sm" len="sm"/>
          </a:ln>
        </p:spPr>
      </p:cxnSp>
      <p:grpSp>
        <p:nvGrpSpPr>
          <p:cNvPr id="695" name="Google Shape;695;p49"/>
          <p:cNvGrpSpPr/>
          <p:nvPr/>
        </p:nvGrpSpPr>
        <p:grpSpPr>
          <a:xfrm>
            <a:off x="3179614" y="3145541"/>
            <a:ext cx="428043" cy="801231"/>
            <a:chOff x="0" y="-47625"/>
            <a:chExt cx="812800" cy="1521437"/>
          </a:xfrm>
        </p:grpSpPr>
        <p:sp>
          <p:nvSpPr>
            <p:cNvPr id="696" name="Google Shape;696;p49"/>
            <p:cNvSpPr/>
            <p:nvPr/>
          </p:nvSpPr>
          <p:spPr>
            <a:xfrm>
              <a:off x="0" y="0"/>
              <a:ext cx="812800" cy="1473811"/>
            </a:xfrm>
            <a:custGeom>
              <a:avLst/>
              <a:gdLst/>
              <a:ahLst/>
              <a:cxnLst/>
              <a:rect l="l" t="t" r="r" b="b"/>
              <a:pathLst>
                <a:path w="812800" h="1473811" extrusionOk="0">
                  <a:moveTo>
                    <a:pt x="0" y="0"/>
                  </a:moveTo>
                  <a:lnTo>
                    <a:pt x="812800" y="0"/>
                  </a:lnTo>
                  <a:lnTo>
                    <a:pt x="812800" y="1473811"/>
                  </a:lnTo>
                  <a:lnTo>
                    <a:pt x="0" y="1473811"/>
                  </a:lnTo>
                  <a:close/>
                </a:path>
              </a:pathLst>
            </a:custGeom>
            <a:solidFill>
              <a:srgbClr val="000000"/>
            </a:solidFill>
            <a:ln>
              <a:noFill/>
            </a:ln>
          </p:spPr>
        </p:sp>
        <p:sp>
          <p:nvSpPr>
            <p:cNvPr id="697" name="Google Shape;697;p49"/>
            <p:cNvSpPr txBox="1"/>
            <p:nvPr/>
          </p:nvSpPr>
          <p:spPr>
            <a:xfrm>
              <a:off x="0" y="-47625"/>
              <a:ext cx="812800" cy="1521437"/>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698" name="Google Shape;698;p49"/>
          <p:cNvSpPr txBox="1"/>
          <p:nvPr/>
        </p:nvSpPr>
        <p:spPr>
          <a:xfrm>
            <a:off x="3286625" y="3475988"/>
            <a:ext cx="214021" cy="1416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02</a:t>
            </a:r>
            <a:endParaRPr sz="700"/>
          </a:p>
        </p:txBody>
      </p:sp>
      <p:grpSp>
        <p:nvGrpSpPr>
          <p:cNvPr id="699" name="Google Shape;699;p49"/>
          <p:cNvGrpSpPr/>
          <p:nvPr/>
        </p:nvGrpSpPr>
        <p:grpSpPr>
          <a:xfrm>
            <a:off x="5924458" y="3145541"/>
            <a:ext cx="428043" cy="801231"/>
            <a:chOff x="0" y="-47625"/>
            <a:chExt cx="812800" cy="1521437"/>
          </a:xfrm>
        </p:grpSpPr>
        <p:sp>
          <p:nvSpPr>
            <p:cNvPr id="700" name="Google Shape;700;p49"/>
            <p:cNvSpPr/>
            <p:nvPr/>
          </p:nvSpPr>
          <p:spPr>
            <a:xfrm>
              <a:off x="0" y="0"/>
              <a:ext cx="812800" cy="1473811"/>
            </a:xfrm>
            <a:custGeom>
              <a:avLst/>
              <a:gdLst/>
              <a:ahLst/>
              <a:cxnLst/>
              <a:rect l="l" t="t" r="r" b="b"/>
              <a:pathLst>
                <a:path w="812800" h="1473811" extrusionOk="0">
                  <a:moveTo>
                    <a:pt x="0" y="0"/>
                  </a:moveTo>
                  <a:lnTo>
                    <a:pt x="812800" y="0"/>
                  </a:lnTo>
                  <a:lnTo>
                    <a:pt x="812800" y="1473811"/>
                  </a:lnTo>
                  <a:lnTo>
                    <a:pt x="0" y="1473811"/>
                  </a:lnTo>
                  <a:close/>
                </a:path>
              </a:pathLst>
            </a:custGeom>
            <a:solidFill>
              <a:srgbClr val="6F6F6F"/>
            </a:solidFill>
            <a:ln>
              <a:noFill/>
            </a:ln>
          </p:spPr>
        </p:sp>
        <p:sp>
          <p:nvSpPr>
            <p:cNvPr id="701" name="Google Shape;701;p49"/>
            <p:cNvSpPr txBox="1"/>
            <p:nvPr/>
          </p:nvSpPr>
          <p:spPr>
            <a:xfrm>
              <a:off x="0" y="-47625"/>
              <a:ext cx="812800" cy="1521437"/>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702" name="Google Shape;702;p49"/>
          <p:cNvSpPr txBox="1"/>
          <p:nvPr/>
        </p:nvSpPr>
        <p:spPr>
          <a:xfrm>
            <a:off x="6031468" y="3475988"/>
            <a:ext cx="214022" cy="1416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03</a:t>
            </a:r>
            <a:endParaRPr sz="700"/>
          </a:p>
        </p:txBody>
      </p:sp>
      <p:cxnSp>
        <p:nvCxnSpPr>
          <p:cNvPr id="703" name="Google Shape;703;p49"/>
          <p:cNvCxnSpPr/>
          <p:nvPr/>
        </p:nvCxnSpPr>
        <p:spPr>
          <a:xfrm rot="10800000">
            <a:off x="-13280" y="2737164"/>
            <a:ext cx="9144000" cy="0"/>
          </a:xfrm>
          <a:prstGeom prst="straightConnector1">
            <a:avLst/>
          </a:prstGeom>
          <a:noFill/>
          <a:ln w="9525" cap="flat" cmpd="sng">
            <a:solidFill>
              <a:srgbClr val="000000"/>
            </a:solidFill>
            <a:prstDash val="solid"/>
            <a:round/>
            <a:headEnd type="none" w="sm" len="sm"/>
            <a:tailEnd type="none" w="sm" len="sm"/>
          </a:ln>
        </p:spPr>
      </p:cxn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707" name="Shape 707"/>
        <p:cNvGrpSpPr/>
        <p:nvPr/>
      </p:nvGrpSpPr>
      <p:grpSpPr>
        <a:xfrm>
          <a:off x="0" y="0"/>
          <a:ext cx="0" cy="0"/>
          <a:chOff x="0" y="0"/>
          <a:chExt cx="0" cy="0"/>
        </a:xfrm>
      </p:grpSpPr>
      <p:sp>
        <p:nvSpPr>
          <p:cNvPr id="708" name="Google Shape;708;p50"/>
          <p:cNvSpPr/>
          <p:nvPr/>
        </p:nvSpPr>
        <p:spPr>
          <a:xfrm>
            <a:off x="0" y="0"/>
            <a:ext cx="914400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cxnSp>
        <p:nvCxnSpPr>
          <p:cNvPr id="709" name="Google Shape;709;p50"/>
          <p:cNvCxnSpPr/>
          <p:nvPr/>
        </p:nvCxnSpPr>
        <p:spPr>
          <a:xfrm rot="10800000">
            <a:off x="0" y="4391152"/>
            <a:ext cx="9144000" cy="0"/>
          </a:xfrm>
          <a:prstGeom prst="straightConnector1">
            <a:avLst/>
          </a:prstGeom>
          <a:noFill/>
          <a:ln w="9525" cap="flat" cmpd="sng">
            <a:solidFill>
              <a:srgbClr val="000000"/>
            </a:solidFill>
            <a:prstDash val="solid"/>
            <a:round/>
            <a:headEnd type="none" w="sm" len="sm"/>
            <a:tailEnd type="none" w="sm" len="sm"/>
          </a:ln>
        </p:spPr>
      </p:cxnSp>
      <p:sp>
        <p:nvSpPr>
          <p:cNvPr id="710" name="Google Shape;710;p50"/>
          <p:cNvSpPr/>
          <p:nvPr/>
        </p:nvSpPr>
        <p:spPr>
          <a:xfrm>
            <a:off x="8287202" y="4637596"/>
            <a:ext cx="447495" cy="256293"/>
          </a:xfrm>
          <a:custGeom>
            <a:avLst/>
            <a:gdLst/>
            <a:ahLst/>
            <a:cxnLst/>
            <a:rect l="l" t="t" r="r" b="b"/>
            <a:pathLst>
              <a:path w="894990" h="512585" extrusionOk="0">
                <a:moveTo>
                  <a:pt x="0" y="0"/>
                </a:moveTo>
                <a:lnTo>
                  <a:pt x="894991" y="0"/>
                </a:lnTo>
                <a:lnTo>
                  <a:pt x="894991" y="512585"/>
                </a:lnTo>
                <a:lnTo>
                  <a:pt x="0" y="512585"/>
                </a:lnTo>
                <a:lnTo>
                  <a:pt x="0" y="0"/>
                </a:lnTo>
                <a:close/>
              </a:path>
            </a:pathLst>
          </a:custGeom>
          <a:blipFill rotWithShape="1">
            <a:blip r:embed="rId2"/>
            <a:stretch>
              <a:fillRect/>
            </a:stretch>
          </a:blipFill>
          <a:ln>
            <a:noFill/>
          </a:ln>
        </p:spPr>
      </p:sp>
      <p:grpSp>
        <p:nvGrpSpPr>
          <p:cNvPr id="711" name="Google Shape;711;p50"/>
          <p:cNvGrpSpPr/>
          <p:nvPr/>
        </p:nvGrpSpPr>
        <p:grpSpPr>
          <a:xfrm>
            <a:off x="0" y="-124500"/>
            <a:ext cx="9144000" cy="1568967"/>
            <a:chOff x="0" y="-47625"/>
            <a:chExt cx="3021571" cy="518454"/>
          </a:xfrm>
        </p:grpSpPr>
        <p:sp>
          <p:nvSpPr>
            <p:cNvPr id="712" name="Google Shape;712;p50"/>
            <p:cNvSpPr/>
            <p:nvPr/>
          </p:nvSpPr>
          <p:spPr>
            <a:xfrm>
              <a:off x="0" y="0"/>
              <a:ext cx="3021571" cy="470829"/>
            </a:xfrm>
            <a:custGeom>
              <a:avLst/>
              <a:gdLst/>
              <a:ahLst/>
              <a:cxnLst/>
              <a:rect l="l" t="t" r="r" b="b"/>
              <a:pathLst>
                <a:path w="3021571" h="470829" extrusionOk="0">
                  <a:moveTo>
                    <a:pt x="0" y="0"/>
                  </a:moveTo>
                  <a:lnTo>
                    <a:pt x="3021571" y="0"/>
                  </a:lnTo>
                  <a:lnTo>
                    <a:pt x="3021571" y="470829"/>
                  </a:lnTo>
                  <a:lnTo>
                    <a:pt x="0" y="470829"/>
                  </a:lnTo>
                  <a:close/>
                </a:path>
              </a:pathLst>
            </a:custGeom>
            <a:solidFill>
              <a:srgbClr val="BB2117"/>
            </a:solidFill>
            <a:ln>
              <a:noFill/>
            </a:ln>
          </p:spPr>
        </p:sp>
        <p:sp>
          <p:nvSpPr>
            <p:cNvPr id="713" name="Google Shape;713;p50"/>
            <p:cNvSpPr txBox="1"/>
            <p:nvPr/>
          </p:nvSpPr>
          <p:spPr>
            <a:xfrm>
              <a:off x="0" y="-47625"/>
              <a:ext cx="3021571" cy="518454"/>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714" name="Google Shape;714;p50"/>
          <p:cNvSpPr/>
          <p:nvPr/>
        </p:nvSpPr>
        <p:spPr>
          <a:xfrm>
            <a:off x="2397864" y="184105"/>
            <a:ext cx="1067065" cy="1067481"/>
          </a:xfrm>
          <a:custGeom>
            <a:avLst/>
            <a:gdLst/>
            <a:ahLst/>
            <a:cxnLst/>
            <a:rect l="l" t="t" r="r" b="b"/>
            <a:pathLst>
              <a:path w="2134129" h="2134961" extrusionOk="0">
                <a:moveTo>
                  <a:pt x="0" y="0"/>
                </a:moveTo>
                <a:lnTo>
                  <a:pt x="2134129" y="0"/>
                </a:lnTo>
                <a:lnTo>
                  <a:pt x="2134129" y="2134961"/>
                </a:lnTo>
                <a:lnTo>
                  <a:pt x="0" y="2134961"/>
                </a:lnTo>
                <a:lnTo>
                  <a:pt x="0" y="0"/>
                </a:lnTo>
                <a:close/>
              </a:path>
            </a:pathLst>
          </a:custGeom>
          <a:blipFill rotWithShape="1">
            <a:blip r:embed="rId3">
              <a:alphaModFix amt="40000"/>
            </a:blip>
            <a:stretch>
              <a:fillRect l="-26382" t="-8569" r="-114222" b="-131937"/>
            </a:stretch>
          </a:blipFill>
          <a:ln>
            <a:noFill/>
          </a:ln>
        </p:spPr>
      </p:sp>
      <p:sp>
        <p:nvSpPr>
          <p:cNvPr id="715" name="Google Shape;715;p50"/>
          <p:cNvSpPr/>
          <p:nvPr/>
        </p:nvSpPr>
        <p:spPr>
          <a:xfrm>
            <a:off x="3491655" y="184105"/>
            <a:ext cx="1067065" cy="1067481"/>
          </a:xfrm>
          <a:custGeom>
            <a:avLst/>
            <a:gdLst/>
            <a:ahLst/>
            <a:cxnLst/>
            <a:rect l="l" t="t" r="r" b="b"/>
            <a:pathLst>
              <a:path w="2134129" h="2134961" extrusionOk="0">
                <a:moveTo>
                  <a:pt x="0" y="0"/>
                </a:moveTo>
                <a:lnTo>
                  <a:pt x="2134130" y="0"/>
                </a:lnTo>
                <a:lnTo>
                  <a:pt x="2134130" y="2134961"/>
                </a:lnTo>
                <a:lnTo>
                  <a:pt x="0" y="2134961"/>
                </a:lnTo>
                <a:lnTo>
                  <a:pt x="0" y="0"/>
                </a:lnTo>
                <a:close/>
              </a:path>
            </a:pathLst>
          </a:custGeom>
          <a:blipFill rotWithShape="1">
            <a:blip r:embed="rId4">
              <a:alphaModFix amt="40000"/>
            </a:blip>
            <a:stretch>
              <a:fillRect l="-135289" t="-9200" r="-5315" b="-131312"/>
            </a:stretch>
          </a:blipFill>
          <a:ln>
            <a:noFill/>
          </a:ln>
        </p:spPr>
      </p:sp>
      <p:sp>
        <p:nvSpPr>
          <p:cNvPr id="716" name="Google Shape;716;p50"/>
          <p:cNvSpPr/>
          <p:nvPr/>
        </p:nvSpPr>
        <p:spPr>
          <a:xfrm>
            <a:off x="4585281" y="184105"/>
            <a:ext cx="1067064" cy="1067481"/>
          </a:xfrm>
          <a:custGeom>
            <a:avLst/>
            <a:gdLst/>
            <a:ahLst/>
            <a:cxnLst/>
            <a:rect l="l" t="t" r="r" b="b"/>
            <a:pathLst>
              <a:path w="2134129" h="2134961" extrusionOk="0">
                <a:moveTo>
                  <a:pt x="0" y="0"/>
                </a:moveTo>
                <a:lnTo>
                  <a:pt x="2134130" y="0"/>
                </a:lnTo>
                <a:lnTo>
                  <a:pt x="2134130" y="2134961"/>
                </a:lnTo>
                <a:lnTo>
                  <a:pt x="0" y="2134961"/>
                </a:lnTo>
                <a:lnTo>
                  <a:pt x="0" y="0"/>
                </a:lnTo>
                <a:close/>
              </a:path>
            </a:pathLst>
          </a:custGeom>
          <a:blipFill rotWithShape="1">
            <a:blip r:embed="rId5">
              <a:alphaModFix amt="40000"/>
            </a:blip>
            <a:stretch>
              <a:fillRect l="-28271" t="-107364" r="-112333" b="-33142"/>
            </a:stretch>
          </a:blipFill>
          <a:ln>
            <a:noFill/>
          </a:ln>
        </p:spPr>
      </p:sp>
      <p:sp>
        <p:nvSpPr>
          <p:cNvPr id="717" name="Google Shape;717;p50"/>
          <p:cNvSpPr/>
          <p:nvPr/>
        </p:nvSpPr>
        <p:spPr>
          <a:xfrm>
            <a:off x="5679072" y="184105"/>
            <a:ext cx="1067065" cy="1067481"/>
          </a:xfrm>
          <a:custGeom>
            <a:avLst/>
            <a:gdLst/>
            <a:ahLst/>
            <a:cxnLst/>
            <a:rect l="l" t="t" r="r" b="b"/>
            <a:pathLst>
              <a:path w="2134129" h="2134961" extrusionOk="0">
                <a:moveTo>
                  <a:pt x="0" y="0"/>
                </a:moveTo>
                <a:lnTo>
                  <a:pt x="2134129" y="0"/>
                </a:lnTo>
                <a:lnTo>
                  <a:pt x="2134129" y="2134961"/>
                </a:lnTo>
                <a:lnTo>
                  <a:pt x="0" y="2134961"/>
                </a:lnTo>
                <a:lnTo>
                  <a:pt x="0" y="0"/>
                </a:lnTo>
                <a:close/>
              </a:path>
            </a:pathLst>
          </a:custGeom>
          <a:blipFill rotWithShape="1">
            <a:blip r:embed="rId6"/>
            <a:stretch>
              <a:fillRect l="-138437" t="-107518" r="-2168" b="-32988"/>
            </a:stretch>
          </a:blipFill>
          <a:ln>
            <a:noFill/>
          </a:ln>
        </p:spPr>
      </p:sp>
      <p:cxnSp>
        <p:nvCxnSpPr>
          <p:cNvPr id="718" name="Google Shape;718;p50"/>
          <p:cNvCxnSpPr/>
          <p:nvPr/>
        </p:nvCxnSpPr>
        <p:spPr>
          <a:xfrm rot="10800000">
            <a:off x="2395483" y="1456871"/>
            <a:ext cx="0" cy="1280293"/>
          </a:xfrm>
          <a:prstGeom prst="straightConnector1">
            <a:avLst/>
          </a:prstGeom>
          <a:noFill/>
          <a:ln w="9525" cap="flat" cmpd="sng">
            <a:solidFill>
              <a:srgbClr val="000000"/>
            </a:solidFill>
            <a:prstDash val="solid"/>
            <a:round/>
            <a:headEnd type="none" w="sm" len="sm"/>
            <a:tailEnd type="none" w="sm" len="sm"/>
          </a:ln>
        </p:spPr>
      </p:cxnSp>
      <p:cxnSp>
        <p:nvCxnSpPr>
          <p:cNvPr id="719" name="Google Shape;719;p50"/>
          <p:cNvCxnSpPr/>
          <p:nvPr/>
        </p:nvCxnSpPr>
        <p:spPr>
          <a:xfrm rot="10800000">
            <a:off x="-13280" y="2737164"/>
            <a:ext cx="9144000" cy="0"/>
          </a:xfrm>
          <a:prstGeom prst="straightConnector1">
            <a:avLst/>
          </a:prstGeom>
          <a:noFill/>
          <a:ln w="9525" cap="flat" cmpd="sng">
            <a:solidFill>
              <a:srgbClr val="000000"/>
            </a:solidFill>
            <a:prstDash val="solid"/>
            <a:round/>
            <a:headEnd type="none" w="sm" len="sm"/>
            <a:tailEnd type="none" w="sm" len="sm"/>
          </a:ln>
        </p:spPr>
      </p:cxnSp>
      <p:sp>
        <p:nvSpPr>
          <p:cNvPr id="720" name="Google Shape;720;p50"/>
          <p:cNvSpPr/>
          <p:nvPr/>
        </p:nvSpPr>
        <p:spPr>
          <a:xfrm>
            <a:off x="3359134" y="3553932"/>
            <a:ext cx="517818" cy="500342"/>
          </a:xfrm>
          <a:custGeom>
            <a:avLst/>
            <a:gdLst/>
            <a:ahLst/>
            <a:cxnLst/>
            <a:rect l="l" t="t" r="r" b="b"/>
            <a:pathLst>
              <a:path w="1035637" h="1000684" extrusionOk="0">
                <a:moveTo>
                  <a:pt x="0" y="0"/>
                </a:moveTo>
                <a:lnTo>
                  <a:pt x="1035637" y="0"/>
                </a:lnTo>
                <a:lnTo>
                  <a:pt x="1035637" y="1000684"/>
                </a:lnTo>
                <a:lnTo>
                  <a:pt x="0" y="1000684"/>
                </a:lnTo>
                <a:lnTo>
                  <a:pt x="0" y="0"/>
                </a:lnTo>
                <a:close/>
              </a:path>
            </a:pathLst>
          </a:custGeom>
          <a:blipFill rotWithShape="1">
            <a:blip r:embed="rId7"/>
            <a:stretch>
              <a:fillRect/>
            </a:stretch>
          </a:blipFill>
          <a:ln>
            <a:noFill/>
          </a:ln>
        </p:spPr>
      </p:sp>
      <p:sp>
        <p:nvSpPr>
          <p:cNvPr id="721" name="Google Shape;721;p50"/>
          <p:cNvSpPr/>
          <p:nvPr/>
        </p:nvSpPr>
        <p:spPr>
          <a:xfrm>
            <a:off x="409303" y="3572786"/>
            <a:ext cx="483301" cy="481489"/>
          </a:xfrm>
          <a:custGeom>
            <a:avLst/>
            <a:gdLst/>
            <a:ahLst/>
            <a:cxnLst/>
            <a:rect l="l" t="t" r="r" b="b"/>
            <a:pathLst>
              <a:path w="966602" h="962978" extrusionOk="0">
                <a:moveTo>
                  <a:pt x="0" y="0"/>
                </a:moveTo>
                <a:lnTo>
                  <a:pt x="966603" y="0"/>
                </a:lnTo>
                <a:lnTo>
                  <a:pt x="966603" y="962978"/>
                </a:lnTo>
                <a:lnTo>
                  <a:pt x="0" y="962978"/>
                </a:lnTo>
                <a:lnTo>
                  <a:pt x="0" y="0"/>
                </a:lnTo>
                <a:close/>
              </a:path>
            </a:pathLst>
          </a:custGeom>
          <a:blipFill rotWithShape="1">
            <a:blip r:embed="rId8"/>
            <a:stretch>
              <a:fillRect/>
            </a:stretch>
          </a:blipFill>
          <a:ln>
            <a:noFill/>
          </a:ln>
        </p:spPr>
      </p:sp>
      <p:sp>
        <p:nvSpPr>
          <p:cNvPr id="722" name="Google Shape;722;p50"/>
          <p:cNvSpPr/>
          <p:nvPr/>
        </p:nvSpPr>
        <p:spPr>
          <a:xfrm>
            <a:off x="6311347" y="3590724"/>
            <a:ext cx="481489" cy="481489"/>
          </a:xfrm>
          <a:custGeom>
            <a:avLst/>
            <a:gdLst/>
            <a:ahLst/>
            <a:cxnLst/>
            <a:rect l="l" t="t" r="r" b="b"/>
            <a:pathLst>
              <a:path w="962978" h="962978" extrusionOk="0">
                <a:moveTo>
                  <a:pt x="0" y="0"/>
                </a:moveTo>
                <a:lnTo>
                  <a:pt x="962977" y="0"/>
                </a:lnTo>
                <a:lnTo>
                  <a:pt x="962977" y="962978"/>
                </a:lnTo>
                <a:lnTo>
                  <a:pt x="0" y="962978"/>
                </a:lnTo>
                <a:lnTo>
                  <a:pt x="0" y="0"/>
                </a:lnTo>
                <a:close/>
              </a:path>
            </a:pathLst>
          </a:custGeom>
          <a:blipFill rotWithShape="1">
            <a:blip r:embed="rId9"/>
            <a:stretch>
              <a:fillRect/>
            </a:stretch>
          </a:blipFill>
          <a:ln>
            <a:noFill/>
          </a:ln>
        </p:spPr>
      </p:sp>
      <p:grpSp>
        <p:nvGrpSpPr>
          <p:cNvPr id="723" name="Google Shape;723;p50"/>
          <p:cNvGrpSpPr/>
          <p:nvPr/>
        </p:nvGrpSpPr>
        <p:grpSpPr>
          <a:xfrm>
            <a:off x="406922" y="2994198"/>
            <a:ext cx="290897" cy="298854"/>
            <a:chOff x="0" y="-47625"/>
            <a:chExt cx="552377" cy="567486"/>
          </a:xfrm>
        </p:grpSpPr>
        <p:sp>
          <p:nvSpPr>
            <p:cNvPr id="724" name="Google Shape;724;p50"/>
            <p:cNvSpPr/>
            <p:nvPr/>
          </p:nvSpPr>
          <p:spPr>
            <a:xfrm>
              <a:off x="0" y="0"/>
              <a:ext cx="552377" cy="519861"/>
            </a:xfrm>
            <a:custGeom>
              <a:avLst/>
              <a:gdLst/>
              <a:ahLst/>
              <a:cxnLst/>
              <a:rect l="l" t="t" r="r" b="b"/>
              <a:pathLst>
                <a:path w="552377" h="519861" extrusionOk="0">
                  <a:moveTo>
                    <a:pt x="0" y="0"/>
                  </a:moveTo>
                  <a:lnTo>
                    <a:pt x="552377" y="0"/>
                  </a:lnTo>
                  <a:lnTo>
                    <a:pt x="552377" y="519861"/>
                  </a:lnTo>
                  <a:lnTo>
                    <a:pt x="0" y="519861"/>
                  </a:lnTo>
                  <a:close/>
                </a:path>
              </a:pathLst>
            </a:custGeom>
            <a:solidFill>
              <a:srgbClr val="BB2117"/>
            </a:solidFill>
            <a:ln>
              <a:noFill/>
            </a:ln>
          </p:spPr>
        </p:sp>
        <p:sp>
          <p:nvSpPr>
            <p:cNvPr id="725" name="Google Shape;725;p50"/>
            <p:cNvSpPr txBox="1"/>
            <p:nvPr/>
          </p:nvSpPr>
          <p:spPr>
            <a:xfrm>
              <a:off x="0" y="-47625"/>
              <a:ext cx="552377" cy="567486"/>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726" name="Google Shape;726;p50"/>
          <p:cNvGrpSpPr/>
          <p:nvPr/>
        </p:nvGrpSpPr>
        <p:grpSpPr>
          <a:xfrm>
            <a:off x="3359134" y="2994198"/>
            <a:ext cx="290897" cy="298854"/>
            <a:chOff x="0" y="-47625"/>
            <a:chExt cx="552377" cy="567486"/>
          </a:xfrm>
        </p:grpSpPr>
        <p:sp>
          <p:nvSpPr>
            <p:cNvPr id="727" name="Google Shape;727;p50"/>
            <p:cNvSpPr/>
            <p:nvPr/>
          </p:nvSpPr>
          <p:spPr>
            <a:xfrm>
              <a:off x="0" y="0"/>
              <a:ext cx="552377" cy="519861"/>
            </a:xfrm>
            <a:custGeom>
              <a:avLst/>
              <a:gdLst/>
              <a:ahLst/>
              <a:cxnLst/>
              <a:rect l="l" t="t" r="r" b="b"/>
              <a:pathLst>
                <a:path w="552377" h="519861" extrusionOk="0">
                  <a:moveTo>
                    <a:pt x="0" y="0"/>
                  </a:moveTo>
                  <a:lnTo>
                    <a:pt x="552377" y="0"/>
                  </a:lnTo>
                  <a:lnTo>
                    <a:pt x="552377" y="519861"/>
                  </a:lnTo>
                  <a:lnTo>
                    <a:pt x="0" y="519861"/>
                  </a:lnTo>
                  <a:close/>
                </a:path>
              </a:pathLst>
            </a:custGeom>
            <a:solidFill>
              <a:srgbClr val="000000"/>
            </a:solidFill>
            <a:ln>
              <a:noFill/>
            </a:ln>
          </p:spPr>
        </p:sp>
        <p:sp>
          <p:nvSpPr>
            <p:cNvPr id="728" name="Google Shape;728;p50"/>
            <p:cNvSpPr txBox="1"/>
            <p:nvPr/>
          </p:nvSpPr>
          <p:spPr>
            <a:xfrm>
              <a:off x="0" y="-47625"/>
              <a:ext cx="552377" cy="567486"/>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729" name="Google Shape;729;p50"/>
          <p:cNvGrpSpPr/>
          <p:nvPr/>
        </p:nvGrpSpPr>
        <p:grpSpPr>
          <a:xfrm>
            <a:off x="6311347" y="2994198"/>
            <a:ext cx="290897" cy="298854"/>
            <a:chOff x="0" y="-47625"/>
            <a:chExt cx="552377" cy="567486"/>
          </a:xfrm>
        </p:grpSpPr>
        <p:sp>
          <p:nvSpPr>
            <p:cNvPr id="730" name="Google Shape;730;p50"/>
            <p:cNvSpPr/>
            <p:nvPr/>
          </p:nvSpPr>
          <p:spPr>
            <a:xfrm>
              <a:off x="0" y="0"/>
              <a:ext cx="552377" cy="519861"/>
            </a:xfrm>
            <a:custGeom>
              <a:avLst/>
              <a:gdLst/>
              <a:ahLst/>
              <a:cxnLst/>
              <a:rect l="l" t="t" r="r" b="b"/>
              <a:pathLst>
                <a:path w="552377" h="519861" extrusionOk="0">
                  <a:moveTo>
                    <a:pt x="0" y="0"/>
                  </a:moveTo>
                  <a:lnTo>
                    <a:pt x="552377" y="0"/>
                  </a:lnTo>
                  <a:lnTo>
                    <a:pt x="552377" y="519861"/>
                  </a:lnTo>
                  <a:lnTo>
                    <a:pt x="0" y="519861"/>
                  </a:lnTo>
                  <a:close/>
                </a:path>
              </a:pathLst>
            </a:custGeom>
            <a:solidFill>
              <a:srgbClr val="6F6F6F"/>
            </a:solidFill>
            <a:ln>
              <a:noFill/>
            </a:ln>
          </p:spPr>
        </p:sp>
        <p:sp>
          <p:nvSpPr>
            <p:cNvPr id="731" name="Google Shape;731;p50"/>
            <p:cNvSpPr txBox="1"/>
            <p:nvPr/>
          </p:nvSpPr>
          <p:spPr>
            <a:xfrm>
              <a:off x="0" y="-47625"/>
              <a:ext cx="552377" cy="567486"/>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732" name="Google Shape;732;p50"/>
          <p:cNvSpPr txBox="1"/>
          <p:nvPr/>
        </p:nvSpPr>
        <p:spPr>
          <a:xfrm>
            <a:off x="409302" y="1685311"/>
            <a:ext cx="757594" cy="22987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GB" sz="1600" b="0" i="0" u="none" strike="noStrike" cap="none">
                <a:solidFill>
                  <a:srgbClr val="000000"/>
                </a:solidFill>
                <a:latin typeface="Arial" panose="020B0704020202020204"/>
                <a:ea typeface="Arial" panose="020B0704020202020204"/>
                <a:cs typeface="Arial" panose="020B0704020202020204"/>
                <a:sym typeface="Arial" panose="020B0704020202020204"/>
              </a:rPr>
              <a:t>Facing</a:t>
            </a:r>
            <a:endParaRPr sz="700"/>
          </a:p>
        </p:txBody>
      </p:sp>
      <p:sp>
        <p:nvSpPr>
          <p:cNvPr id="733" name="Google Shape;733;p50"/>
          <p:cNvSpPr txBox="1"/>
          <p:nvPr/>
        </p:nvSpPr>
        <p:spPr>
          <a:xfrm>
            <a:off x="2763105" y="2043109"/>
            <a:ext cx="5971592" cy="41783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Threats are external things that have the potential to damage business performance or existence. It can be in the form of fierce competition, regulatory changes, and economic crises. Anticipating threats with mitigation strategies is an important step to maintain competitiveness.</a:t>
            </a:r>
            <a:endParaRPr sz="700"/>
          </a:p>
        </p:txBody>
      </p:sp>
      <p:sp>
        <p:nvSpPr>
          <p:cNvPr id="734" name="Google Shape;734;p50"/>
          <p:cNvSpPr txBox="1"/>
          <p:nvPr/>
        </p:nvSpPr>
        <p:spPr>
          <a:xfrm>
            <a:off x="406922" y="4674779"/>
            <a:ext cx="180383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SWOT Analysis Presentation</a:t>
            </a:r>
            <a:endParaRPr sz="700"/>
          </a:p>
        </p:txBody>
      </p:sp>
      <p:sp>
        <p:nvSpPr>
          <p:cNvPr id="735" name="Google Shape;735;p50"/>
          <p:cNvSpPr txBox="1"/>
          <p:nvPr/>
        </p:nvSpPr>
        <p:spPr>
          <a:xfrm>
            <a:off x="2585382" y="4674779"/>
            <a:ext cx="1358909"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www.reallygreatsite.com</a:t>
            </a:r>
            <a:endParaRPr sz="700"/>
          </a:p>
        </p:txBody>
      </p:sp>
      <p:sp>
        <p:nvSpPr>
          <p:cNvPr id="736" name="Google Shape;736;p50"/>
          <p:cNvSpPr txBox="1"/>
          <p:nvPr/>
        </p:nvSpPr>
        <p:spPr>
          <a:xfrm>
            <a:off x="406922" y="1950641"/>
            <a:ext cx="1803838" cy="4810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3200" b="1" i="0" u="none" strike="noStrike" cap="none">
                <a:solidFill>
                  <a:srgbClr val="BB2117"/>
                </a:solidFill>
                <a:latin typeface="Ultra"/>
                <a:ea typeface="Ultra"/>
                <a:cs typeface="Ultra"/>
                <a:sym typeface="Ultra"/>
              </a:rPr>
              <a:t>Threats</a:t>
            </a:r>
            <a:endParaRPr sz="700"/>
          </a:p>
        </p:txBody>
      </p:sp>
      <p:sp>
        <p:nvSpPr>
          <p:cNvPr id="737" name="Google Shape;737;p50"/>
          <p:cNvSpPr txBox="1"/>
          <p:nvPr/>
        </p:nvSpPr>
        <p:spPr>
          <a:xfrm>
            <a:off x="1148730" y="3544210"/>
            <a:ext cx="1614376"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Aggressive New Competitors</a:t>
            </a:r>
            <a:endParaRPr sz="700"/>
          </a:p>
        </p:txBody>
      </p:sp>
      <p:sp>
        <p:nvSpPr>
          <p:cNvPr id="738" name="Google Shape;738;p50"/>
          <p:cNvSpPr txBox="1"/>
          <p:nvPr/>
        </p:nvSpPr>
        <p:spPr>
          <a:xfrm>
            <a:off x="1148730" y="3792495"/>
            <a:ext cx="1634142"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Increase market pressure and reduce profit margins.</a:t>
            </a:r>
            <a:endParaRPr sz="700"/>
          </a:p>
        </p:txBody>
      </p:sp>
      <p:sp>
        <p:nvSpPr>
          <p:cNvPr id="739" name="Google Shape;739;p50"/>
          <p:cNvSpPr txBox="1"/>
          <p:nvPr/>
        </p:nvSpPr>
        <p:spPr>
          <a:xfrm>
            <a:off x="2763106" y="1720871"/>
            <a:ext cx="5161803" cy="19431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200" b="0" i="0" u="none" strike="noStrike" cap="none">
                <a:solidFill>
                  <a:srgbClr val="000000"/>
                </a:solidFill>
                <a:latin typeface="Arial" panose="020B0704020202020204"/>
                <a:ea typeface="Arial" panose="020B0704020202020204"/>
                <a:cs typeface="Arial" panose="020B0704020202020204"/>
                <a:sym typeface="Arial" panose="020B0704020202020204"/>
              </a:rPr>
              <a:t>Recognizing Risk Factors that Can Disrupt Stability and Sustainability</a:t>
            </a:r>
            <a:endParaRPr sz="700"/>
          </a:p>
        </p:txBody>
      </p:sp>
      <p:sp>
        <p:nvSpPr>
          <p:cNvPr id="740" name="Google Shape;740;p50"/>
          <p:cNvSpPr txBox="1"/>
          <p:nvPr/>
        </p:nvSpPr>
        <p:spPr>
          <a:xfrm>
            <a:off x="4068661" y="3544210"/>
            <a:ext cx="1410750"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Regulatory Uncertainty</a:t>
            </a:r>
            <a:endParaRPr sz="700"/>
          </a:p>
        </p:txBody>
      </p:sp>
      <p:sp>
        <p:nvSpPr>
          <p:cNvPr id="741" name="Google Shape;741;p50"/>
          <p:cNvSpPr txBox="1"/>
          <p:nvPr/>
        </p:nvSpPr>
        <p:spPr>
          <a:xfrm>
            <a:off x="4068661" y="3792495"/>
            <a:ext cx="1765238"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Changes in rules can disrupt business plans.</a:t>
            </a:r>
            <a:endParaRPr sz="700"/>
          </a:p>
        </p:txBody>
      </p:sp>
      <p:sp>
        <p:nvSpPr>
          <p:cNvPr id="742" name="Google Shape;742;p50"/>
          <p:cNvSpPr txBox="1"/>
          <p:nvPr/>
        </p:nvSpPr>
        <p:spPr>
          <a:xfrm>
            <a:off x="6984524" y="3544210"/>
            <a:ext cx="1402320"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Global Economic Crisis</a:t>
            </a:r>
            <a:endParaRPr sz="700"/>
          </a:p>
        </p:txBody>
      </p:sp>
      <p:sp>
        <p:nvSpPr>
          <p:cNvPr id="743" name="Google Shape;743;p50"/>
          <p:cNvSpPr txBox="1"/>
          <p:nvPr/>
        </p:nvSpPr>
        <p:spPr>
          <a:xfrm>
            <a:off x="6984524" y="3792495"/>
            <a:ext cx="1626152"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Decreases purchasing power and tightens corporate cash flow.</a:t>
            </a:r>
            <a:endParaRPr sz="700"/>
          </a:p>
        </p:txBody>
      </p:sp>
      <p:sp>
        <p:nvSpPr>
          <p:cNvPr id="744" name="Google Shape;744;p50"/>
          <p:cNvSpPr txBox="1"/>
          <p:nvPr/>
        </p:nvSpPr>
        <p:spPr>
          <a:xfrm>
            <a:off x="470460" y="3073457"/>
            <a:ext cx="163822" cy="1416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01</a:t>
            </a:r>
            <a:endParaRPr sz="700"/>
          </a:p>
        </p:txBody>
      </p:sp>
      <p:sp>
        <p:nvSpPr>
          <p:cNvPr id="745" name="Google Shape;745;p50"/>
          <p:cNvSpPr txBox="1"/>
          <p:nvPr/>
        </p:nvSpPr>
        <p:spPr>
          <a:xfrm>
            <a:off x="3422671" y="3073457"/>
            <a:ext cx="163821" cy="1416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02</a:t>
            </a:r>
            <a:endParaRPr sz="700"/>
          </a:p>
        </p:txBody>
      </p:sp>
      <p:sp>
        <p:nvSpPr>
          <p:cNvPr id="746" name="Google Shape;746;p50"/>
          <p:cNvSpPr txBox="1"/>
          <p:nvPr/>
        </p:nvSpPr>
        <p:spPr>
          <a:xfrm>
            <a:off x="6374884" y="3073457"/>
            <a:ext cx="163821" cy="1416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03</a:t>
            </a:r>
            <a:endParaRPr sz="70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750" name="Shape 750"/>
        <p:cNvGrpSpPr/>
        <p:nvPr/>
      </p:nvGrpSpPr>
      <p:grpSpPr>
        <a:xfrm>
          <a:off x="0" y="0"/>
          <a:ext cx="0" cy="0"/>
          <a:chOff x="0" y="0"/>
          <a:chExt cx="0" cy="0"/>
        </a:xfrm>
      </p:grpSpPr>
      <p:sp>
        <p:nvSpPr>
          <p:cNvPr id="751" name="Google Shape;751;p51"/>
          <p:cNvSpPr/>
          <p:nvPr/>
        </p:nvSpPr>
        <p:spPr>
          <a:xfrm>
            <a:off x="0" y="0"/>
            <a:ext cx="914400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cxnSp>
        <p:nvCxnSpPr>
          <p:cNvPr id="752" name="Google Shape;752;p51"/>
          <p:cNvCxnSpPr/>
          <p:nvPr/>
        </p:nvCxnSpPr>
        <p:spPr>
          <a:xfrm rot="10800000">
            <a:off x="0" y="4391152"/>
            <a:ext cx="9144000" cy="0"/>
          </a:xfrm>
          <a:prstGeom prst="straightConnector1">
            <a:avLst/>
          </a:prstGeom>
          <a:noFill/>
          <a:ln w="9525" cap="flat" cmpd="sng">
            <a:solidFill>
              <a:srgbClr val="000000"/>
            </a:solidFill>
            <a:prstDash val="solid"/>
            <a:round/>
            <a:headEnd type="none" w="sm" len="sm"/>
            <a:tailEnd type="none" w="sm" len="sm"/>
          </a:ln>
        </p:spPr>
      </p:cxnSp>
      <p:sp>
        <p:nvSpPr>
          <p:cNvPr id="753" name="Google Shape;753;p51"/>
          <p:cNvSpPr/>
          <p:nvPr/>
        </p:nvSpPr>
        <p:spPr>
          <a:xfrm>
            <a:off x="8287202" y="4637596"/>
            <a:ext cx="447495" cy="256293"/>
          </a:xfrm>
          <a:custGeom>
            <a:avLst/>
            <a:gdLst/>
            <a:ahLst/>
            <a:cxnLst/>
            <a:rect l="l" t="t" r="r" b="b"/>
            <a:pathLst>
              <a:path w="894990" h="512585" extrusionOk="0">
                <a:moveTo>
                  <a:pt x="0" y="0"/>
                </a:moveTo>
                <a:lnTo>
                  <a:pt x="894991" y="0"/>
                </a:lnTo>
                <a:lnTo>
                  <a:pt x="894991" y="512585"/>
                </a:lnTo>
                <a:lnTo>
                  <a:pt x="0" y="512585"/>
                </a:lnTo>
                <a:lnTo>
                  <a:pt x="0" y="0"/>
                </a:lnTo>
                <a:close/>
              </a:path>
            </a:pathLst>
          </a:custGeom>
          <a:blipFill rotWithShape="1">
            <a:blip r:embed="rId2"/>
            <a:stretch>
              <a:fillRect/>
            </a:stretch>
          </a:blipFill>
          <a:ln>
            <a:noFill/>
          </a:ln>
        </p:spPr>
      </p:sp>
      <p:sp>
        <p:nvSpPr>
          <p:cNvPr id="754" name="Google Shape;754;p51"/>
          <p:cNvSpPr txBox="1"/>
          <p:nvPr/>
        </p:nvSpPr>
        <p:spPr>
          <a:xfrm>
            <a:off x="406922" y="3389916"/>
            <a:ext cx="2784128" cy="69405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The next step after the SWOT analysis is to devise a strategy that combines all four elements in a balanced way. The key to success is to utilize strengths to pursue opportunities, address weaknesses, and protect against threats. This approach creates a proactive and resilient strategy.</a:t>
            </a:r>
            <a:endParaRPr sz="700"/>
          </a:p>
        </p:txBody>
      </p:sp>
      <p:sp>
        <p:nvSpPr>
          <p:cNvPr id="755" name="Google Shape;755;p51"/>
          <p:cNvSpPr txBox="1"/>
          <p:nvPr/>
        </p:nvSpPr>
        <p:spPr>
          <a:xfrm>
            <a:off x="406922" y="4674779"/>
            <a:ext cx="180383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SWOT Analysis Presentation</a:t>
            </a:r>
            <a:endParaRPr sz="700"/>
          </a:p>
        </p:txBody>
      </p:sp>
      <p:sp>
        <p:nvSpPr>
          <p:cNvPr id="756" name="Google Shape;756;p51"/>
          <p:cNvSpPr txBox="1"/>
          <p:nvPr/>
        </p:nvSpPr>
        <p:spPr>
          <a:xfrm>
            <a:off x="2585382" y="4674779"/>
            <a:ext cx="1358909"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www.reallygreatsite.com</a:t>
            </a:r>
            <a:endParaRPr sz="700"/>
          </a:p>
        </p:txBody>
      </p:sp>
      <p:sp>
        <p:nvSpPr>
          <p:cNvPr id="757" name="Google Shape;757;p51"/>
          <p:cNvSpPr txBox="1"/>
          <p:nvPr/>
        </p:nvSpPr>
        <p:spPr>
          <a:xfrm>
            <a:off x="406922" y="514350"/>
            <a:ext cx="2857915" cy="9620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3200" b="1" i="0" u="none" strike="noStrike" cap="none">
                <a:solidFill>
                  <a:srgbClr val="BB2117"/>
                </a:solidFill>
                <a:latin typeface="Ultra"/>
                <a:ea typeface="Ultra"/>
                <a:cs typeface="Ultra"/>
                <a:sym typeface="Ultra"/>
              </a:rPr>
              <a:t>Strategizing From SWOT</a:t>
            </a:r>
            <a:endParaRPr sz="700"/>
          </a:p>
        </p:txBody>
      </p:sp>
      <p:sp>
        <p:nvSpPr>
          <p:cNvPr id="758" name="Google Shape;758;p51"/>
          <p:cNvSpPr txBox="1"/>
          <p:nvPr/>
        </p:nvSpPr>
        <p:spPr>
          <a:xfrm>
            <a:off x="406922" y="1620182"/>
            <a:ext cx="2413698" cy="389572"/>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200" b="0" i="0" u="none" strike="noStrike" cap="none">
                <a:solidFill>
                  <a:srgbClr val="000000"/>
                </a:solidFill>
                <a:latin typeface="Arial" panose="020B0704020202020204"/>
                <a:ea typeface="Arial" panose="020B0704020202020204"/>
                <a:cs typeface="Arial" panose="020B0704020202020204"/>
                <a:sym typeface="Arial" panose="020B0704020202020204"/>
              </a:rPr>
              <a:t>Integrating the Four Elements to Build a Holistic Strategy</a:t>
            </a:r>
            <a:endParaRPr sz="700"/>
          </a:p>
        </p:txBody>
      </p:sp>
      <p:cxnSp>
        <p:nvCxnSpPr>
          <p:cNvPr id="759" name="Google Shape;759;p51"/>
          <p:cNvCxnSpPr/>
          <p:nvPr/>
        </p:nvCxnSpPr>
        <p:spPr>
          <a:xfrm rot="10800000">
            <a:off x="3553155" y="244633"/>
            <a:ext cx="0" cy="4146518"/>
          </a:xfrm>
          <a:prstGeom prst="straightConnector1">
            <a:avLst/>
          </a:prstGeom>
          <a:noFill/>
          <a:ln w="9525" cap="flat" cmpd="sng">
            <a:solidFill>
              <a:srgbClr val="000000"/>
            </a:solidFill>
            <a:prstDash val="solid"/>
            <a:round/>
            <a:headEnd type="none" w="sm" len="sm"/>
            <a:tailEnd type="none" w="sm" len="sm"/>
          </a:ln>
        </p:spPr>
      </p:cxnSp>
      <p:cxnSp>
        <p:nvCxnSpPr>
          <p:cNvPr id="760" name="Google Shape;760;p51"/>
          <p:cNvCxnSpPr/>
          <p:nvPr/>
        </p:nvCxnSpPr>
        <p:spPr>
          <a:xfrm rot="10800000">
            <a:off x="0" y="244634"/>
            <a:ext cx="9144000" cy="0"/>
          </a:xfrm>
          <a:prstGeom prst="straightConnector1">
            <a:avLst/>
          </a:prstGeom>
          <a:noFill/>
          <a:ln w="9525" cap="flat" cmpd="sng">
            <a:solidFill>
              <a:srgbClr val="000000"/>
            </a:solidFill>
            <a:prstDash val="solid"/>
            <a:round/>
            <a:headEnd type="none" w="sm" len="sm"/>
            <a:tailEnd type="none" w="sm" len="sm"/>
          </a:ln>
        </p:spPr>
      </p:cxnSp>
      <p:grpSp>
        <p:nvGrpSpPr>
          <p:cNvPr id="761" name="Google Shape;761;p51"/>
          <p:cNvGrpSpPr/>
          <p:nvPr/>
        </p:nvGrpSpPr>
        <p:grpSpPr>
          <a:xfrm>
            <a:off x="3724376" y="456102"/>
            <a:ext cx="482338" cy="482338"/>
            <a:chOff x="0" y="0"/>
            <a:chExt cx="812800" cy="812800"/>
          </a:xfrm>
        </p:grpSpPr>
        <p:sp>
          <p:nvSpPr>
            <p:cNvPr id="762" name="Google Shape;762;p5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763" name="Google Shape;763;p51"/>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764" name="Google Shape;764;p51"/>
          <p:cNvSpPr txBox="1"/>
          <p:nvPr/>
        </p:nvSpPr>
        <p:spPr>
          <a:xfrm>
            <a:off x="3775792" y="605795"/>
            <a:ext cx="379506" cy="189076"/>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1400" b="0" i="0" u="none" strike="noStrike" cap="none">
                <a:solidFill>
                  <a:srgbClr val="FFFFFF"/>
                </a:solidFill>
                <a:latin typeface="Arial" panose="020B0704020202020204"/>
                <a:ea typeface="Arial" panose="020B0704020202020204"/>
                <a:cs typeface="Arial" panose="020B0704020202020204"/>
                <a:sym typeface="Arial" panose="020B0704020202020204"/>
              </a:rPr>
              <a:t>SO</a:t>
            </a:r>
            <a:endParaRPr sz="700"/>
          </a:p>
        </p:txBody>
      </p:sp>
      <p:sp>
        <p:nvSpPr>
          <p:cNvPr id="765" name="Google Shape;765;p51"/>
          <p:cNvSpPr txBox="1"/>
          <p:nvPr/>
        </p:nvSpPr>
        <p:spPr>
          <a:xfrm>
            <a:off x="4373401" y="522964"/>
            <a:ext cx="1440611"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Strengths - Opportunities Strategy</a:t>
            </a:r>
            <a:endParaRPr sz="700"/>
          </a:p>
        </p:txBody>
      </p:sp>
      <p:sp>
        <p:nvSpPr>
          <p:cNvPr id="766" name="Google Shape;766;p51"/>
          <p:cNvSpPr txBox="1"/>
          <p:nvPr/>
        </p:nvSpPr>
        <p:spPr>
          <a:xfrm>
            <a:off x="3666188" y="1438671"/>
            <a:ext cx="2335943" cy="525145"/>
          </a:xfrm>
          <a:prstGeom prst="rect">
            <a:avLst/>
          </a:prstGeom>
          <a:noFill/>
          <a:ln>
            <a:noFill/>
          </a:ln>
        </p:spPr>
        <p:txBody>
          <a:bodyPr spcFirstLastPara="1" wrap="square" lIns="0" tIns="0" rIns="0" bIns="0" anchor="t" anchorCtr="0">
            <a:spAutoFit/>
          </a:bodyPr>
          <a:lstStyle/>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Market Expansion with Superior Resources</a:t>
            </a:r>
            <a:endParaRPr sz="700"/>
          </a:p>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Product Innovation Based on Core Strengths</a:t>
            </a:r>
            <a:endParaRPr sz="700"/>
          </a:p>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Strategic Partnerships with Strong Positions</a:t>
            </a:r>
            <a:endParaRPr sz="700"/>
          </a:p>
        </p:txBody>
      </p:sp>
      <p:cxnSp>
        <p:nvCxnSpPr>
          <p:cNvPr id="767" name="Google Shape;767;p51"/>
          <p:cNvCxnSpPr/>
          <p:nvPr/>
        </p:nvCxnSpPr>
        <p:spPr>
          <a:xfrm rot="10800000">
            <a:off x="3553155" y="2317893"/>
            <a:ext cx="5590845" cy="0"/>
          </a:xfrm>
          <a:prstGeom prst="straightConnector1">
            <a:avLst/>
          </a:prstGeom>
          <a:noFill/>
          <a:ln w="9525" cap="flat" cmpd="sng">
            <a:solidFill>
              <a:srgbClr val="000000"/>
            </a:solidFill>
            <a:prstDash val="solid"/>
            <a:round/>
            <a:headEnd type="none" w="sm" len="sm"/>
            <a:tailEnd type="none" w="sm" len="sm"/>
          </a:ln>
        </p:spPr>
      </p:cxnSp>
      <p:cxnSp>
        <p:nvCxnSpPr>
          <p:cNvPr id="768" name="Google Shape;768;p51"/>
          <p:cNvCxnSpPr/>
          <p:nvPr/>
        </p:nvCxnSpPr>
        <p:spPr>
          <a:xfrm rot="10800000">
            <a:off x="6347387" y="235755"/>
            <a:ext cx="0" cy="4146518"/>
          </a:xfrm>
          <a:prstGeom prst="straightConnector1">
            <a:avLst/>
          </a:prstGeom>
          <a:noFill/>
          <a:ln w="9525" cap="flat" cmpd="sng">
            <a:solidFill>
              <a:srgbClr val="000000"/>
            </a:solidFill>
            <a:prstDash val="solid"/>
            <a:round/>
            <a:headEnd type="none" w="sm" len="sm"/>
            <a:tailEnd type="none" w="sm" len="sm"/>
          </a:ln>
        </p:spPr>
      </p:cxnSp>
      <p:cxnSp>
        <p:nvCxnSpPr>
          <p:cNvPr id="769" name="Google Shape;769;p51"/>
          <p:cNvCxnSpPr/>
          <p:nvPr/>
        </p:nvCxnSpPr>
        <p:spPr>
          <a:xfrm rot="10800000">
            <a:off x="3553155" y="1136980"/>
            <a:ext cx="5590845" cy="0"/>
          </a:xfrm>
          <a:prstGeom prst="straightConnector1">
            <a:avLst/>
          </a:prstGeom>
          <a:noFill/>
          <a:ln w="9525" cap="flat" cmpd="sng">
            <a:solidFill>
              <a:srgbClr val="000000"/>
            </a:solidFill>
            <a:prstDash val="solid"/>
            <a:round/>
            <a:headEnd type="none" w="sm" len="sm"/>
            <a:tailEnd type="none" w="sm" len="sm"/>
          </a:ln>
        </p:spPr>
      </p:cxnSp>
      <p:grpSp>
        <p:nvGrpSpPr>
          <p:cNvPr id="770" name="Google Shape;770;p51"/>
          <p:cNvGrpSpPr/>
          <p:nvPr/>
        </p:nvGrpSpPr>
        <p:grpSpPr>
          <a:xfrm>
            <a:off x="6583130" y="456102"/>
            <a:ext cx="482338" cy="482338"/>
            <a:chOff x="0" y="0"/>
            <a:chExt cx="812800" cy="812800"/>
          </a:xfrm>
        </p:grpSpPr>
        <p:sp>
          <p:nvSpPr>
            <p:cNvPr id="771" name="Google Shape;771;p5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772" name="Google Shape;772;p51"/>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773" name="Google Shape;773;p51"/>
          <p:cNvSpPr txBox="1"/>
          <p:nvPr/>
        </p:nvSpPr>
        <p:spPr>
          <a:xfrm>
            <a:off x="6635518" y="611300"/>
            <a:ext cx="379505" cy="190991"/>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1400" b="0" i="0" u="none" strike="noStrike" cap="none">
                <a:solidFill>
                  <a:srgbClr val="FFFFFF"/>
                </a:solidFill>
                <a:latin typeface="Arial" panose="020B0704020202020204"/>
                <a:ea typeface="Arial" panose="020B0704020202020204"/>
                <a:cs typeface="Arial" panose="020B0704020202020204"/>
                <a:sym typeface="Arial" panose="020B0704020202020204"/>
              </a:rPr>
              <a:t>WO</a:t>
            </a:r>
            <a:endParaRPr sz="700"/>
          </a:p>
        </p:txBody>
      </p:sp>
      <p:sp>
        <p:nvSpPr>
          <p:cNvPr id="774" name="Google Shape;774;p51"/>
          <p:cNvSpPr txBox="1"/>
          <p:nvPr/>
        </p:nvSpPr>
        <p:spPr>
          <a:xfrm>
            <a:off x="7232156" y="522964"/>
            <a:ext cx="1738333"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Weaknesses - Opportunities Strategy</a:t>
            </a:r>
            <a:endParaRPr sz="700"/>
          </a:p>
        </p:txBody>
      </p:sp>
      <p:sp>
        <p:nvSpPr>
          <p:cNvPr id="775" name="Google Shape;775;p51"/>
          <p:cNvSpPr txBox="1"/>
          <p:nvPr/>
        </p:nvSpPr>
        <p:spPr>
          <a:xfrm>
            <a:off x="6524942" y="1438671"/>
            <a:ext cx="2335943" cy="525145"/>
          </a:xfrm>
          <a:prstGeom prst="rect">
            <a:avLst/>
          </a:prstGeom>
          <a:noFill/>
          <a:ln>
            <a:noFill/>
          </a:ln>
        </p:spPr>
        <p:txBody>
          <a:bodyPr spcFirstLastPara="1" wrap="square" lIns="0" tIns="0" rIns="0" bIns="0" anchor="t" anchorCtr="0">
            <a:spAutoFit/>
          </a:bodyPr>
          <a:lstStyle/>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Invest in Competency Development</a:t>
            </a:r>
            <a:endParaRPr sz="700"/>
          </a:p>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Digital Transformation for Operational Efficiency</a:t>
            </a:r>
            <a:endParaRPr sz="700"/>
          </a:p>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Rebranding to Adjust to Trends</a:t>
            </a:r>
            <a:endParaRPr sz="700"/>
          </a:p>
        </p:txBody>
      </p:sp>
      <p:grpSp>
        <p:nvGrpSpPr>
          <p:cNvPr id="776" name="Google Shape;776;p51"/>
          <p:cNvGrpSpPr/>
          <p:nvPr/>
        </p:nvGrpSpPr>
        <p:grpSpPr>
          <a:xfrm>
            <a:off x="3724376" y="2515537"/>
            <a:ext cx="482338" cy="482338"/>
            <a:chOff x="0" y="0"/>
            <a:chExt cx="812800" cy="812800"/>
          </a:xfrm>
        </p:grpSpPr>
        <p:sp>
          <p:nvSpPr>
            <p:cNvPr id="777" name="Google Shape;777;p5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778" name="Google Shape;778;p51"/>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779" name="Google Shape;779;p51"/>
          <p:cNvSpPr txBox="1"/>
          <p:nvPr/>
        </p:nvSpPr>
        <p:spPr>
          <a:xfrm>
            <a:off x="3775792" y="2671693"/>
            <a:ext cx="379506" cy="189076"/>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1400" b="0" i="0" u="none" strike="noStrike" cap="none">
                <a:solidFill>
                  <a:srgbClr val="FFFFFF"/>
                </a:solidFill>
                <a:latin typeface="Arial" panose="020B0704020202020204"/>
                <a:ea typeface="Arial" panose="020B0704020202020204"/>
                <a:cs typeface="Arial" panose="020B0704020202020204"/>
                <a:sym typeface="Arial" panose="020B0704020202020204"/>
              </a:rPr>
              <a:t>ST</a:t>
            </a:r>
            <a:endParaRPr sz="700"/>
          </a:p>
        </p:txBody>
      </p:sp>
      <p:sp>
        <p:nvSpPr>
          <p:cNvPr id="780" name="Google Shape;780;p51"/>
          <p:cNvSpPr txBox="1"/>
          <p:nvPr/>
        </p:nvSpPr>
        <p:spPr>
          <a:xfrm>
            <a:off x="4373401" y="2582398"/>
            <a:ext cx="1440611"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Strengths - Threats Strategy</a:t>
            </a:r>
            <a:endParaRPr sz="700"/>
          </a:p>
        </p:txBody>
      </p:sp>
      <p:sp>
        <p:nvSpPr>
          <p:cNvPr id="781" name="Google Shape;781;p51"/>
          <p:cNvSpPr txBox="1"/>
          <p:nvPr/>
        </p:nvSpPr>
        <p:spPr>
          <a:xfrm>
            <a:off x="3666188" y="3498105"/>
            <a:ext cx="2586600" cy="701357"/>
          </a:xfrm>
          <a:prstGeom prst="rect">
            <a:avLst/>
          </a:prstGeom>
          <a:noFill/>
          <a:ln>
            <a:noFill/>
          </a:ln>
        </p:spPr>
        <p:txBody>
          <a:bodyPr spcFirstLastPara="1" wrap="square" lIns="0" tIns="0" rIns="0" bIns="0" anchor="t" anchorCtr="0">
            <a:spAutoFit/>
          </a:bodyPr>
          <a:lstStyle/>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Product Diversification to Reduce Market Dependence</a:t>
            </a:r>
            <a:endParaRPr sz="700"/>
          </a:p>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Strengthening Customer Loyalty Amidst Competition</a:t>
            </a:r>
            <a:endParaRPr sz="700"/>
          </a:p>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Process Optimization to Reduce Costs and Risks</a:t>
            </a:r>
            <a:endParaRPr sz="700"/>
          </a:p>
        </p:txBody>
      </p:sp>
      <p:grpSp>
        <p:nvGrpSpPr>
          <p:cNvPr id="782" name="Google Shape;782;p51"/>
          <p:cNvGrpSpPr/>
          <p:nvPr/>
        </p:nvGrpSpPr>
        <p:grpSpPr>
          <a:xfrm>
            <a:off x="6583130" y="2515537"/>
            <a:ext cx="482338" cy="482338"/>
            <a:chOff x="0" y="0"/>
            <a:chExt cx="812800" cy="812800"/>
          </a:xfrm>
        </p:grpSpPr>
        <p:sp>
          <p:nvSpPr>
            <p:cNvPr id="783" name="Google Shape;783;p5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784" name="Google Shape;784;p51"/>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785" name="Google Shape;785;p51"/>
          <p:cNvSpPr txBox="1"/>
          <p:nvPr/>
        </p:nvSpPr>
        <p:spPr>
          <a:xfrm>
            <a:off x="6635518" y="2671693"/>
            <a:ext cx="379505" cy="189076"/>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1400" b="0" i="0" u="none" strike="noStrike" cap="none">
                <a:solidFill>
                  <a:srgbClr val="FFFFFF"/>
                </a:solidFill>
                <a:latin typeface="Arial" panose="020B0704020202020204"/>
                <a:ea typeface="Arial" panose="020B0704020202020204"/>
                <a:cs typeface="Arial" panose="020B0704020202020204"/>
                <a:sym typeface="Arial" panose="020B0704020202020204"/>
              </a:rPr>
              <a:t>WT</a:t>
            </a:r>
            <a:endParaRPr sz="700"/>
          </a:p>
        </p:txBody>
      </p:sp>
      <p:sp>
        <p:nvSpPr>
          <p:cNvPr id="786" name="Google Shape;786;p51"/>
          <p:cNvSpPr txBox="1"/>
          <p:nvPr/>
        </p:nvSpPr>
        <p:spPr>
          <a:xfrm>
            <a:off x="7232156" y="2582398"/>
            <a:ext cx="1440610"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Weaknesses - Threats Strategy</a:t>
            </a:r>
            <a:endParaRPr sz="700"/>
          </a:p>
        </p:txBody>
      </p:sp>
      <p:sp>
        <p:nvSpPr>
          <p:cNvPr id="787" name="Google Shape;787;p51"/>
          <p:cNvSpPr txBox="1"/>
          <p:nvPr/>
        </p:nvSpPr>
        <p:spPr>
          <a:xfrm>
            <a:off x="6524942" y="3498105"/>
            <a:ext cx="2335943" cy="701357"/>
          </a:xfrm>
          <a:prstGeom prst="rect">
            <a:avLst/>
          </a:prstGeom>
          <a:noFill/>
          <a:ln>
            <a:noFill/>
          </a:ln>
        </p:spPr>
        <p:txBody>
          <a:bodyPr spcFirstLastPara="1" wrap="square" lIns="0" tIns="0" rIns="0" bIns="0" anchor="t" anchorCtr="0">
            <a:spAutoFit/>
          </a:bodyPr>
          <a:lstStyle/>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Internal Audit and Organizational Restructuring</a:t>
            </a:r>
            <a:endParaRPr sz="700"/>
          </a:p>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Risk Management System Improvement</a:t>
            </a:r>
            <a:endParaRPr sz="700"/>
          </a:p>
          <a:p>
            <a:pPr marL="177800" marR="0" lvl="1" indent="-88900" algn="l" rtl="0">
              <a:lnSpc>
                <a:spcPct val="175000"/>
              </a:lnSpc>
              <a:spcBef>
                <a:spcPts val="0"/>
              </a:spcBef>
              <a:spcAft>
                <a:spcPts val="0"/>
              </a:spcAft>
              <a:buClr>
                <a:srgbClr val="000000"/>
              </a:buClr>
              <a:buSzPts val="800"/>
              <a:buFont typeface="Arial" panose="020B0704020202020204"/>
              <a:buChar char="•"/>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Reputation Improvement through Transparent Communication</a:t>
            </a:r>
            <a:endParaRPr sz="700"/>
          </a:p>
        </p:txBody>
      </p:sp>
      <p:cxnSp>
        <p:nvCxnSpPr>
          <p:cNvPr id="788" name="Google Shape;788;p51"/>
          <p:cNvCxnSpPr/>
          <p:nvPr/>
        </p:nvCxnSpPr>
        <p:spPr>
          <a:xfrm rot="10800000">
            <a:off x="3551965" y="3195518"/>
            <a:ext cx="5590845" cy="0"/>
          </a:xfrm>
          <a:prstGeom prst="straightConnector1">
            <a:avLst/>
          </a:prstGeom>
          <a:noFill/>
          <a:ln w="9525" cap="flat" cmpd="sng">
            <a:solidFill>
              <a:srgbClr val="000000"/>
            </a:solidFill>
            <a:prstDash val="solid"/>
            <a:round/>
            <a:headEnd type="none" w="sm" len="sm"/>
            <a:tailEnd type="none" w="sm" len="sm"/>
          </a:ln>
        </p:spPr>
      </p:cxn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792" name="Shape 792"/>
        <p:cNvGrpSpPr/>
        <p:nvPr/>
      </p:nvGrpSpPr>
      <p:grpSpPr>
        <a:xfrm>
          <a:off x="0" y="0"/>
          <a:ext cx="0" cy="0"/>
          <a:chOff x="0" y="0"/>
          <a:chExt cx="0" cy="0"/>
        </a:xfrm>
      </p:grpSpPr>
      <p:sp>
        <p:nvSpPr>
          <p:cNvPr id="793" name="Google Shape;793;p52"/>
          <p:cNvSpPr/>
          <p:nvPr/>
        </p:nvSpPr>
        <p:spPr>
          <a:xfrm>
            <a:off x="0" y="0"/>
            <a:ext cx="914400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cxnSp>
        <p:nvCxnSpPr>
          <p:cNvPr id="794" name="Google Shape;794;p52"/>
          <p:cNvCxnSpPr/>
          <p:nvPr/>
        </p:nvCxnSpPr>
        <p:spPr>
          <a:xfrm rot="10800000">
            <a:off x="0" y="4391152"/>
            <a:ext cx="9144000" cy="0"/>
          </a:xfrm>
          <a:prstGeom prst="straightConnector1">
            <a:avLst/>
          </a:prstGeom>
          <a:noFill/>
          <a:ln w="9525" cap="flat" cmpd="sng">
            <a:solidFill>
              <a:srgbClr val="000000"/>
            </a:solidFill>
            <a:prstDash val="solid"/>
            <a:round/>
            <a:headEnd type="none" w="sm" len="sm"/>
            <a:tailEnd type="none" w="sm" len="sm"/>
          </a:ln>
        </p:spPr>
      </p:cxnSp>
      <p:sp>
        <p:nvSpPr>
          <p:cNvPr id="795" name="Google Shape;795;p52"/>
          <p:cNvSpPr/>
          <p:nvPr/>
        </p:nvSpPr>
        <p:spPr>
          <a:xfrm>
            <a:off x="8287202" y="4637596"/>
            <a:ext cx="447495" cy="256293"/>
          </a:xfrm>
          <a:custGeom>
            <a:avLst/>
            <a:gdLst/>
            <a:ahLst/>
            <a:cxnLst/>
            <a:rect l="l" t="t" r="r" b="b"/>
            <a:pathLst>
              <a:path w="894990" h="512585" extrusionOk="0">
                <a:moveTo>
                  <a:pt x="0" y="0"/>
                </a:moveTo>
                <a:lnTo>
                  <a:pt x="894991" y="0"/>
                </a:lnTo>
                <a:lnTo>
                  <a:pt x="894991" y="512585"/>
                </a:lnTo>
                <a:lnTo>
                  <a:pt x="0" y="512585"/>
                </a:lnTo>
                <a:lnTo>
                  <a:pt x="0" y="0"/>
                </a:lnTo>
                <a:close/>
              </a:path>
            </a:pathLst>
          </a:custGeom>
          <a:blipFill rotWithShape="1">
            <a:blip r:embed="rId2"/>
            <a:stretch>
              <a:fillRect/>
            </a:stretch>
          </a:blipFill>
          <a:ln>
            <a:noFill/>
          </a:ln>
        </p:spPr>
      </p:sp>
      <p:cxnSp>
        <p:nvCxnSpPr>
          <p:cNvPr id="796" name="Google Shape;796;p52"/>
          <p:cNvCxnSpPr/>
          <p:nvPr/>
        </p:nvCxnSpPr>
        <p:spPr>
          <a:xfrm rot="10800000">
            <a:off x="0" y="3008477"/>
            <a:ext cx="3850386" cy="0"/>
          </a:xfrm>
          <a:prstGeom prst="straightConnector1">
            <a:avLst/>
          </a:prstGeom>
          <a:noFill/>
          <a:ln w="9525" cap="flat" cmpd="sng">
            <a:solidFill>
              <a:srgbClr val="000000"/>
            </a:solidFill>
            <a:prstDash val="solid"/>
            <a:round/>
            <a:headEnd type="none" w="sm" len="sm"/>
            <a:tailEnd type="none" w="sm" len="sm"/>
          </a:ln>
        </p:spPr>
      </p:cxnSp>
      <p:cxnSp>
        <p:nvCxnSpPr>
          <p:cNvPr id="797" name="Google Shape;797;p52"/>
          <p:cNvCxnSpPr/>
          <p:nvPr/>
        </p:nvCxnSpPr>
        <p:spPr>
          <a:xfrm rot="10800000">
            <a:off x="0" y="244634"/>
            <a:ext cx="9144000" cy="0"/>
          </a:xfrm>
          <a:prstGeom prst="straightConnector1">
            <a:avLst/>
          </a:prstGeom>
          <a:noFill/>
          <a:ln w="9525" cap="flat" cmpd="sng">
            <a:solidFill>
              <a:srgbClr val="000000"/>
            </a:solidFill>
            <a:prstDash val="solid"/>
            <a:round/>
            <a:headEnd type="none" w="sm" len="sm"/>
            <a:tailEnd type="none" w="sm" len="sm"/>
          </a:ln>
        </p:spPr>
      </p:cxnSp>
      <p:grpSp>
        <p:nvGrpSpPr>
          <p:cNvPr id="798" name="Google Shape;798;p52"/>
          <p:cNvGrpSpPr/>
          <p:nvPr/>
        </p:nvGrpSpPr>
        <p:grpSpPr>
          <a:xfrm>
            <a:off x="4572000" y="1042423"/>
            <a:ext cx="511631" cy="511631"/>
            <a:chOff x="0" y="0"/>
            <a:chExt cx="812800" cy="812800"/>
          </a:xfrm>
        </p:grpSpPr>
        <p:sp>
          <p:nvSpPr>
            <p:cNvPr id="799" name="Google Shape;799;p5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800" name="Google Shape;800;p52"/>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801" name="Google Shape;801;p52"/>
          <p:cNvSpPr/>
          <p:nvPr/>
        </p:nvSpPr>
        <p:spPr>
          <a:xfrm>
            <a:off x="4689684" y="1172193"/>
            <a:ext cx="276263" cy="252090"/>
          </a:xfrm>
          <a:custGeom>
            <a:avLst/>
            <a:gdLst/>
            <a:ahLst/>
            <a:cxnLst/>
            <a:rect l="l" t="t" r="r" b="b"/>
            <a:pathLst>
              <a:path w="552526" h="504180" extrusionOk="0">
                <a:moveTo>
                  <a:pt x="0" y="0"/>
                </a:moveTo>
                <a:lnTo>
                  <a:pt x="552526" y="0"/>
                </a:lnTo>
                <a:lnTo>
                  <a:pt x="552526" y="504180"/>
                </a:lnTo>
                <a:lnTo>
                  <a:pt x="0" y="504180"/>
                </a:lnTo>
                <a:lnTo>
                  <a:pt x="0" y="0"/>
                </a:lnTo>
                <a:close/>
              </a:path>
            </a:pathLst>
          </a:custGeom>
          <a:blipFill rotWithShape="1">
            <a:blip r:embed="rId3"/>
            <a:stretch>
              <a:fillRect/>
            </a:stretch>
          </a:blipFill>
          <a:ln>
            <a:noFill/>
          </a:ln>
        </p:spPr>
      </p:sp>
      <p:grpSp>
        <p:nvGrpSpPr>
          <p:cNvPr id="802" name="Google Shape;802;p52"/>
          <p:cNvGrpSpPr/>
          <p:nvPr/>
        </p:nvGrpSpPr>
        <p:grpSpPr>
          <a:xfrm>
            <a:off x="4572000" y="1805134"/>
            <a:ext cx="511631" cy="511631"/>
            <a:chOff x="0" y="0"/>
            <a:chExt cx="812800" cy="812800"/>
          </a:xfrm>
        </p:grpSpPr>
        <p:sp>
          <p:nvSpPr>
            <p:cNvPr id="803" name="Google Shape;803;p5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804" name="Google Shape;804;p52"/>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805" name="Google Shape;805;p52"/>
          <p:cNvGrpSpPr/>
          <p:nvPr/>
        </p:nvGrpSpPr>
        <p:grpSpPr>
          <a:xfrm>
            <a:off x="4572000" y="2567846"/>
            <a:ext cx="511631" cy="511631"/>
            <a:chOff x="0" y="0"/>
            <a:chExt cx="812800" cy="812800"/>
          </a:xfrm>
        </p:grpSpPr>
        <p:sp>
          <p:nvSpPr>
            <p:cNvPr id="806" name="Google Shape;806;p5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807" name="Google Shape;807;p52"/>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808" name="Google Shape;808;p52"/>
          <p:cNvGrpSpPr/>
          <p:nvPr/>
        </p:nvGrpSpPr>
        <p:grpSpPr>
          <a:xfrm>
            <a:off x="4572000" y="3330558"/>
            <a:ext cx="511631" cy="511631"/>
            <a:chOff x="0" y="0"/>
            <a:chExt cx="812800" cy="812800"/>
          </a:xfrm>
        </p:grpSpPr>
        <p:sp>
          <p:nvSpPr>
            <p:cNvPr id="809" name="Google Shape;809;p5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810" name="Google Shape;810;p52"/>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cxnSp>
        <p:nvCxnSpPr>
          <p:cNvPr id="811" name="Google Shape;811;p52"/>
          <p:cNvCxnSpPr/>
          <p:nvPr/>
        </p:nvCxnSpPr>
        <p:spPr>
          <a:xfrm rot="10800000">
            <a:off x="3848005" y="244633"/>
            <a:ext cx="0" cy="4146518"/>
          </a:xfrm>
          <a:prstGeom prst="straightConnector1">
            <a:avLst/>
          </a:prstGeom>
          <a:noFill/>
          <a:ln w="9525" cap="flat" cmpd="sng">
            <a:solidFill>
              <a:srgbClr val="000000"/>
            </a:solidFill>
            <a:prstDash val="solid"/>
            <a:round/>
            <a:headEnd type="none" w="sm" len="sm"/>
            <a:tailEnd type="none" w="sm" len="sm"/>
          </a:ln>
        </p:spPr>
      </p:cxnSp>
      <p:sp>
        <p:nvSpPr>
          <p:cNvPr id="812" name="Google Shape;812;p52"/>
          <p:cNvSpPr/>
          <p:nvPr/>
        </p:nvSpPr>
        <p:spPr>
          <a:xfrm>
            <a:off x="4714516" y="1927460"/>
            <a:ext cx="226600" cy="266981"/>
          </a:xfrm>
          <a:custGeom>
            <a:avLst/>
            <a:gdLst/>
            <a:ahLst/>
            <a:cxnLst/>
            <a:rect l="l" t="t" r="r" b="b"/>
            <a:pathLst>
              <a:path w="453199" h="533961" extrusionOk="0">
                <a:moveTo>
                  <a:pt x="0" y="0"/>
                </a:moveTo>
                <a:lnTo>
                  <a:pt x="453199" y="0"/>
                </a:lnTo>
                <a:lnTo>
                  <a:pt x="453199" y="533960"/>
                </a:lnTo>
                <a:lnTo>
                  <a:pt x="0" y="533960"/>
                </a:lnTo>
                <a:lnTo>
                  <a:pt x="0" y="0"/>
                </a:lnTo>
                <a:close/>
              </a:path>
            </a:pathLst>
          </a:custGeom>
          <a:blipFill rotWithShape="1">
            <a:blip r:embed="rId4"/>
            <a:stretch>
              <a:fillRect/>
            </a:stretch>
          </a:blipFill>
          <a:ln>
            <a:noFill/>
          </a:ln>
        </p:spPr>
      </p:sp>
      <p:sp>
        <p:nvSpPr>
          <p:cNvPr id="813" name="Google Shape;813;p52"/>
          <p:cNvSpPr/>
          <p:nvPr/>
        </p:nvSpPr>
        <p:spPr>
          <a:xfrm>
            <a:off x="4671558" y="2686674"/>
            <a:ext cx="312514" cy="272669"/>
          </a:xfrm>
          <a:custGeom>
            <a:avLst/>
            <a:gdLst/>
            <a:ahLst/>
            <a:cxnLst/>
            <a:rect l="l" t="t" r="r" b="b"/>
            <a:pathLst>
              <a:path w="625029" h="545338" extrusionOk="0">
                <a:moveTo>
                  <a:pt x="0" y="0"/>
                </a:moveTo>
                <a:lnTo>
                  <a:pt x="625029" y="0"/>
                </a:lnTo>
                <a:lnTo>
                  <a:pt x="625029" y="545338"/>
                </a:lnTo>
                <a:lnTo>
                  <a:pt x="0" y="545338"/>
                </a:lnTo>
                <a:lnTo>
                  <a:pt x="0" y="0"/>
                </a:lnTo>
                <a:close/>
              </a:path>
            </a:pathLst>
          </a:custGeom>
          <a:blipFill rotWithShape="1">
            <a:blip r:embed="rId5"/>
            <a:stretch>
              <a:fillRect/>
            </a:stretch>
          </a:blipFill>
          <a:ln>
            <a:noFill/>
          </a:ln>
        </p:spPr>
      </p:sp>
      <p:sp>
        <p:nvSpPr>
          <p:cNvPr id="814" name="Google Shape;814;p52"/>
          <p:cNvSpPr/>
          <p:nvPr/>
        </p:nvSpPr>
        <p:spPr>
          <a:xfrm>
            <a:off x="4695325" y="3430170"/>
            <a:ext cx="270622" cy="312407"/>
          </a:xfrm>
          <a:custGeom>
            <a:avLst/>
            <a:gdLst/>
            <a:ahLst/>
            <a:cxnLst/>
            <a:rect l="l" t="t" r="r" b="b"/>
            <a:pathLst>
              <a:path w="541244" h="624813" extrusionOk="0">
                <a:moveTo>
                  <a:pt x="0" y="0"/>
                </a:moveTo>
                <a:lnTo>
                  <a:pt x="541244" y="0"/>
                </a:lnTo>
                <a:lnTo>
                  <a:pt x="541244" y="624813"/>
                </a:lnTo>
                <a:lnTo>
                  <a:pt x="0" y="624813"/>
                </a:lnTo>
                <a:lnTo>
                  <a:pt x="0" y="0"/>
                </a:lnTo>
                <a:close/>
              </a:path>
            </a:pathLst>
          </a:custGeom>
          <a:blipFill rotWithShape="1">
            <a:blip r:embed="rId6"/>
            <a:stretch>
              <a:fillRect/>
            </a:stretch>
          </a:blipFill>
          <a:ln>
            <a:noFill/>
          </a:ln>
        </p:spPr>
      </p:sp>
      <p:sp>
        <p:nvSpPr>
          <p:cNvPr id="815" name="Google Shape;815;p52"/>
          <p:cNvSpPr txBox="1"/>
          <p:nvPr/>
        </p:nvSpPr>
        <p:spPr>
          <a:xfrm>
            <a:off x="406922" y="3389916"/>
            <a:ext cx="2784128" cy="69405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To understand how SWOT is used in practice, let us simulate a SWOT analysis for a fictitious company called "EcoGreen Borcelle", a manufacturer of eco-friendly products. Through this example, we will see how SWOT elements are identified and made the basis of a business strategy.</a:t>
            </a:r>
            <a:endParaRPr sz="700"/>
          </a:p>
        </p:txBody>
      </p:sp>
      <p:sp>
        <p:nvSpPr>
          <p:cNvPr id="816" name="Google Shape;816;p52"/>
          <p:cNvSpPr txBox="1"/>
          <p:nvPr/>
        </p:nvSpPr>
        <p:spPr>
          <a:xfrm>
            <a:off x="406922" y="4674779"/>
            <a:ext cx="180383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SWOT Analysis Presentation</a:t>
            </a:r>
            <a:endParaRPr sz="700"/>
          </a:p>
        </p:txBody>
      </p:sp>
      <p:sp>
        <p:nvSpPr>
          <p:cNvPr id="817" name="Google Shape;817;p52"/>
          <p:cNvSpPr txBox="1"/>
          <p:nvPr/>
        </p:nvSpPr>
        <p:spPr>
          <a:xfrm>
            <a:off x="2585382" y="4674779"/>
            <a:ext cx="1358909"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www.reallygreatsite.com</a:t>
            </a:r>
            <a:endParaRPr sz="700"/>
          </a:p>
        </p:txBody>
      </p:sp>
      <p:sp>
        <p:nvSpPr>
          <p:cNvPr id="818" name="Google Shape;818;p52"/>
          <p:cNvSpPr txBox="1"/>
          <p:nvPr/>
        </p:nvSpPr>
        <p:spPr>
          <a:xfrm>
            <a:off x="406922" y="514350"/>
            <a:ext cx="2857915" cy="9620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3200" b="1" i="0" u="none" strike="noStrike" cap="none">
                <a:solidFill>
                  <a:srgbClr val="BB2117"/>
                </a:solidFill>
                <a:latin typeface="Ultra"/>
                <a:ea typeface="Ultra"/>
                <a:cs typeface="Ultra"/>
                <a:sym typeface="Ultra"/>
              </a:rPr>
              <a:t>Swot Analysis Case Study</a:t>
            </a:r>
            <a:endParaRPr sz="700"/>
          </a:p>
        </p:txBody>
      </p:sp>
      <p:sp>
        <p:nvSpPr>
          <p:cNvPr id="819" name="Google Shape;819;p52"/>
          <p:cNvSpPr txBox="1"/>
          <p:nvPr/>
        </p:nvSpPr>
        <p:spPr>
          <a:xfrm>
            <a:off x="406922" y="2292755"/>
            <a:ext cx="2413698" cy="389572"/>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200" b="0" i="0" u="none" strike="noStrike" cap="none">
                <a:solidFill>
                  <a:srgbClr val="000000"/>
                </a:solidFill>
                <a:latin typeface="Arial" panose="020B0704020202020204"/>
                <a:ea typeface="Arial" panose="020B0704020202020204"/>
                <a:cs typeface="Arial" panose="020B0704020202020204"/>
                <a:sym typeface="Arial" panose="020B0704020202020204"/>
              </a:rPr>
              <a:t>Real Example of SWOT Application for a Fictitious Company</a:t>
            </a:r>
            <a:endParaRPr sz="700"/>
          </a:p>
        </p:txBody>
      </p:sp>
      <p:sp>
        <p:nvSpPr>
          <p:cNvPr id="820" name="Google Shape;820;p52"/>
          <p:cNvSpPr txBox="1"/>
          <p:nvPr/>
        </p:nvSpPr>
        <p:spPr>
          <a:xfrm>
            <a:off x="5213865" y="1089939"/>
            <a:ext cx="940794" cy="20764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1200" b="1" i="0" u="none" strike="noStrike" cap="none">
                <a:solidFill>
                  <a:srgbClr val="000000"/>
                </a:solidFill>
                <a:latin typeface="Arimo" panose="020B0604020202020204"/>
                <a:ea typeface="Arimo" panose="020B0604020202020204"/>
                <a:cs typeface="Arimo" panose="020B0604020202020204"/>
                <a:sym typeface="Arimo" panose="020B0604020202020204"/>
              </a:rPr>
              <a:t>Strengths</a:t>
            </a:r>
            <a:endParaRPr sz="700"/>
          </a:p>
        </p:txBody>
      </p:sp>
      <p:sp>
        <p:nvSpPr>
          <p:cNvPr id="821" name="Google Shape;821;p52"/>
          <p:cNvSpPr txBox="1"/>
          <p:nvPr/>
        </p:nvSpPr>
        <p:spPr>
          <a:xfrm>
            <a:off x="5213865" y="1333425"/>
            <a:ext cx="3189523" cy="14160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Innovative products, high environmental awareness, solid team.</a:t>
            </a:r>
            <a:endParaRPr sz="700"/>
          </a:p>
        </p:txBody>
      </p:sp>
      <p:sp>
        <p:nvSpPr>
          <p:cNvPr id="822" name="Google Shape;822;p52"/>
          <p:cNvSpPr txBox="1"/>
          <p:nvPr/>
        </p:nvSpPr>
        <p:spPr>
          <a:xfrm>
            <a:off x="5213865" y="1852651"/>
            <a:ext cx="940794" cy="20764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1200" b="1" i="0" u="none" strike="noStrike" cap="none">
                <a:solidFill>
                  <a:srgbClr val="000000"/>
                </a:solidFill>
                <a:latin typeface="Arimo" panose="020B0604020202020204"/>
                <a:ea typeface="Arimo" panose="020B0604020202020204"/>
                <a:cs typeface="Arimo" panose="020B0604020202020204"/>
                <a:sym typeface="Arimo" panose="020B0604020202020204"/>
              </a:rPr>
              <a:t>Weaknesses</a:t>
            </a:r>
            <a:endParaRPr sz="700"/>
          </a:p>
        </p:txBody>
      </p:sp>
      <p:sp>
        <p:nvSpPr>
          <p:cNvPr id="823" name="Google Shape;823;p52"/>
          <p:cNvSpPr txBox="1"/>
          <p:nvPr/>
        </p:nvSpPr>
        <p:spPr>
          <a:xfrm>
            <a:off x="5213865" y="2096137"/>
            <a:ext cx="3189523" cy="14160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Relatively expensive products, limited production capacity.</a:t>
            </a:r>
            <a:endParaRPr sz="700"/>
          </a:p>
        </p:txBody>
      </p:sp>
      <p:sp>
        <p:nvSpPr>
          <p:cNvPr id="824" name="Google Shape;824;p52"/>
          <p:cNvSpPr txBox="1"/>
          <p:nvPr/>
        </p:nvSpPr>
        <p:spPr>
          <a:xfrm>
            <a:off x="5213865" y="2615363"/>
            <a:ext cx="1168434" cy="20764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1200" b="1" i="0" u="none" strike="noStrike" cap="none">
                <a:solidFill>
                  <a:srgbClr val="000000"/>
                </a:solidFill>
                <a:latin typeface="Arimo" panose="020B0604020202020204"/>
                <a:ea typeface="Arimo" panose="020B0604020202020204"/>
                <a:cs typeface="Arimo" panose="020B0604020202020204"/>
                <a:sym typeface="Arimo" panose="020B0604020202020204"/>
              </a:rPr>
              <a:t>Opportunities</a:t>
            </a:r>
            <a:endParaRPr sz="700"/>
          </a:p>
        </p:txBody>
      </p:sp>
      <p:sp>
        <p:nvSpPr>
          <p:cNvPr id="825" name="Google Shape;825;p52"/>
          <p:cNvSpPr txBox="1"/>
          <p:nvPr/>
        </p:nvSpPr>
        <p:spPr>
          <a:xfrm>
            <a:off x="5213865" y="2858848"/>
            <a:ext cx="3189523" cy="14160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Increasing eco-lifestyle trend, government support for green products.</a:t>
            </a:r>
            <a:endParaRPr sz="700"/>
          </a:p>
        </p:txBody>
      </p:sp>
      <p:sp>
        <p:nvSpPr>
          <p:cNvPr id="826" name="Google Shape;826;p52"/>
          <p:cNvSpPr txBox="1"/>
          <p:nvPr/>
        </p:nvSpPr>
        <p:spPr>
          <a:xfrm>
            <a:off x="5213865" y="3378075"/>
            <a:ext cx="684441" cy="20764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1200" b="1" i="0" u="none" strike="noStrike" cap="none">
                <a:solidFill>
                  <a:srgbClr val="000000"/>
                </a:solidFill>
                <a:latin typeface="Arimo" panose="020B0604020202020204"/>
                <a:ea typeface="Arimo" panose="020B0604020202020204"/>
                <a:cs typeface="Arimo" panose="020B0604020202020204"/>
                <a:sym typeface="Arimo" panose="020B0604020202020204"/>
              </a:rPr>
              <a:t>Threats</a:t>
            </a:r>
            <a:endParaRPr sz="700"/>
          </a:p>
        </p:txBody>
      </p:sp>
      <p:sp>
        <p:nvSpPr>
          <p:cNvPr id="827" name="Google Shape;827;p52"/>
          <p:cNvSpPr txBox="1"/>
          <p:nvPr/>
        </p:nvSpPr>
        <p:spPr>
          <a:xfrm>
            <a:off x="5213865" y="3621560"/>
            <a:ext cx="3189523" cy="14160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Global competition, fluctuations in eco-friendly raw materials.</a:t>
            </a:r>
            <a:endParaRPr sz="70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831" name="Shape 831"/>
        <p:cNvGrpSpPr/>
        <p:nvPr/>
      </p:nvGrpSpPr>
      <p:grpSpPr>
        <a:xfrm>
          <a:off x="0" y="0"/>
          <a:ext cx="0" cy="0"/>
          <a:chOff x="0" y="0"/>
          <a:chExt cx="0" cy="0"/>
        </a:xfrm>
      </p:grpSpPr>
      <p:sp>
        <p:nvSpPr>
          <p:cNvPr id="832" name="Google Shape;832;p53"/>
          <p:cNvSpPr/>
          <p:nvPr/>
        </p:nvSpPr>
        <p:spPr>
          <a:xfrm>
            <a:off x="0" y="0"/>
            <a:ext cx="914400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cxnSp>
        <p:nvCxnSpPr>
          <p:cNvPr id="833" name="Google Shape;833;p53"/>
          <p:cNvCxnSpPr/>
          <p:nvPr/>
        </p:nvCxnSpPr>
        <p:spPr>
          <a:xfrm rot="10800000">
            <a:off x="0" y="4391152"/>
            <a:ext cx="9144000" cy="0"/>
          </a:xfrm>
          <a:prstGeom prst="straightConnector1">
            <a:avLst/>
          </a:prstGeom>
          <a:noFill/>
          <a:ln w="9525" cap="flat" cmpd="sng">
            <a:solidFill>
              <a:srgbClr val="000000"/>
            </a:solidFill>
            <a:prstDash val="solid"/>
            <a:round/>
            <a:headEnd type="none" w="sm" len="sm"/>
            <a:tailEnd type="none" w="sm" len="sm"/>
          </a:ln>
        </p:spPr>
      </p:cxnSp>
      <p:sp>
        <p:nvSpPr>
          <p:cNvPr id="834" name="Google Shape;834;p53"/>
          <p:cNvSpPr/>
          <p:nvPr/>
        </p:nvSpPr>
        <p:spPr>
          <a:xfrm>
            <a:off x="8287202" y="4637596"/>
            <a:ext cx="447495" cy="256293"/>
          </a:xfrm>
          <a:custGeom>
            <a:avLst/>
            <a:gdLst/>
            <a:ahLst/>
            <a:cxnLst/>
            <a:rect l="l" t="t" r="r" b="b"/>
            <a:pathLst>
              <a:path w="894990" h="512585" extrusionOk="0">
                <a:moveTo>
                  <a:pt x="0" y="0"/>
                </a:moveTo>
                <a:lnTo>
                  <a:pt x="894991" y="0"/>
                </a:lnTo>
                <a:lnTo>
                  <a:pt x="894991" y="512585"/>
                </a:lnTo>
                <a:lnTo>
                  <a:pt x="0" y="512585"/>
                </a:lnTo>
                <a:lnTo>
                  <a:pt x="0" y="0"/>
                </a:lnTo>
                <a:close/>
              </a:path>
            </a:pathLst>
          </a:custGeom>
          <a:blipFill rotWithShape="1">
            <a:blip r:embed="rId2"/>
            <a:stretch>
              <a:fillRect/>
            </a:stretch>
          </a:blipFill>
          <a:ln>
            <a:noFill/>
          </a:ln>
        </p:spPr>
      </p:sp>
      <p:cxnSp>
        <p:nvCxnSpPr>
          <p:cNvPr id="835" name="Google Shape;835;p53"/>
          <p:cNvCxnSpPr/>
          <p:nvPr/>
        </p:nvCxnSpPr>
        <p:spPr>
          <a:xfrm rot="10800000">
            <a:off x="0" y="244634"/>
            <a:ext cx="9144000" cy="0"/>
          </a:xfrm>
          <a:prstGeom prst="straightConnector1">
            <a:avLst/>
          </a:prstGeom>
          <a:noFill/>
          <a:ln w="9525" cap="flat" cmpd="sng">
            <a:solidFill>
              <a:srgbClr val="000000"/>
            </a:solidFill>
            <a:prstDash val="solid"/>
            <a:round/>
            <a:headEnd type="none" w="sm" len="sm"/>
            <a:tailEnd type="none" w="sm" len="sm"/>
          </a:ln>
        </p:spPr>
      </p:cxnSp>
      <p:cxnSp>
        <p:nvCxnSpPr>
          <p:cNvPr id="836" name="Google Shape;836;p53"/>
          <p:cNvCxnSpPr/>
          <p:nvPr/>
        </p:nvCxnSpPr>
        <p:spPr>
          <a:xfrm rot="10800000">
            <a:off x="0" y="2172328"/>
            <a:ext cx="9144000" cy="0"/>
          </a:xfrm>
          <a:prstGeom prst="straightConnector1">
            <a:avLst/>
          </a:prstGeom>
          <a:noFill/>
          <a:ln w="9525" cap="flat" cmpd="sng">
            <a:solidFill>
              <a:srgbClr val="000000"/>
            </a:solidFill>
            <a:prstDash val="solid"/>
            <a:round/>
            <a:headEnd type="none" w="sm" len="sm"/>
            <a:tailEnd type="none" w="sm" len="sm"/>
          </a:ln>
        </p:spPr>
      </p:cxnSp>
      <p:grpSp>
        <p:nvGrpSpPr>
          <p:cNvPr id="837" name="Google Shape;837;p53"/>
          <p:cNvGrpSpPr/>
          <p:nvPr/>
        </p:nvGrpSpPr>
        <p:grpSpPr>
          <a:xfrm>
            <a:off x="406922" y="2164900"/>
            <a:ext cx="2257382" cy="2089555"/>
            <a:chOff x="0" y="-47625"/>
            <a:chExt cx="745936" cy="690479"/>
          </a:xfrm>
        </p:grpSpPr>
        <p:sp>
          <p:nvSpPr>
            <p:cNvPr id="838" name="Google Shape;838;p53"/>
            <p:cNvSpPr/>
            <p:nvPr/>
          </p:nvSpPr>
          <p:spPr>
            <a:xfrm>
              <a:off x="0" y="0"/>
              <a:ext cx="745936" cy="642854"/>
            </a:xfrm>
            <a:custGeom>
              <a:avLst/>
              <a:gdLst/>
              <a:ahLst/>
              <a:cxnLst/>
              <a:rect l="l" t="t" r="r" b="b"/>
              <a:pathLst>
                <a:path w="745936" h="642854" extrusionOk="0">
                  <a:moveTo>
                    <a:pt x="0" y="0"/>
                  </a:moveTo>
                  <a:lnTo>
                    <a:pt x="745936" y="0"/>
                  </a:lnTo>
                  <a:lnTo>
                    <a:pt x="745936" y="642854"/>
                  </a:lnTo>
                  <a:lnTo>
                    <a:pt x="0" y="642854"/>
                  </a:lnTo>
                  <a:close/>
                </a:path>
              </a:pathLst>
            </a:custGeom>
            <a:solidFill>
              <a:srgbClr val="BB2117"/>
            </a:solidFill>
            <a:ln>
              <a:noFill/>
            </a:ln>
          </p:spPr>
        </p:sp>
        <p:sp>
          <p:nvSpPr>
            <p:cNvPr id="839" name="Google Shape;839;p53"/>
            <p:cNvSpPr txBox="1"/>
            <p:nvPr/>
          </p:nvSpPr>
          <p:spPr>
            <a:xfrm>
              <a:off x="0" y="-47625"/>
              <a:ext cx="745936" cy="690479"/>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840" name="Google Shape;840;p53"/>
          <p:cNvSpPr/>
          <p:nvPr/>
        </p:nvSpPr>
        <p:spPr>
          <a:xfrm>
            <a:off x="931851" y="2454669"/>
            <a:ext cx="753979" cy="753979"/>
          </a:xfrm>
          <a:custGeom>
            <a:avLst/>
            <a:gdLst/>
            <a:ahLst/>
            <a:cxnLst/>
            <a:rect l="l" t="t" r="r" b="b"/>
            <a:pathLst>
              <a:path w="1507958" h="1507958" extrusionOk="0">
                <a:moveTo>
                  <a:pt x="0" y="0"/>
                </a:moveTo>
                <a:lnTo>
                  <a:pt x="1507958" y="0"/>
                </a:lnTo>
                <a:lnTo>
                  <a:pt x="1507958" y="1507958"/>
                </a:lnTo>
                <a:lnTo>
                  <a:pt x="0" y="1507958"/>
                </a:lnTo>
                <a:lnTo>
                  <a:pt x="0" y="0"/>
                </a:lnTo>
                <a:close/>
              </a:path>
            </a:pathLst>
          </a:custGeom>
          <a:blipFill rotWithShape="1">
            <a:blip r:embed="rId3"/>
            <a:stretch>
              <a:fillRect/>
            </a:stretch>
          </a:blipFill>
          <a:ln>
            <a:noFill/>
          </a:ln>
        </p:spPr>
      </p:sp>
      <p:grpSp>
        <p:nvGrpSpPr>
          <p:cNvPr id="841" name="Google Shape;841;p53"/>
          <p:cNvGrpSpPr/>
          <p:nvPr/>
        </p:nvGrpSpPr>
        <p:grpSpPr>
          <a:xfrm>
            <a:off x="3443310" y="2164900"/>
            <a:ext cx="2257382" cy="2089555"/>
            <a:chOff x="0" y="-47625"/>
            <a:chExt cx="745936" cy="690479"/>
          </a:xfrm>
        </p:grpSpPr>
        <p:sp>
          <p:nvSpPr>
            <p:cNvPr id="842" name="Google Shape;842;p53"/>
            <p:cNvSpPr/>
            <p:nvPr/>
          </p:nvSpPr>
          <p:spPr>
            <a:xfrm>
              <a:off x="0" y="0"/>
              <a:ext cx="745936" cy="642854"/>
            </a:xfrm>
            <a:custGeom>
              <a:avLst/>
              <a:gdLst/>
              <a:ahLst/>
              <a:cxnLst/>
              <a:rect l="l" t="t" r="r" b="b"/>
              <a:pathLst>
                <a:path w="745936" h="642854" extrusionOk="0">
                  <a:moveTo>
                    <a:pt x="0" y="0"/>
                  </a:moveTo>
                  <a:lnTo>
                    <a:pt x="745936" y="0"/>
                  </a:lnTo>
                  <a:lnTo>
                    <a:pt x="745936" y="642854"/>
                  </a:lnTo>
                  <a:lnTo>
                    <a:pt x="0" y="642854"/>
                  </a:lnTo>
                  <a:close/>
                </a:path>
              </a:pathLst>
            </a:custGeom>
            <a:solidFill>
              <a:srgbClr val="000000"/>
            </a:solidFill>
            <a:ln>
              <a:noFill/>
            </a:ln>
          </p:spPr>
        </p:sp>
        <p:sp>
          <p:nvSpPr>
            <p:cNvPr id="843" name="Google Shape;843;p53"/>
            <p:cNvSpPr txBox="1"/>
            <p:nvPr/>
          </p:nvSpPr>
          <p:spPr>
            <a:xfrm>
              <a:off x="0" y="-47625"/>
              <a:ext cx="745936" cy="690479"/>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844" name="Google Shape;844;p53"/>
          <p:cNvGrpSpPr/>
          <p:nvPr/>
        </p:nvGrpSpPr>
        <p:grpSpPr>
          <a:xfrm>
            <a:off x="6479697" y="2164900"/>
            <a:ext cx="2257382" cy="2089555"/>
            <a:chOff x="0" y="-47625"/>
            <a:chExt cx="745936" cy="690479"/>
          </a:xfrm>
        </p:grpSpPr>
        <p:sp>
          <p:nvSpPr>
            <p:cNvPr id="845" name="Google Shape;845;p53"/>
            <p:cNvSpPr/>
            <p:nvPr/>
          </p:nvSpPr>
          <p:spPr>
            <a:xfrm>
              <a:off x="0" y="0"/>
              <a:ext cx="745936" cy="642854"/>
            </a:xfrm>
            <a:custGeom>
              <a:avLst/>
              <a:gdLst/>
              <a:ahLst/>
              <a:cxnLst/>
              <a:rect l="l" t="t" r="r" b="b"/>
              <a:pathLst>
                <a:path w="745936" h="642854" extrusionOk="0">
                  <a:moveTo>
                    <a:pt x="0" y="0"/>
                  </a:moveTo>
                  <a:lnTo>
                    <a:pt x="745936" y="0"/>
                  </a:lnTo>
                  <a:lnTo>
                    <a:pt x="745936" y="642854"/>
                  </a:lnTo>
                  <a:lnTo>
                    <a:pt x="0" y="642854"/>
                  </a:lnTo>
                  <a:close/>
                </a:path>
              </a:pathLst>
            </a:custGeom>
            <a:solidFill>
              <a:srgbClr val="6F6F6F"/>
            </a:solidFill>
            <a:ln>
              <a:noFill/>
            </a:ln>
          </p:spPr>
        </p:sp>
        <p:sp>
          <p:nvSpPr>
            <p:cNvPr id="846" name="Google Shape;846;p53"/>
            <p:cNvSpPr txBox="1"/>
            <p:nvPr/>
          </p:nvSpPr>
          <p:spPr>
            <a:xfrm>
              <a:off x="0" y="-47625"/>
              <a:ext cx="745936" cy="690479"/>
            </a:xfrm>
            <a:prstGeom prst="rect">
              <a:avLst/>
            </a:prstGeom>
            <a:noFill/>
            <a:ln>
              <a:noFill/>
            </a:ln>
          </p:spPr>
          <p:txBody>
            <a:bodyPr spcFirstLastPara="1" wrap="square" lIns="25400" tIns="25400" rIns="25400" bIns="25400" anchor="ctr" anchorCtr="0">
              <a:noAutofit/>
            </a:bodyPr>
            <a:lstStyle/>
            <a:p>
              <a:pPr marL="0" marR="0" lvl="0" indent="0" algn="ctr" rtl="0">
                <a:lnSpc>
                  <a:spcPct val="165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847" name="Google Shape;847;p53"/>
          <p:cNvSpPr/>
          <p:nvPr/>
        </p:nvSpPr>
        <p:spPr>
          <a:xfrm>
            <a:off x="3999968" y="2454669"/>
            <a:ext cx="754690" cy="754690"/>
          </a:xfrm>
          <a:custGeom>
            <a:avLst/>
            <a:gdLst/>
            <a:ahLst/>
            <a:cxnLst/>
            <a:rect l="l" t="t" r="r" b="b"/>
            <a:pathLst>
              <a:path w="1509380" h="1509380" extrusionOk="0">
                <a:moveTo>
                  <a:pt x="0" y="0"/>
                </a:moveTo>
                <a:lnTo>
                  <a:pt x="1509380" y="0"/>
                </a:lnTo>
                <a:lnTo>
                  <a:pt x="1509380" y="1509380"/>
                </a:lnTo>
                <a:lnTo>
                  <a:pt x="0" y="1509380"/>
                </a:lnTo>
                <a:lnTo>
                  <a:pt x="0" y="0"/>
                </a:lnTo>
                <a:close/>
              </a:path>
            </a:pathLst>
          </a:custGeom>
          <a:blipFill rotWithShape="1">
            <a:blip r:embed="rId4"/>
            <a:stretch>
              <a:fillRect/>
            </a:stretch>
          </a:blipFill>
          <a:ln>
            <a:noFill/>
          </a:ln>
        </p:spPr>
      </p:sp>
      <p:sp>
        <p:nvSpPr>
          <p:cNvPr id="848" name="Google Shape;848;p53"/>
          <p:cNvSpPr/>
          <p:nvPr/>
        </p:nvSpPr>
        <p:spPr>
          <a:xfrm>
            <a:off x="7004627" y="2454669"/>
            <a:ext cx="942135" cy="755074"/>
          </a:xfrm>
          <a:custGeom>
            <a:avLst/>
            <a:gdLst/>
            <a:ahLst/>
            <a:cxnLst/>
            <a:rect l="l" t="t" r="r" b="b"/>
            <a:pathLst>
              <a:path w="1884271" h="1510147" extrusionOk="0">
                <a:moveTo>
                  <a:pt x="0" y="0"/>
                </a:moveTo>
                <a:lnTo>
                  <a:pt x="1884271" y="0"/>
                </a:lnTo>
                <a:lnTo>
                  <a:pt x="1884271" y="1510147"/>
                </a:lnTo>
                <a:lnTo>
                  <a:pt x="0" y="1510147"/>
                </a:lnTo>
                <a:lnTo>
                  <a:pt x="0" y="0"/>
                </a:lnTo>
                <a:close/>
              </a:path>
            </a:pathLst>
          </a:custGeom>
          <a:blipFill rotWithShape="1">
            <a:blip r:embed="rId5"/>
            <a:stretch>
              <a:fillRect/>
            </a:stretch>
          </a:blipFill>
          <a:ln>
            <a:noFill/>
          </a:ln>
        </p:spPr>
      </p:sp>
      <p:sp>
        <p:nvSpPr>
          <p:cNvPr id="849" name="Google Shape;849;p53"/>
          <p:cNvSpPr/>
          <p:nvPr/>
        </p:nvSpPr>
        <p:spPr>
          <a:xfrm>
            <a:off x="2943219" y="3153893"/>
            <a:ext cx="221175" cy="255694"/>
          </a:xfrm>
          <a:custGeom>
            <a:avLst/>
            <a:gdLst/>
            <a:ahLst/>
            <a:cxnLst/>
            <a:rect l="l" t="t" r="r" b="b"/>
            <a:pathLst>
              <a:path w="442350" h="511388" extrusionOk="0">
                <a:moveTo>
                  <a:pt x="0" y="0"/>
                </a:moveTo>
                <a:lnTo>
                  <a:pt x="442350" y="0"/>
                </a:lnTo>
                <a:lnTo>
                  <a:pt x="442350" y="511388"/>
                </a:lnTo>
                <a:lnTo>
                  <a:pt x="0" y="511388"/>
                </a:lnTo>
                <a:lnTo>
                  <a:pt x="0" y="0"/>
                </a:lnTo>
                <a:close/>
              </a:path>
            </a:pathLst>
          </a:custGeom>
          <a:blipFill rotWithShape="1">
            <a:blip r:embed="rId6"/>
            <a:stretch>
              <a:fillRect/>
            </a:stretch>
          </a:blipFill>
          <a:ln>
            <a:noFill/>
          </a:ln>
        </p:spPr>
      </p:sp>
      <p:sp>
        <p:nvSpPr>
          <p:cNvPr id="850" name="Google Shape;850;p53"/>
          <p:cNvSpPr txBox="1"/>
          <p:nvPr/>
        </p:nvSpPr>
        <p:spPr>
          <a:xfrm>
            <a:off x="6479697" y="611141"/>
            <a:ext cx="2255000" cy="8321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While SWOT is a simple tool, many organizations fail to make optimal use of it. Challenges such as assessment subjectivity, analysis imbalance, or lack of follow-up can reduce its effectiveness. Therefore, it is important to understand the potential pitfalls in the SWOT process.</a:t>
            </a:r>
            <a:endParaRPr sz="700"/>
          </a:p>
        </p:txBody>
      </p:sp>
      <p:sp>
        <p:nvSpPr>
          <p:cNvPr id="851" name="Google Shape;851;p53"/>
          <p:cNvSpPr txBox="1"/>
          <p:nvPr/>
        </p:nvSpPr>
        <p:spPr>
          <a:xfrm>
            <a:off x="406922" y="4674779"/>
            <a:ext cx="180383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SWOT Analysis Presentation</a:t>
            </a:r>
            <a:endParaRPr sz="700"/>
          </a:p>
        </p:txBody>
      </p:sp>
      <p:sp>
        <p:nvSpPr>
          <p:cNvPr id="852" name="Google Shape;852;p53"/>
          <p:cNvSpPr txBox="1"/>
          <p:nvPr/>
        </p:nvSpPr>
        <p:spPr>
          <a:xfrm>
            <a:off x="2585382" y="4674779"/>
            <a:ext cx="1358909"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www.reallygreatsite.com</a:t>
            </a:r>
            <a:endParaRPr sz="700"/>
          </a:p>
        </p:txBody>
      </p:sp>
      <p:sp>
        <p:nvSpPr>
          <p:cNvPr id="853" name="Google Shape;853;p53"/>
          <p:cNvSpPr txBox="1"/>
          <p:nvPr/>
        </p:nvSpPr>
        <p:spPr>
          <a:xfrm>
            <a:off x="406922" y="514350"/>
            <a:ext cx="2857915" cy="144303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3200" b="1" i="0" u="none" strike="noStrike" cap="none">
                <a:solidFill>
                  <a:srgbClr val="BB2117"/>
                </a:solidFill>
                <a:latin typeface="Ultra"/>
                <a:ea typeface="Ultra"/>
                <a:cs typeface="Ultra"/>
                <a:sym typeface="Ultra"/>
              </a:rPr>
              <a:t>Swot Challenges And Failures</a:t>
            </a:r>
            <a:endParaRPr sz="700"/>
          </a:p>
        </p:txBody>
      </p:sp>
      <p:sp>
        <p:nvSpPr>
          <p:cNvPr id="854" name="Google Shape;854;p53"/>
          <p:cNvSpPr txBox="1"/>
          <p:nvPr/>
        </p:nvSpPr>
        <p:spPr>
          <a:xfrm>
            <a:off x="3789155" y="620666"/>
            <a:ext cx="1911535" cy="584835"/>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200" b="0" i="0" u="none" strike="noStrike" cap="none">
                <a:solidFill>
                  <a:srgbClr val="000000"/>
                </a:solidFill>
                <a:latin typeface="Arial" panose="020B0704020202020204"/>
                <a:ea typeface="Arial" panose="020B0704020202020204"/>
                <a:cs typeface="Arial" panose="020B0704020202020204"/>
                <a:sym typeface="Arial" panose="020B0704020202020204"/>
              </a:rPr>
              <a:t>Avoiding Common Mistakes in Implementing SWOT Analysis</a:t>
            </a:r>
            <a:endParaRPr sz="700"/>
          </a:p>
        </p:txBody>
      </p:sp>
      <p:sp>
        <p:nvSpPr>
          <p:cNvPr id="855" name="Google Shape;855;p53"/>
          <p:cNvSpPr txBox="1"/>
          <p:nvPr/>
        </p:nvSpPr>
        <p:spPr>
          <a:xfrm>
            <a:off x="598477" y="3526891"/>
            <a:ext cx="1390672"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FFFFFF"/>
                </a:solidFill>
                <a:latin typeface="Arimo" panose="020B0604020202020204"/>
                <a:ea typeface="Arimo" panose="020B0604020202020204"/>
                <a:cs typeface="Arimo" panose="020B0604020202020204"/>
                <a:sym typeface="Arimo" panose="020B0604020202020204"/>
              </a:rPr>
              <a:t>Lack of Accurate Data</a:t>
            </a:r>
            <a:endParaRPr sz="700"/>
          </a:p>
        </p:txBody>
      </p:sp>
      <p:sp>
        <p:nvSpPr>
          <p:cNvPr id="856" name="Google Shape;856;p53"/>
          <p:cNvSpPr txBox="1"/>
          <p:nvPr/>
        </p:nvSpPr>
        <p:spPr>
          <a:xfrm>
            <a:off x="598477" y="3762235"/>
            <a:ext cx="1916427"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Innovative products, high environmental awareness, solid team.</a:t>
            </a:r>
            <a:endParaRPr sz="700"/>
          </a:p>
        </p:txBody>
      </p:sp>
      <p:sp>
        <p:nvSpPr>
          <p:cNvPr id="857" name="Google Shape;857;p53"/>
          <p:cNvSpPr txBox="1"/>
          <p:nvPr/>
        </p:nvSpPr>
        <p:spPr>
          <a:xfrm>
            <a:off x="598476" y="2430145"/>
            <a:ext cx="365104"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01.</a:t>
            </a:r>
            <a:endParaRPr sz="700"/>
          </a:p>
        </p:txBody>
      </p:sp>
      <p:sp>
        <p:nvSpPr>
          <p:cNvPr id="858" name="Google Shape;858;p53"/>
          <p:cNvSpPr txBox="1"/>
          <p:nvPr/>
        </p:nvSpPr>
        <p:spPr>
          <a:xfrm>
            <a:off x="3634864" y="3526891"/>
            <a:ext cx="1390672"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FFFFFF"/>
                </a:solidFill>
                <a:latin typeface="Arimo" panose="020B0604020202020204"/>
                <a:ea typeface="Arimo" panose="020B0604020202020204"/>
                <a:cs typeface="Arimo" panose="020B0604020202020204"/>
                <a:sym typeface="Arimo" panose="020B0604020202020204"/>
              </a:rPr>
              <a:t>No Strategic Follow-up</a:t>
            </a:r>
            <a:endParaRPr sz="700"/>
          </a:p>
        </p:txBody>
      </p:sp>
      <p:sp>
        <p:nvSpPr>
          <p:cNvPr id="859" name="Google Shape;859;p53"/>
          <p:cNvSpPr txBox="1"/>
          <p:nvPr/>
        </p:nvSpPr>
        <p:spPr>
          <a:xfrm>
            <a:off x="3634865" y="3762235"/>
            <a:ext cx="1916427"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A SWOT that is not translated into an action plan is useless.</a:t>
            </a:r>
            <a:endParaRPr sz="700"/>
          </a:p>
        </p:txBody>
      </p:sp>
      <p:sp>
        <p:nvSpPr>
          <p:cNvPr id="860" name="Google Shape;860;p53"/>
          <p:cNvSpPr txBox="1"/>
          <p:nvPr/>
        </p:nvSpPr>
        <p:spPr>
          <a:xfrm>
            <a:off x="3634864" y="2430145"/>
            <a:ext cx="365104"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02.</a:t>
            </a:r>
            <a:endParaRPr sz="700"/>
          </a:p>
        </p:txBody>
      </p:sp>
      <p:sp>
        <p:nvSpPr>
          <p:cNvPr id="861" name="Google Shape;861;p53"/>
          <p:cNvSpPr txBox="1"/>
          <p:nvPr/>
        </p:nvSpPr>
        <p:spPr>
          <a:xfrm>
            <a:off x="6671252" y="3526891"/>
            <a:ext cx="1839697"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FFFFFF"/>
                </a:solidFill>
                <a:latin typeface="Arimo" panose="020B0604020202020204"/>
                <a:ea typeface="Arimo" panose="020B0604020202020204"/>
                <a:cs typeface="Arimo" panose="020B0604020202020204"/>
                <a:sym typeface="Arimo" panose="020B0604020202020204"/>
              </a:rPr>
              <a:t>Too Broad or Too Narrow Focus</a:t>
            </a:r>
            <a:endParaRPr sz="700"/>
          </a:p>
        </p:txBody>
      </p:sp>
      <p:sp>
        <p:nvSpPr>
          <p:cNvPr id="862" name="Google Shape;862;p53"/>
          <p:cNvSpPr txBox="1"/>
          <p:nvPr/>
        </p:nvSpPr>
        <p:spPr>
          <a:xfrm>
            <a:off x="6671252" y="3762235"/>
            <a:ext cx="1916427"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There should be a balance in the scope of the analysis.</a:t>
            </a:r>
            <a:endParaRPr sz="700"/>
          </a:p>
        </p:txBody>
      </p:sp>
      <p:sp>
        <p:nvSpPr>
          <p:cNvPr id="863" name="Google Shape;863;p53"/>
          <p:cNvSpPr txBox="1"/>
          <p:nvPr/>
        </p:nvSpPr>
        <p:spPr>
          <a:xfrm>
            <a:off x="6671252" y="2430145"/>
            <a:ext cx="365104"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FFFFFF"/>
                </a:solidFill>
                <a:latin typeface="Arimo" panose="020B0604020202020204"/>
                <a:ea typeface="Arimo" panose="020B0604020202020204"/>
                <a:cs typeface="Arimo" panose="020B0604020202020204"/>
                <a:sym typeface="Arimo" panose="020B0604020202020204"/>
              </a:rPr>
              <a:t>03.</a:t>
            </a:r>
            <a:endParaRPr sz="700"/>
          </a:p>
        </p:txBody>
      </p:sp>
      <p:sp>
        <p:nvSpPr>
          <p:cNvPr id="864" name="Google Shape;864;p53"/>
          <p:cNvSpPr/>
          <p:nvPr/>
        </p:nvSpPr>
        <p:spPr>
          <a:xfrm>
            <a:off x="5981678" y="3153893"/>
            <a:ext cx="221175" cy="255694"/>
          </a:xfrm>
          <a:custGeom>
            <a:avLst/>
            <a:gdLst/>
            <a:ahLst/>
            <a:cxnLst/>
            <a:rect l="l" t="t" r="r" b="b"/>
            <a:pathLst>
              <a:path w="442350" h="511388" extrusionOk="0">
                <a:moveTo>
                  <a:pt x="0" y="0"/>
                </a:moveTo>
                <a:lnTo>
                  <a:pt x="442351" y="0"/>
                </a:lnTo>
                <a:lnTo>
                  <a:pt x="442351" y="511388"/>
                </a:lnTo>
                <a:lnTo>
                  <a:pt x="0" y="511388"/>
                </a:lnTo>
                <a:lnTo>
                  <a:pt x="0" y="0"/>
                </a:lnTo>
                <a:close/>
              </a:path>
            </a:pathLst>
          </a:custGeom>
          <a:blipFill rotWithShape="1">
            <a:blip r:embed="rId6"/>
            <a:stretch>
              <a:fillRect/>
            </a:stretch>
          </a:blipFill>
          <a:ln>
            <a:noFill/>
          </a:ln>
        </p:spPr>
      </p:sp>
      <p:cxnSp>
        <p:nvCxnSpPr>
          <p:cNvPr id="865" name="Google Shape;865;p53"/>
          <p:cNvCxnSpPr/>
          <p:nvPr/>
        </p:nvCxnSpPr>
        <p:spPr>
          <a:xfrm rot="10800000">
            <a:off x="3445691" y="244633"/>
            <a:ext cx="0" cy="1927695"/>
          </a:xfrm>
          <a:prstGeom prst="straightConnector1">
            <a:avLst/>
          </a:prstGeom>
          <a:noFill/>
          <a:ln w="9525" cap="flat" cmpd="sng">
            <a:solidFill>
              <a:srgbClr val="000000"/>
            </a:solidFill>
            <a:prstDash val="solid"/>
            <a:round/>
            <a:headEnd type="none" w="sm" len="sm"/>
            <a:tailEnd type="none" w="sm" len="sm"/>
          </a:ln>
        </p:spPr>
      </p:cxn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6F6F6"/>
        </a:solidFill>
        <a:effectLst/>
      </p:bgPr>
    </p:bg>
    <p:spTree>
      <p:nvGrpSpPr>
        <p:cNvPr id="869" name="Shape 869"/>
        <p:cNvGrpSpPr/>
        <p:nvPr/>
      </p:nvGrpSpPr>
      <p:grpSpPr>
        <a:xfrm>
          <a:off x="0" y="0"/>
          <a:ext cx="0" cy="0"/>
          <a:chOff x="0" y="0"/>
          <a:chExt cx="0" cy="0"/>
        </a:xfrm>
      </p:grpSpPr>
      <p:cxnSp>
        <p:nvCxnSpPr>
          <p:cNvPr id="870" name="Google Shape;870;p54"/>
          <p:cNvCxnSpPr/>
          <p:nvPr/>
        </p:nvCxnSpPr>
        <p:spPr>
          <a:xfrm rot="10800000">
            <a:off x="0" y="4391152"/>
            <a:ext cx="9144000" cy="0"/>
          </a:xfrm>
          <a:prstGeom prst="straightConnector1">
            <a:avLst/>
          </a:prstGeom>
          <a:noFill/>
          <a:ln w="9525" cap="flat" cmpd="sng">
            <a:solidFill>
              <a:srgbClr val="000000"/>
            </a:solidFill>
            <a:prstDash val="solid"/>
            <a:round/>
            <a:headEnd type="none" w="sm" len="sm"/>
            <a:tailEnd type="none" w="sm" len="sm"/>
          </a:ln>
        </p:spPr>
      </p:cxnSp>
      <p:cxnSp>
        <p:nvCxnSpPr>
          <p:cNvPr id="871" name="Google Shape;871;p54"/>
          <p:cNvCxnSpPr/>
          <p:nvPr/>
        </p:nvCxnSpPr>
        <p:spPr>
          <a:xfrm rot="10800000">
            <a:off x="0" y="244634"/>
            <a:ext cx="9144000" cy="0"/>
          </a:xfrm>
          <a:prstGeom prst="straightConnector1">
            <a:avLst/>
          </a:prstGeom>
          <a:noFill/>
          <a:ln w="9525" cap="flat" cmpd="sng">
            <a:solidFill>
              <a:srgbClr val="000000"/>
            </a:solidFill>
            <a:prstDash val="solid"/>
            <a:round/>
            <a:headEnd type="none" w="sm" len="sm"/>
            <a:tailEnd type="none" w="sm" len="sm"/>
          </a:ln>
        </p:spPr>
      </p:cxnSp>
      <p:sp>
        <p:nvSpPr>
          <p:cNvPr id="872" name="Google Shape;872;p54"/>
          <p:cNvSpPr txBox="1"/>
          <p:nvPr/>
        </p:nvSpPr>
        <p:spPr>
          <a:xfrm>
            <a:off x="406921" y="3528028"/>
            <a:ext cx="3947374" cy="555943"/>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In closing, it is important to summarize the results of the SWOT analysis into strategies that can be implemented. Strategies should be flexible, long-term oriented, and able to respond to changing market dynamics. SWOT is not just about identification, but also the transformation of information into decisions.</a:t>
            </a:r>
            <a:endParaRPr sz="700"/>
          </a:p>
        </p:txBody>
      </p:sp>
      <p:sp>
        <p:nvSpPr>
          <p:cNvPr id="873" name="Google Shape;873;p54"/>
          <p:cNvSpPr txBox="1"/>
          <p:nvPr/>
        </p:nvSpPr>
        <p:spPr>
          <a:xfrm>
            <a:off x="406922" y="4674779"/>
            <a:ext cx="1803838"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SWOT Analysis Presentation</a:t>
            </a:r>
            <a:endParaRPr sz="700"/>
          </a:p>
        </p:txBody>
      </p:sp>
      <p:sp>
        <p:nvSpPr>
          <p:cNvPr id="874" name="Google Shape;874;p54"/>
          <p:cNvSpPr txBox="1"/>
          <p:nvPr/>
        </p:nvSpPr>
        <p:spPr>
          <a:xfrm>
            <a:off x="2585382" y="4674779"/>
            <a:ext cx="1358909" cy="14160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www.reallygreatsite.com</a:t>
            </a:r>
            <a:endParaRPr sz="700"/>
          </a:p>
        </p:txBody>
      </p:sp>
      <p:sp>
        <p:nvSpPr>
          <p:cNvPr id="875" name="Google Shape;875;p54"/>
          <p:cNvSpPr txBox="1"/>
          <p:nvPr/>
        </p:nvSpPr>
        <p:spPr>
          <a:xfrm>
            <a:off x="406922" y="514350"/>
            <a:ext cx="4165079" cy="9620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3200" b="1" i="0" u="none" strike="noStrike" cap="none">
                <a:solidFill>
                  <a:srgbClr val="BB2117"/>
                </a:solidFill>
                <a:latin typeface="Ultra"/>
                <a:ea typeface="Ultra"/>
                <a:cs typeface="Ultra"/>
                <a:sym typeface="Ultra"/>
              </a:rPr>
              <a:t>Closing &amp; Strategic Recommendations</a:t>
            </a:r>
            <a:endParaRPr sz="700"/>
          </a:p>
        </p:txBody>
      </p:sp>
      <p:sp>
        <p:nvSpPr>
          <p:cNvPr id="876" name="Google Shape;876;p54"/>
          <p:cNvSpPr txBox="1"/>
          <p:nvPr/>
        </p:nvSpPr>
        <p:spPr>
          <a:xfrm>
            <a:off x="406922" y="2857468"/>
            <a:ext cx="1946507" cy="389572"/>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200" b="0" i="0" u="none" strike="noStrike" cap="none">
                <a:solidFill>
                  <a:srgbClr val="000000"/>
                </a:solidFill>
                <a:latin typeface="Arial" panose="020B0704020202020204"/>
                <a:ea typeface="Arial" panose="020B0704020202020204"/>
                <a:cs typeface="Arial" panose="020B0704020202020204"/>
                <a:sym typeface="Arial" panose="020B0704020202020204"/>
              </a:rPr>
              <a:t>Formulating Real Steps Based on SWOT Findings</a:t>
            </a:r>
            <a:endParaRPr sz="700"/>
          </a:p>
        </p:txBody>
      </p:sp>
      <p:cxnSp>
        <p:nvCxnSpPr>
          <p:cNvPr id="877" name="Google Shape;877;p54"/>
          <p:cNvCxnSpPr/>
          <p:nvPr/>
        </p:nvCxnSpPr>
        <p:spPr>
          <a:xfrm rot="10800000">
            <a:off x="4861502" y="244633"/>
            <a:ext cx="0" cy="4146518"/>
          </a:xfrm>
          <a:prstGeom prst="straightConnector1">
            <a:avLst/>
          </a:prstGeom>
          <a:noFill/>
          <a:ln w="9525" cap="flat" cmpd="sng">
            <a:solidFill>
              <a:srgbClr val="000000"/>
            </a:solidFill>
            <a:prstDash val="solid"/>
            <a:round/>
            <a:headEnd type="none" w="sm" len="sm"/>
            <a:tailEnd type="none" w="sm" len="sm"/>
          </a:ln>
        </p:spPr>
      </p:cxnSp>
      <p:sp>
        <p:nvSpPr>
          <p:cNvPr id="878" name="Google Shape;878;p54"/>
          <p:cNvSpPr txBox="1"/>
          <p:nvPr/>
        </p:nvSpPr>
        <p:spPr>
          <a:xfrm>
            <a:off x="6490358" y="590639"/>
            <a:ext cx="1758707"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Create a Realistic and Measurable Action Plan</a:t>
            </a:r>
            <a:endParaRPr sz="700"/>
          </a:p>
        </p:txBody>
      </p:sp>
      <p:sp>
        <p:nvSpPr>
          <p:cNvPr id="879" name="Google Shape;879;p54"/>
          <p:cNvSpPr txBox="1"/>
          <p:nvPr/>
        </p:nvSpPr>
        <p:spPr>
          <a:xfrm>
            <a:off x="6490358" y="1062577"/>
            <a:ext cx="1758707"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A good strategy must be measurable and implementable.</a:t>
            </a:r>
            <a:endParaRPr sz="700"/>
          </a:p>
        </p:txBody>
      </p:sp>
      <p:cxnSp>
        <p:nvCxnSpPr>
          <p:cNvPr id="880" name="Google Shape;880;p54"/>
          <p:cNvCxnSpPr/>
          <p:nvPr/>
        </p:nvCxnSpPr>
        <p:spPr>
          <a:xfrm rot="10800000">
            <a:off x="4861502" y="1620596"/>
            <a:ext cx="4282498" cy="0"/>
          </a:xfrm>
          <a:prstGeom prst="straightConnector1">
            <a:avLst/>
          </a:prstGeom>
          <a:noFill/>
          <a:ln w="9525" cap="flat" cmpd="sng">
            <a:solidFill>
              <a:srgbClr val="000000"/>
            </a:solidFill>
            <a:prstDash val="solid"/>
            <a:round/>
            <a:headEnd type="none" w="sm" len="sm"/>
            <a:tailEnd type="none" w="sm" len="sm"/>
          </a:ln>
        </p:spPr>
      </p:cxnSp>
      <p:sp>
        <p:nvSpPr>
          <p:cNvPr id="881" name="Google Shape;881;p54"/>
          <p:cNvSpPr txBox="1"/>
          <p:nvPr/>
        </p:nvSpPr>
        <p:spPr>
          <a:xfrm>
            <a:off x="5104702" y="627777"/>
            <a:ext cx="635242" cy="49912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2800" b="0" i="0" u="none" strike="noStrike" cap="none">
                <a:solidFill>
                  <a:srgbClr val="000000"/>
                </a:solidFill>
                <a:latin typeface="Arimo" panose="020B0604020202020204"/>
                <a:ea typeface="Arimo" panose="020B0604020202020204"/>
                <a:cs typeface="Arimo" panose="020B0604020202020204"/>
                <a:sym typeface="Arimo" panose="020B0604020202020204"/>
              </a:rPr>
              <a:t>01</a:t>
            </a:r>
            <a:endParaRPr sz="700"/>
          </a:p>
        </p:txBody>
      </p:sp>
      <p:sp>
        <p:nvSpPr>
          <p:cNvPr id="882" name="Google Shape;882;p54"/>
          <p:cNvSpPr txBox="1"/>
          <p:nvPr/>
        </p:nvSpPr>
        <p:spPr>
          <a:xfrm>
            <a:off x="6490358" y="2053098"/>
            <a:ext cx="2009100" cy="16287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Review SWOT Periodically</a:t>
            </a:r>
            <a:endParaRPr sz="700"/>
          </a:p>
        </p:txBody>
      </p:sp>
      <p:sp>
        <p:nvSpPr>
          <p:cNvPr id="883" name="Google Shape;883;p54"/>
          <p:cNvSpPr txBox="1"/>
          <p:nvPr/>
        </p:nvSpPr>
        <p:spPr>
          <a:xfrm>
            <a:off x="6490358" y="2304161"/>
            <a:ext cx="1758707" cy="27971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SWOT is not a one-time use tool, it must be updated accordingly.</a:t>
            </a:r>
            <a:endParaRPr sz="700"/>
          </a:p>
        </p:txBody>
      </p:sp>
      <p:cxnSp>
        <p:nvCxnSpPr>
          <p:cNvPr id="884" name="Google Shape;884;p54"/>
          <p:cNvCxnSpPr/>
          <p:nvPr/>
        </p:nvCxnSpPr>
        <p:spPr>
          <a:xfrm rot="10800000">
            <a:off x="4861502" y="2957735"/>
            <a:ext cx="4282498" cy="0"/>
          </a:xfrm>
          <a:prstGeom prst="straightConnector1">
            <a:avLst/>
          </a:prstGeom>
          <a:noFill/>
          <a:ln w="9525" cap="flat" cmpd="sng">
            <a:solidFill>
              <a:srgbClr val="000000"/>
            </a:solidFill>
            <a:prstDash val="solid"/>
            <a:round/>
            <a:headEnd type="none" w="sm" len="sm"/>
            <a:tailEnd type="none" w="sm" len="sm"/>
          </a:ln>
        </p:spPr>
      </p:cxnSp>
      <p:sp>
        <p:nvSpPr>
          <p:cNvPr id="885" name="Google Shape;885;p54"/>
          <p:cNvSpPr txBox="1"/>
          <p:nvPr/>
        </p:nvSpPr>
        <p:spPr>
          <a:xfrm>
            <a:off x="6490358" y="3264915"/>
            <a:ext cx="1317537" cy="3200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900" b="1" i="0" u="none" strike="noStrike" cap="none">
                <a:solidFill>
                  <a:srgbClr val="000000"/>
                </a:solidFill>
                <a:latin typeface="Arimo" panose="020B0604020202020204"/>
                <a:ea typeface="Arimo" panose="020B0604020202020204"/>
                <a:cs typeface="Arimo" panose="020B0604020202020204"/>
                <a:sym typeface="Arimo" panose="020B0604020202020204"/>
              </a:rPr>
              <a:t>Involve Teams in the Strategic Process</a:t>
            </a:r>
            <a:endParaRPr sz="700"/>
          </a:p>
        </p:txBody>
      </p:sp>
      <p:sp>
        <p:nvSpPr>
          <p:cNvPr id="886" name="Google Shape;886;p54"/>
          <p:cNvSpPr txBox="1"/>
          <p:nvPr/>
        </p:nvSpPr>
        <p:spPr>
          <a:xfrm>
            <a:off x="6490358" y="3736855"/>
            <a:ext cx="2139292" cy="2797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800" b="0" i="0" u="none" strike="noStrike" cap="none">
                <a:solidFill>
                  <a:srgbClr val="000000"/>
                </a:solidFill>
                <a:latin typeface="Arimo" panose="020B0604020202020204"/>
                <a:ea typeface="Arimo" panose="020B0604020202020204"/>
                <a:cs typeface="Arimo" panose="020B0604020202020204"/>
                <a:sym typeface="Arimo" panose="020B0604020202020204"/>
              </a:rPr>
              <a:t>Cross-team collaboration increases the validity and effectiveness of SWOT results.</a:t>
            </a:r>
            <a:endParaRPr sz="700"/>
          </a:p>
        </p:txBody>
      </p:sp>
      <p:cxnSp>
        <p:nvCxnSpPr>
          <p:cNvPr id="887" name="Google Shape;887;p54"/>
          <p:cNvCxnSpPr/>
          <p:nvPr/>
        </p:nvCxnSpPr>
        <p:spPr>
          <a:xfrm rot="10800000">
            <a:off x="5983144" y="244633"/>
            <a:ext cx="0" cy="4146518"/>
          </a:xfrm>
          <a:prstGeom prst="straightConnector1">
            <a:avLst/>
          </a:prstGeom>
          <a:noFill/>
          <a:ln w="9525" cap="flat" cmpd="sng">
            <a:solidFill>
              <a:srgbClr val="000000"/>
            </a:solidFill>
            <a:prstDash val="solid"/>
            <a:round/>
            <a:headEnd type="none" w="sm" len="sm"/>
            <a:tailEnd type="none" w="sm" len="sm"/>
          </a:ln>
        </p:spPr>
      </p:cxnSp>
      <p:sp>
        <p:nvSpPr>
          <p:cNvPr id="888" name="Google Shape;888;p54"/>
          <p:cNvSpPr txBox="1"/>
          <p:nvPr/>
        </p:nvSpPr>
        <p:spPr>
          <a:xfrm>
            <a:off x="5104702" y="2035410"/>
            <a:ext cx="635242" cy="49912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2800" b="0" i="0" u="none" strike="noStrike" cap="none">
                <a:solidFill>
                  <a:srgbClr val="000000"/>
                </a:solidFill>
                <a:latin typeface="Arimo" panose="020B0604020202020204"/>
                <a:ea typeface="Arimo" panose="020B0604020202020204"/>
                <a:cs typeface="Arimo" panose="020B0604020202020204"/>
                <a:sym typeface="Arimo" panose="020B0604020202020204"/>
              </a:rPr>
              <a:t>02</a:t>
            </a:r>
            <a:endParaRPr sz="700"/>
          </a:p>
        </p:txBody>
      </p:sp>
      <p:sp>
        <p:nvSpPr>
          <p:cNvPr id="889" name="Google Shape;889;p54"/>
          <p:cNvSpPr txBox="1"/>
          <p:nvPr/>
        </p:nvSpPr>
        <p:spPr>
          <a:xfrm>
            <a:off x="5104702" y="3477766"/>
            <a:ext cx="635242" cy="49912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2800" b="0" i="0" u="none" strike="noStrike" cap="none">
                <a:solidFill>
                  <a:srgbClr val="000000"/>
                </a:solidFill>
                <a:latin typeface="Arimo" panose="020B0604020202020204"/>
                <a:ea typeface="Arimo" panose="020B0604020202020204"/>
                <a:cs typeface="Arimo" panose="020B0604020202020204"/>
                <a:sym typeface="Arimo" panose="020B0604020202020204"/>
              </a:rPr>
              <a:t>03</a:t>
            </a:r>
            <a:endParaRPr sz="70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893" name="Shape 893"/>
        <p:cNvGrpSpPr/>
        <p:nvPr/>
      </p:nvGrpSpPr>
      <p:grpSpPr>
        <a:xfrm>
          <a:off x="0" y="0"/>
          <a:ext cx="0" cy="0"/>
          <a:chOff x="0" y="0"/>
          <a:chExt cx="0" cy="0"/>
        </a:xfrm>
      </p:grpSpPr>
      <p:sp>
        <p:nvSpPr>
          <p:cNvPr id="894" name="Google Shape;894;p55"/>
          <p:cNvSpPr txBox="1"/>
          <p:nvPr>
            <p:ph type="title"/>
          </p:nvPr>
        </p:nvSpPr>
        <p:spPr>
          <a:xfrm>
            <a:off x="311700" y="1878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220"/>
              <a:t>YouTube Market Segmentation: Uncovering Creator Dynamics</a:t>
            </a:r>
            <a:endParaRPr sz="2220"/>
          </a:p>
        </p:txBody>
      </p:sp>
      <p:grpSp>
        <p:nvGrpSpPr>
          <p:cNvPr id="895" name="Google Shape;895;p55"/>
          <p:cNvGrpSpPr/>
          <p:nvPr/>
        </p:nvGrpSpPr>
        <p:grpSpPr>
          <a:xfrm>
            <a:off x="529199" y="2780211"/>
            <a:ext cx="3750827" cy="2270809"/>
            <a:chOff x="4572000" y="2322050"/>
            <a:chExt cx="4310800" cy="2609825"/>
          </a:xfrm>
        </p:grpSpPr>
        <p:pic>
          <p:nvPicPr>
            <p:cNvPr id="896" name="Google Shape;896;p55" title="截圖 2026-04-19 凌晨4.05.08.png"/>
            <p:cNvPicPr preferRelativeResize="0"/>
            <p:nvPr/>
          </p:nvPicPr>
          <p:blipFill rotWithShape="1">
            <a:blip r:embed="rId1"/>
            <a:srcRect r="18019"/>
            <a:stretch>
              <a:fillRect/>
            </a:stretch>
          </p:blipFill>
          <p:spPr>
            <a:xfrm>
              <a:off x="4572000" y="2322050"/>
              <a:ext cx="4310800" cy="2609825"/>
            </a:xfrm>
            <a:prstGeom prst="rect">
              <a:avLst/>
            </a:prstGeom>
            <a:noFill/>
            <a:ln>
              <a:noFill/>
            </a:ln>
          </p:spPr>
        </p:pic>
        <p:pic>
          <p:nvPicPr>
            <p:cNvPr id="897" name="Google Shape;897;p55" title="截圖 2026-04-19 凌晨4.05.08.png"/>
            <p:cNvPicPr preferRelativeResize="0"/>
            <p:nvPr/>
          </p:nvPicPr>
          <p:blipFill rotWithShape="1">
            <a:blip r:embed="rId1"/>
            <a:srcRect l="84676" t="6576" r="941" b="67078"/>
            <a:stretch>
              <a:fillRect/>
            </a:stretch>
          </p:blipFill>
          <p:spPr>
            <a:xfrm>
              <a:off x="5520075" y="2764625"/>
              <a:ext cx="707226" cy="642949"/>
            </a:xfrm>
            <a:prstGeom prst="rect">
              <a:avLst/>
            </a:prstGeom>
            <a:noFill/>
            <a:ln>
              <a:noFill/>
            </a:ln>
          </p:spPr>
        </p:pic>
      </p:grpSp>
      <p:grpSp>
        <p:nvGrpSpPr>
          <p:cNvPr id="898" name="Google Shape;898;p55"/>
          <p:cNvGrpSpPr/>
          <p:nvPr/>
        </p:nvGrpSpPr>
        <p:grpSpPr>
          <a:xfrm>
            <a:off x="4509162" y="909249"/>
            <a:ext cx="4449601" cy="4031978"/>
            <a:chOff x="311700" y="1295075"/>
            <a:chExt cx="4084451" cy="3701100"/>
          </a:xfrm>
        </p:grpSpPr>
        <p:pic>
          <p:nvPicPr>
            <p:cNvPr id="899" name="Google Shape;899;p55" title="截圖 2026-04-19 凌晨4.04.40.png"/>
            <p:cNvPicPr preferRelativeResize="0"/>
            <p:nvPr/>
          </p:nvPicPr>
          <p:blipFill rotWithShape="1">
            <a:blip r:embed="rId2"/>
            <a:srcRect r="23465"/>
            <a:stretch>
              <a:fillRect/>
            </a:stretch>
          </p:blipFill>
          <p:spPr>
            <a:xfrm>
              <a:off x="311700" y="1295075"/>
              <a:ext cx="4084451" cy="3701100"/>
            </a:xfrm>
            <a:prstGeom prst="rect">
              <a:avLst/>
            </a:prstGeom>
            <a:noFill/>
            <a:ln>
              <a:noFill/>
            </a:ln>
          </p:spPr>
        </p:pic>
        <p:pic>
          <p:nvPicPr>
            <p:cNvPr id="900" name="Google Shape;900;p55" title="截圖 2026-04-19 凌晨4.04.40.png"/>
            <p:cNvPicPr preferRelativeResize="0"/>
            <p:nvPr/>
          </p:nvPicPr>
          <p:blipFill rotWithShape="1">
            <a:blip r:embed="rId2"/>
            <a:srcRect l="78839" t="6217" r="1855" b="78309"/>
            <a:stretch>
              <a:fillRect/>
            </a:stretch>
          </p:blipFill>
          <p:spPr>
            <a:xfrm>
              <a:off x="3332375" y="1607325"/>
              <a:ext cx="870899" cy="484100"/>
            </a:xfrm>
            <a:prstGeom prst="rect">
              <a:avLst/>
            </a:prstGeom>
            <a:noFill/>
            <a:ln>
              <a:noFill/>
            </a:ln>
          </p:spPr>
        </p:pic>
      </p:grpSp>
      <p:sp>
        <p:nvSpPr>
          <p:cNvPr id="901" name="Google Shape;901;p55"/>
          <p:cNvSpPr txBox="1"/>
          <p:nvPr/>
        </p:nvSpPr>
        <p:spPr>
          <a:xfrm>
            <a:off x="174500" y="744250"/>
            <a:ext cx="4537200" cy="238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100"/>
              <a:t>Clustering YouTube Creators via K-Means:</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Viral Elite:</a:t>
            </a:r>
            <a:r>
              <a:rPr lang="en-GB" sz="1100">
                <a:solidFill>
                  <a:schemeClr val="dk1"/>
                </a:solidFill>
              </a:rPr>
              <a:t> Efficiency-driven; optimized for instant algorithm velocity. (average subscribers 83K)</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Authority Archives:</a:t>
            </a:r>
            <a:r>
              <a:rPr lang="en-GB" sz="1100">
                <a:solidFill>
                  <a:schemeClr val="dk1"/>
                </a:solidFill>
              </a:rPr>
              <a:t> Asset-driven; optimized for long-term brand equity. (average subscribers 2.5M)</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Community Builders:</a:t>
            </a:r>
            <a:r>
              <a:rPr lang="en-GB" sz="1100">
                <a:solidFill>
                  <a:schemeClr val="dk1"/>
                </a:solidFill>
              </a:rPr>
              <a:t> Loyalty-driven; optimized for deep audience engagement. (average subscribers 391)</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Rising Stars:</a:t>
            </a:r>
            <a:r>
              <a:rPr lang="en-GB" sz="1100">
                <a:solidFill>
                  <a:schemeClr val="dk1"/>
                </a:solidFill>
              </a:rPr>
              <a:t> Growth-driven; the transition phase for new entrants.  (average subscribers 756K)</a:t>
            </a:r>
            <a:endParaRPr sz="1100">
              <a:solidFill>
                <a:schemeClr val="dk1"/>
              </a:solidFill>
            </a:endParaRPr>
          </a:p>
          <a:p>
            <a:pPr marL="0" lvl="0" indent="0" algn="l" rtl="0">
              <a:spcBef>
                <a:spcPts val="1200"/>
              </a:spcBef>
              <a:spcAft>
                <a:spcPts val="0"/>
              </a:spcAft>
              <a:buNone/>
            </a:pPr>
            <a:endParaRPr sz="110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905" name="Shape 905"/>
        <p:cNvGrpSpPr/>
        <p:nvPr/>
      </p:nvGrpSpPr>
      <p:grpSpPr>
        <a:xfrm>
          <a:off x="0" y="0"/>
          <a:ext cx="0" cy="0"/>
          <a:chOff x="0" y="0"/>
          <a:chExt cx="0" cy="0"/>
        </a:xfrm>
      </p:grpSpPr>
      <p:sp>
        <p:nvSpPr>
          <p:cNvPr id="906" name="Google Shape;906;p5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GB" sz="2220"/>
              <a:t>The Creator Growth Roadmap: Strategic Pivot Points</a:t>
            </a:r>
            <a:endParaRPr sz="2220"/>
          </a:p>
        </p:txBody>
      </p:sp>
      <p:pic>
        <p:nvPicPr>
          <p:cNvPr id="907" name="Google Shape;907;p56" title="截圖 2026-04-19 凌晨4.05.16.png"/>
          <p:cNvPicPr preferRelativeResize="0"/>
          <p:nvPr/>
        </p:nvPicPr>
        <p:blipFill>
          <a:blip r:embed="rId1"/>
          <a:stretch>
            <a:fillRect/>
          </a:stretch>
        </p:blipFill>
        <p:spPr>
          <a:xfrm>
            <a:off x="311700" y="2061373"/>
            <a:ext cx="3835549" cy="3082126"/>
          </a:xfrm>
          <a:prstGeom prst="rect">
            <a:avLst/>
          </a:prstGeom>
          <a:noFill/>
          <a:ln>
            <a:noFill/>
          </a:ln>
        </p:spPr>
      </p:pic>
      <p:pic>
        <p:nvPicPr>
          <p:cNvPr id="908" name="Google Shape;908;p56" title="截圖 2026-04-19 凌晨4.05.27.png"/>
          <p:cNvPicPr preferRelativeResize="0"/>
          <p:nvPr/>
        </p:nvPicPr>
        <p:blipFill>
          <a:blip r:embed="rId2"/>
          <a:stretch>
            <a:fillRect/>
          </a:stretch>
        </p:blipFill>
        <p:spPr>
          <a:xfrm>
            <a:off x="4443075" y="1988325"/>
            <a:ext cx="4548526" cy="3045075"/>
          </a:xfrm>
          <a:prstGeom prst="rect">
            <a:avLst/>
          </a:prstGeom>
          <a:noFill/>
          <a:ln>
            <a:noFill/>
          </a:ln>
        </p:spPr>
      </p:pic>
      <p:sp>
        <p:nvSpPr>
          <p:cNvPr id="909" name="Google Shape;909;p56"/>
          <p:cNvSpPr txBox="1"/>
          <p:nvPr/>
        </p:nvSpPr>
        <p:spPr>
          <a:xfrm>
            <a:off x="390350" y="1017725"/>
            <a:ext cx="3990600" cy="960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900" b="1">
                <a:solidFill>
                  <a:schemeClr val="dk1"/>
                </a:solidFill>
              </a:rPr>
              <a:t>Strategic Pivots to Scale Your Impact:</a:t>
            </a:r>
            <a:endParaRPr sz="900" b="1">
              <a:solidFill>
                <a:schemeClr val="dk1"/>
              </a:solidFill>
            </a:endParaRPr>
          </a:p>
          <a:p>
            <a:pPr marL="457200" lvl="0" indent="-285750" algn="l" rtl="0">
              <a:lnSpc>
                <a:spcPct val="115000"/>
              </a:lnSpc>
              <a:spcBef>
                <a:spcPts val="0"/>
              </a:spcBef>
              <a:spcAft>
                <a:spcPts val="0"/>
              </a:spcAft>
              <a:buClr>
                <a:schemeClr val="dk1"/>
              </a:buClr>
              <a:buSzPts val="900"/>
              <a:buChar char="●"/>
            </a:pPr>
            <a:r>
              <a:rPr lang="en-GB" sz="900" b="1">
                <a:solidFill>
                  <a:schemeClr val="dk1"/>
                </a:solidFill>
              </a:rPr>
              <a:t>Phase 1 (Survival):</a:t>
            </a:r>
            <a:r>
              <a:rPr lang="en-GB" sz="900">
                <a:solidFill>
                  <a:schemeClr val="dk1"/>
                </a:solidFill>
              </a:rPr>
              <a:t> Master </a:t>
            </a:r>
            <a:r>
              <a:rPr lang="en-GB" sz="900" i="1">
                <a:solidFill>
                  <a:schemeClr val="dk1"/>
                </a:solidFill>
              </a:rPr>
              <a:t>Efficiency</a:t>
            </a:r>
            <a:r>
              <a:rPr lang="en-GB" sz="900">
                <a:solidFill>
                  <a:schemeClr val="dk1"/>
                </a:solidFill>
              </a:rPr>
              <a:t> to get into the algorithm.</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en-GB" sz="900" b="1">
                <a:solidFill>
                  <a:schemeClr val="dk1"/>
                </a:solidFill>
              </a:rPr>
              <a:t>Phase 2 (Loyalty):</a:t>
            </a:r>
            <a:r>
              <a:rPr lang="en-GB" sz="900">
                <a:solidFill>
                  <a:schemeClr val="dk1"/>
                </a:solidFill>
              </a:rPr>
              <a:t> Pivot to </a:t>
            </a:r>
            <a:r>
              <a:rPr lang="en-GB" sz="900" i="1">
                <a:solidFill>
                  <a:schemeClr val="dk1"/>
                </a:solidFill>
              </a:rPr>
              <a:t>Like Rate</a:t>
            </a:r>
            <a:r>
              <a:rPr lang="en-GB" sz="900">
                <a:solidFill>
                  <a:schemeClr val="dk1"/>
                </a:solidFill>
              </a:rPr>
              <a:t> to build a community.</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en-GB" sz="900" b="1">
                <a:solidFill>
                  <a:schemeClr val="dk1"/>
                </a:solidFill>
              </a:rPr>
              <a:t>Phase 3 (Authority):</a:t>
            </a:r>
            <a:r>
              <a:rPr lang="en-GB" sz="900">
                <a:solidFill>
                  <a:schemeClr val="dk1"/>
                </a:solidFill>
              </a:rPr>
              <a:t> Shift to </a:t>
            </a:r>
            <a:r>
              <a:rPr lang="en-GB" sz="900" i="1">
                <a:solidFill>
                  <a:schemeClr val="dk1"/>
                </a:solidFill>
              </a:rPr>
              <a:t>Duration</a:t>
            </a:r>
            <a:r>
              <a:rPr lang="en-GB" sz="900">
                <a:solidFill>
                  <a:schemeClr val="dk1"/>
                </a:solidFill>
              </a:rPr>
              <a:t> and depth to secure a market moat."</a:t>
            </a:r>
            <a:endParaRPr sz="900">
              <a:solidFill>
                <a:schemeClr val="dk1"/>
              </a:solidFill>
            </a:endParaRPr>
          </a:p>
        </p:txBody>
      </p:sp>
      <p:sp>
        <p:nvSpPr>
          <p:cNvPr id="910" name="Google Shape;910;p56"/>
          <p:cNvSpPr txBox="1"/>
          <p:nvPr/>
        </p:nvSpPr>
        <p:spPr>
          <a:xfrm>
            <a:off x="4572000" y="1017725"/>
            <a:ext cx="4489800" cy="960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900" b="1">
                <a:solidFill>
                  <a:schemeClr val="dk1"/>
                </a:solidFill>
              </a:rPr>
              <a:t>Finding Your Niche: Content Blue Oceans</a:t>
            </a:r>
            <a:endParaRPr sz="900" b="1">
              <a:solidFill>
                <a:schemeClr val="dk1"/>
              </a:solidFill>
            </a:endParaRPr>
          </a:p>
          <a:p>
            <a:pPr marL="457200" lvl="0" indent="-285750" algn="l" rtl="0">
              <a:lnSpc>
                <a:spcPct val="115000"/>
              </a:lnSpc>
              <a:spcBef>
                <a:spcPts val="0"/>
              </a:spcBef>
              <a:spcAft>
                <a:spcPts val="0"/>
              </a:spcAft>
              <a:buClr>
                <a:schemeClr val="dk1"/>
              </a:buClr>
              <a:buSzPts val="900"/>
              <a:buChar char="●"/>
            </a:pPr>
            <a:r>
              <a:rPr lang="en-GB" sz="900" b="1">
                <a:solidFill>
                  <a:schemeClr val="dk1"/>
                </a:solidFill>
              </a:rPr>
              <a:t>The Opportunity Formula:</a:t>
            </a:r>
            <a:r>
              <a:rPr lang="en-GB" sz="900">
                <a:solidFill>
                  <a:schemeClr val="dk1"/>
                </a:solidFill>
              </a:rPr>
              <a:t> Identifying niches with high audience demand but low creator saturation</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en-GB" sz="900">
                <a:solidFill>
                  <a:schemeClr val="dk1"/>
                </a:solidFill>
              </a:rPr>
              <a:t>New entrants should pivot away from crowded 'People &amp; Blogs' towards these high-leverage categories to reduce initial acquisition costs.</a:t>
            </a:r>
            <a:endParaRPr sz="900" b="1">
              <a:solidFill>
                <a:schemeClr val="dk1"/>
              </a:solidFill>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6F6F6"/>
        </a:solidFill>
        <a:effectLst/>
      </p:bgPr>
    </p:bg>
    <p:spTree>
      <p:nvGrpSpPr>
        <p:cNvPr id="914" name="Shape 914"/>
        <p:cNvGrpSpPr/>
        <p:nvPr/>
      </p:nvGrpSpPr>
      <p:grpSpPr>
        <a:xfrm>
          <a:off x="0" y="0"/>
          <a:ext cx="0" cy="0"/>
          <a:chOff x="0" y="0"/>
          <a:chExt cx="0" cy="0"/>
        </a:xfrm>
      </p:grpSpPr>
      <p:grpSp>
        <p:nvGrpSpPr>
          <p:cNvPr id="915" name="Google Shape;915;p57"/>
          <p:cNvGrpSpPr/>
          <p:nvPr/>
        </p:nvGrpSpPr>
        <p:grpSpPr>
          <a:xfrm>
            <a:off x="517353" y="2117051"/>
            <a:ext cx="2611179" cy="379061"/>
            <a:chOff x="0" y="-57150"/>
            <a:chExt cx="2426568" cy="352262"/>
          </a:xfrm>
        </p:grpSpPr>
        <p:sp>
          <p:nvSpPr>
            <p:cNvPr id="916" name="Google Shape;916;p57"/>
            <p:cNvSpPr/>
            <p:nvPr/>
          </p:nvSpPr>
          <p:spPr>
            <a:xfrm>
              <a:off x="0" y="0"/>
              <a:ext cx="2426568" cy="295112"/>
            </a:xfrm>
            <a:custGeom>
              <a:avLst/>
              <a:gdLst/>
              <a:ahLst/>
              <a:cxnLst/>
              <a:rect l="l" t="t" r="r" b="b"/>
              <a:pathLst>
                <a:path w="2426568" h="295112" extrusionOk="0">
                  <a:moveTo>
                    <a:pt x="147556" y="0"/>
                  </a:moveTo>
                  <a:lnTo>
                    <a:pt x="2279012" y="0"/>
                  </a:lnTo>
                  <a:cubicBezTo>
                    <a:pt x="2318146" y="0"/>
                    <a:pt x="2355678" y="15546"/>
                    <a:pt x="2383350" y="43218"/>
                  </a:cubicBezTo>
                  <a:cubicBezTo>
                    <a:pt x="2411022" y="70890"/>
                    <a:pt x="2426568" y="108422"/>
                    <a:pt x="2426568" y="147556"/>
                  </a:cubicBezTo>
                  <a:lnTo>
                    <a:pt x="2426568" y="147556"/>
                  </a:lnTo>
                  <a:cubicBezTo>
                    <a:pt x="2426568" y="186690"/>
                    <a:pt x="2411022" y="224221"/>
                    <a:pt x="2383350" y="251893"/>
                  </a:cubicBezTo>
                  <a:cubicBezTo>
                    <a:pt x="2355678" y="279566"/>
                    <a:pt x="2318146" y="295112"/>
                    <a:pt x="2279012" y="295112"/>
                  </a:cubicBezTo>
                  <a:lnTo>
                    <a:pt x="147556" y="295112"/>
                  </a:lnTo>
                  <a:cubicBezTo>
                    <a:pt x="108422" y="295112"/>
                    <a:pt x="70890" y="279566"/>
                    <a:pt x="43218" y="251893"/>
                  </a:cubicBezTo>
                  <a:cubicBezTo>
                    <a:pt x="15546" y="224221"/>
                    <a:pt x="0" y="186690"/>
                    <a:pt x="0" y="147556"/>
                  </a:cubicBezTo>
                  <a:lnTo>
                    <a:pt x="0" y="147556"/>
                  </a:lnTo>
                  <a:cubicBezTo>
                    <a:pt x="0" y="108422"/>
                    <a:pt x="15546" y="70890"/>
                    <a:pt x="43218" y="43218"/>
                  </a:cubicBezTo>
                  <a:cubicBezTo>
                    <a:pt x="70890" y="15546"/>
                    <a:pt x="108422" y="0"/>
                    <a:pt x="147556" y="0"/>
                  </a:cubicBezTo>
                  <a:close/>
                </a:path>
              </a:pathLst>
            </a:custGeom>
            <a:solidFill>
              <a:srgbClr val="000000"/>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917" name="Google Shape;917;p57"/>
            <p:cNvSpPr txBox="1"/>
            <p:nvPr/>
          </p:nvSpPr>
          <p:spPr>
            <a:xfrm>
              <a:off x="0" y="-57150"/>
              <a:ext cx="2426568" cy="352262"/>
            </a:xfrm>
            <a:prstGeom prst="rect">
              <a:avLst/>
            </a:prstGeom>
            <a:noFill/>
            <a:ln>
              <a:noFill/>
            </a:ln>
          </p:spPr>
          <p:txBody>
            <a:bodyPr spcFirstLastPara="1" wrap="square" lIns="25825" tIns="25825" rIns="25825" bIns="25825" anchor="ctr" anchorCtr="0">
              <a:noAutofit/>
            </a:bodyPr>
            <a:lstStyle/>
            <a:p>
              <a:pPr marL="0" marR="0" lvl="0" indent="0" algn="ctr" rtl="0">
                <a:lnSpc>
                  <a:spcPct val="148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918" name="Google Shape;918;p57"/>
          <p:cNvGrpSpPr/>
          <p:nvPr/>
        </p:nvGrpSpPr>
        <p:grpSpPr>
          <a:xfrm>
            <a:off x="3267118" y="2115614"/>
            <a:ext cx="2611179" cy="379061"/>
            <a:chOff x="0" y="-57150"/>
            <a:chExt cx="2426568" cy="352262"/>
          </a:xfrm>
        </p:grpSpPr>
        <p:sp>
          <p:nvSpPr>
            <p:cNvPr id="919" name="Google Shape;919;p57"/>
            <p:cNvSpPr/>
            <p:nvPr/>
          </p:nvSpPr>
          <p:spPr>
            <a:xfrm>
              <a:off x="0" y="0"/>
              <a:ext cx="2426568" cy="295112"/>
            </a:xfrm>
            <a:custGeom>
              <a:avLst/>
              <a:gdLst/>
              <a:ahLst/>
              <a:cxnLst/>
              <a:rect l="l" t="t" r="r" b="b"/>
              <a:pathLst>
                <a:path w="2426568" h="295112" extrusionOk="0">
                  <a:moveTo>
                    <a:pt x="147556" y="0"/>
                  </a:moveTo>
                  <a:lnTo>
                    <a:pt x="2279012" y="0"/>
                  </a:lnTo>
                  <a:cubicBezTo>
                    <a:pt x="2318146" y="0"/>
                    <a:pt x="2355678" y="15546"/>
                    <a:pt x="2383350" y="43218"/>
                  </a:cubicBezTo>
                  <a:cubicBezTo>
                    <a:pt x="2411022" y="70890"/>
                    <a:pt x="2426568" y="108422"/>
                    <a:pt x="2426568" y="147556"/>
                  </a:cubicBezTo>
                  <a:lnTo>
                    <a:pt x="2426568" y="147556"/>
                  </a:lnTo>
                  <a:cubicBezTo>
                    <a:pt x="2426568" y="186690"/>
                    <a:pt x="2411022" y="224221"/>
                    <a:pt x="2383350" y="251893"/>
                  </a:cubicBezTo>
                  <a:cubicBezTo>
                    <a:pt x="2355678" y="279566"/>
                    <a:pt x="2318146" y="295112"/>
                    <a:pt x="2279012" y="295112"/>
                  </a:cubicBezTo>
                  <a:lnTo>
                    <a:pt x="147556" y="295112"/>
                  </a:lnTo>
                  <a:cubicBezTo>
                    <a:pt x="108422" y="295112"/>
                    <a:pt x="70890" y="279566"/>
                    <a:pt x="43218" y="251893"/>
                  </a:cubicBezTo>
                  <a:cubicBezTo>
                    <a:pt x="15546" y="224221"/>
                    <a:pt x="0" y="186690"/>
                    <a:pt x="0" y="147556"/>
                  </a:cubicBezTo>
                  <a:lnTo>
                    <a:pt x="0" y="147556"/>
                  </a:lnTo>
                  <a:cubicBezTo>
                    <a:pt x="0" y="108422"/>
                    <a:pt x="15546" y="70890"/>
                    <a:pt x="43218" y="43218"/>
                  </a:cubicBezTo>
                  <a:cubicBezTo>
                    <a:pt x="70890" y="15546"/>
                    <a:pt x="108422" y="0"/>
                    <a:pt x="147556" y="0"/>
                  </a:cubicBezTo>
                  <a:close/>
                </a:path>
              </a:pathLst>
            </a:custGeom>
            <a:solidFill>
              <a:srgbClr val="000000"/>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920" name="Google Shape;920;p57"/>
            <p:cNvSpPr txBox="1"/>
            <p:nvPr/>
          </p:nvSpPr>
          <p:spPr>
            <a:xfrm>
              <a:off x="0" y="-57150"/>
              <a:ext cx="2426568" cy="352262"/>
            </a:xfrm>
            <a:prstGeom prst="rect">
              <a:avLst/>
            </a:prstGeom>
            <a:noFill/>
            <a:ln>
              <a:noFill/>
            </a:ln>
          </p:spPr>
          <p:txBody>
            <a:bodyPr spcFirstLastPara="1" wrap="square" lIns="25825" tIns="25825" rIns="25825" bIns="25825" anchor="ctr" anchorCtr="0">
              <a:noAutofit/>
            </a:bodyPr>
            <a:lstStyle/>
            <a:p>
              <a:pPr marL="0" marR="0" lvl="0" indent="0" algn="ctr" rtl="0">
                <a:lnSpc>
                  <a:spcPct val="148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921" name="Google Shape;921;p57"/>
          <p:cNvGrpSpPr/>
          <p:nvPr/>
        </p:nvGrpSpPr>
        <p:grpSpPr>
          <a:xfrm>
            <a:off x="6015469" y="2117051"/>
            <a:ext cx="2611179" cy="379061"/>
            <a:chOff x="0" y="-57150"/>
            <a:chExt cx="2426568" cy="352262"/>
          </a:xfrm>
        </p:grpSpPr>
        <p:sp>
          <p:nvSpPr>
            <p:cNvPr id="922" name="Google Shape;922;p57"/>
            <p:cNvSpPr/>
            <p:nvPr/>
          </p:nvSpPr>
          <p:spPr>
            <a:xfrm>
              <a:off x="0" y="0"/>
              <a:ext cx="2426568" cy="295112"/>
            </a:xfrm>
            <a:custGeom>
              <a:avLst/>
              <a:gdLst/>
              <a:ahLst/>
              <a:cxnLst/>
              <a:rect l="l" t="t" r="r" b="b"/>
              <a:pathLst>
                <a:path w="2426568" h="295112" extrusionOk="0">
                  <a:moveTo>
                    <a:pt x="147556" y="0"/>
                  </a:moveTo>
                  <a:lnTo>
                    <a:pt x="2279012" y="0"/>
                  </a:lnTo>
                  <a:cubicBezTo>
                    <a:pt x="2318146" y="0"/>
                    <a:pt x="2355678" y="15546"/>
                    <a:pt x="2383350" y="43218"/>
                  </a:cubicBezTo>
                  <a:cubicBezTo>
                    <a:pt x="2411022" y="70890"/>
                    <a:pt x="2426568" y="108422"/>
                    <a:pt x="2426568" y="147556"/>
                  </a:cubicBezTo>
                  <a:lnTo>
                    <a:pt x="2426568" y="147556"/>
                  </a:lnTo>
                  <a:cubicBezTo>
                    <a:pt x="2426568" y="186690"/>
                    <a:pt x="2411022" y="224221"/>
                    <a:pt x="2383350" y="251893"/>
                  </a:cubicBezTo>
                  <a:cubicBezTo>
                    <a:pt x="2355678" y="279566"/>
                    <a:pt x="2318146" y="295112"/>
                    <a:pt x="2279012" y="295112"/>
                  </a:cubicBezTo>
                  <a:lnTo>
                    <a:pt x="147556" y="295112"/>
                  </a:lnTo>
                  <a:cubicBezTo>
                    <a:pt x="108422" y="295112"/>
                    <a:pt x="70890" y="279566"/>
                    <a:pt x="43218" y="251893"/>
                  </a:cubicBezTo>
                  <a:cubicBezTo>
                    <a:pt x="15546" y="224221"/>
                    <a:pt x="0" y="186690"/>
                    <a:pt x="0" y="147556"/>
                  </a:cubicBezTo>
                  <a:lnTo>
                    <a:pt x="0" y="147556"/>
                  </a:lnTo>
                  <a:cubicBezTo>
                    <a:pt x="0" y="108422"/>
                    <a:pt x="15546" y="70890"/>
                    <a:pt x="43218" y="43218"/>
                  </a:cubicBezTo>
                  <a:cubicBezTo>
                    <a:pt x="70890" y="15546"/>
                    <a:pt x="108422" y="0"/>
                    <a:pt x="147556" y="0"/>
                  </a:cubicBezTo>
                  <a:close/>
                </a:path>
              </a:pathLst>
            </a:custGeom>
            <a:solidFill>
              <a:srgbClr val="000000"/>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923" name="Google Shape;923;p57"/>
            <p:cNvSpPr txBox="1"/>
            <p:nvPr/>
          </p:nvSpPr>
          <p:spPr>
            <a:xfrm>
              <a:off x="0" y="-57150"/>
              <a:ext cx="2426568" cy="352262"/>
            </a:xfrm>
            <a:prstGeom prst="rect">
              <a:avLst/>
            </a:prstGeom>
            <a:noFill/>
            <a:ln>
              <a:noFill/>
            </a:ln>
          </p:spPr>
          <p:txBody>
            <a:bodyPr spcFirstLastPara="1" wrap="square" lIns="25825" tIns="25825" rIns="25825" bIns="25825" anchor="ctr" anchorCtr="0">
              <a:noAutofit/>
            </a:bodyPr>
            <a:lstStyle/>
            <a:p>
              <a:pPr marL="0" marR="0" lvl="0" indent="0" algn="ctr" rtl="0">
                <a:lnSpc>
                  <a:spcPct val="148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924" name="Google Shape;924;p57"/>
          <p:cNvGrpSpPr/>
          <p:nvPr/>
        </p:nvGrpSpPr>
        <p:grpSpPr>
          <a:xfrm>
            <a:off x="517353" y="2570053"/>
            <a:ext cx="2611178" cy="1290729"/>
            <a:chOff x="0" y="-57150"/>
            <a:chExt cx="2194723" cy="1084871"/>
          </a:xfrm>
        </p:grpSpPr>
        <p:sp>
          <p:nvSpPr>
            <p:cNvPr id="925" name="Google Shape;925;p57"/>
            <p:cNvSpPr/>
            <p:nvPr/>
          </p:nvSpPr>
          <p:spPr>
            <a:xfrm>
              <a:off x="0" y="0"/>
              <a:ext cx="2194723" cy="1027721"/>
            </a:xfrm>
            <a:custGeom>
              <a:avLst/>
              <a:gdLst/>
              <a:ahLst/>
              <a:cxnLst/>
              <a:rect l="l" t="t" r="r" b="b"/>
              <a:pathLst>
                <a:path w="2194723" h="1027721" extrusionOk="0">
                  <a:moveTo>
                    <a:pt x="44474" y="0"/>
                  </a:moveTo>
                  <a:lnTo>
                    <a:pt x="2150249" y="0"/>
                  </a:lnTo>
                  <a:cubicBezTo>
                    <a:pt x="2174811" y="0"/>
                    <a:pt x="2194723" y="19912"/>
                    <a:pt x="2194723" y="44474"/>
                  </a:cubicBezTo>
                  <a:lnTo>
                    <a:pt x="2194723" y="983248"/>
                  </a:lnTo>
                  <a:cubicBezTo>
                    <a:pt x="2194723" y="1007810"/>
                    <a:pt x="2174811" y="1027721"/>
                    <a:pt x="2150249" y="1027721"/>
                  </a:cubicBezTo>
                  <a:lnTo>
                    <a:pt x="44474" y="1027721"/>
                  </a:lnTo>
                  <a:cubicBezTo>
                    <a:pt x="19912" y="1027721"/>
                    <a:pt x="0" y="1007810"/>
                    <a:pt x="0" y="983248"/>
                  </a:cubicBezTo>
                  <a:lnTo>
                    <a:pt x="0" y="44474"/>
                  </a:lnTo>
                  <a:cubicBezTo>
                    <a:pt x="0" y="19912"/>
                    <a:pt x="19912" y="0"/>
                    <a:pt x="44474"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926" name="Google Shape;926;p57"/>
            <p:cNvSpPr txBox="1"/>
            <p:nvPr/>
          </p:nvSpPr>
          <p:spPr>
            <a:xfrm>
              <a:off x="0" y="-57150"/>
              <a:ext cx="2194723" cy="1084871"/>
            </a:xfrm>
            <a:prstGeom prst="rect">
              <a:avLst/>
            </a:prstGeom>
            <a:noFill/>
            <a:ln>
              <a:noFill/>
            </a:ln>
          </p:spPr>
          <p:txBody>
            <a:bodyPr spcFirstLastPara="1" wrap="square" lIns="23025" tIns="23025" rIns="23025" bIns="23025" anchor="ctr" anchorCtr="0">
              <a:noAutofit/>
            </a:bodyPr>
            <a:lstStyle/>
            <a:p>
              <a:pPr marL="0" marR="0" lvl="0" indent="0" algn="ctr" rtl="0">
                <a:lnSpc>
                  <a:spcPct val="148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927" name="Google Shape;927;p57"/>
          <p:cNvGrpSpPr/>
          <p:nvPr/>
        </p:nvGrpSpPr>
        <p:grpSpPr>
          <a:xfrm>
            <a:off x="3267118" y="2568617"/>
            <a:ext cx="2611179" cy="1290729"/>
            <a:chOff x="0" y="-57150"/>
            <a:chExt cx="2194723" cy="1084871"/>
          </a:xfrm>
        </p:grpSpPr>
        <p:sp>
          <p:nvSpPr>
            <p:cNvPr id="928" name="Google Shape;928;p57"/>
            <p:cNvSpPr/>
            <p:nvPr/>
          </p:nvSpPr>
          <p:spPr>
            <a:xfrm>
              <a:off x="0" y="0"/>
              <a:ext cx="2194723" cy="1027721"/>
            </a:xfrm>
            <a:custGeom>
              <a:avLst/>
              <a:gdLst/>
              <a:ahLst/>
              <a:cxnLst/>
              <a:rect l="l" t="t" r="r" b="b"/>
              <a:pathLst>
                <a:path w="2194723" h="1027721" extrusionOk="0">
                  <a:moveTo>
                    <a:pt x="44474" y="0"/>
                  </a:moveTo>
                  <a:lnTo>
                    <a:pt x="2150249" y="0"/>
                  </a:lnTo>
                  <a:cubicBezTo>
                    <a:pt x="2174811" y="0"/>
                    <a:pt x="2194723" y="19912"/>
                    <a:pt x="2194723" y="44474"/>
                  </a:cubicBezTo>
                  <a:lnTo>
                    <a:pt x="2194723" y="983248"/>
                  </a:lnTo>
                  <a:cubicBezTo>
                    <a:pt x="2194723" y="1007810"/>
                    <a:pt x="2174811" y="1027721"/>
                    <a:pt x="2150249" y="1027721"/>
                  </a:cubicBezTo>
                  <a:lnTo>
                    <a:pt x="44474" y="1027721"/>
                  </a:lnTo>
                  <a:cubicBezTo>
                    <a:pt x="19912" y="1027721"/>
                    <a:pt x="0" y="1007810"/>
                    <a:pt x="0" y="983248"/>
                  </a:cubicBezTo>
                  <a:lnTo>
                    <a:pt x="0" y="44474"/>
                  </a:lnTo>
                  <a:cubicBezTo>
                    <a:pt x="0" y="19912"/>
                    <a:pt x="19912" y="0"/>
                    <a:pt x="44474"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929" name="Google Shape;929;p57"/>
            <p:cNvSpPr txBox="1"/>
            <p:nvPr/>
          </p:nvSpPr>
          <p:spPr>
            <a:xfrm>
              <a:off x="0" y="-57150"/>
              <a:ext cx="2194723" cy="1084871"/>
            </a:xfrm>
            <a:prstGeom prst="rect">
              <a:avLst/>
            </a:prstGeom>
            <a:noFill/>
            <a:ln>
              <a:noFill/>
            </a:ln>
          </p:spPr>
          <p:txBody>
            <a:bodyPr spcFirstLastPara="1" wrap="square" lIns="23025" tIns="23025" rIns="23025" bIns="23025" anchor="ctr" anchorCtr="0">
              <a:noAutofit/>
            </a:bodyPr>
            <a:lstStyle/>
            <a:p>
              <a:pPr marL="0" marR="0" lvl="0" indent="0" algn="ctr" rtl="0">
                <a:lnSpc>
                  <a:spcPct val="148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930" name="Google Shape;930;p57"/>
          <p:cNvGrpSpPr/>
          <p:nvPr/>
        </p:nvGrpSpPr>
        <p:grpSpPr>
          <a:xfrm>
            <a:off x="6015469" y="2570053"/>
            <a:ext cx="2611179" cy="1290729"/>
            <a:chOff x="0" y="-57150"/>
            <a:chExt cx="2194723" cy="1084871"/>
          </a:xfrm>
        </p:grpSpPr>
        <p:sp>
          <p:nvSpPr>
            <p:cNvPr id="931" name="Google Shape;931;p57"/>
            <p:cNvSpPr/>
            <p:nvPr/>
          </p:nvSpPr>
          <p:spPr>
            <a:xfrm>
              <a:off x="0" y="0"/>
              <a:ext cx="2194723" cy="1027721"/>
            </a:xfrm>
            <a:custGeom>
              <a:avLst/>
              <a:gdLst/>
              <a:ahLst/>
              <a:cxnLst/>
              <a:rect l="l" t="t" r="r" b="b"/>
              <a:pathLst>
                <a:path w="2194723" h="1027721" extrusionOk="0">
                  <a:moveTo>
                    <a:pt x="44474" y="0"/>
                  </a:moveTo>
                  <a:lnTo>
                    <a:pt x="2150249" y="0"/>
                  </a:lnTo>
                  <a:cubicBezTo>
                    <a:pt x="2174811" y="0"/>
                    <a:pt x="2194723" y="19912"/>
                    <a:pt x="2194723" y="44474"/>
                  </a:cubicBezTo>
                  <a:lnTo>
                    <a:pt x="2194723" y="983248"/>
                  </a:lnTo>
                  <a:cubicBezTo>
                    <a:pt x="2194723" y="1007810"/>
                    <a:pt x="2174811" y="1027721"/>
                    <a:pt x="2150249" y="1027721"/>
                  </a:cubicBezTo>
                  <a:lnTo>
                    <a:pt x="44474" y="1027721"/>
                  </a:lnTo>
                  <a:cubicBezTo>
                    <a:pt x="19912" y="1027721"/>
                    <a:pt x="0" y="1007810"/>
                    <a:pt x="0" y="983248"/>
                  </a:cubicBezTo>
                  <a:lnTo>
                    <a:pt x="0" y="44474"/>
                  </a:lnTo>
                  <a:cubicBezTo>
                    <a:pt x="0" y="19912"/>
                    <a:pt x="19912" y="0"/>
                    <a:pt x="44474"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932" name="Google Shape;932;p57"/>
            <p:cNvSpPr txBox="1"/>
            <p:nvPr/>
          </p:nvSpPr>
          <p:spPr>
            <a:xfrm>
              <a:off x="0" y="-57150"/>
              <a:ext cx="2194723" cy="1084871"/>
            </a:xfrm>
            <a:prstGeom prst="rect">
              <a:avLst/>
            </a:prstGeom>
            <a:noFill/>
            <a:ln>
              <a:noFill/>
            </a:ln>
          </p:spPr>
          <p:txBody>
            <a:bodyPr spcFirstLastPara="1" wrap="square" lIns="23025" tIns="23025" rIns="23025" bIns="23025" anchor="ctr" anchorCtr="0">
              <a:noAutofit/>
            </a:bodyPr>
            <a:lstStyle/>
            <a:p>
              <a:pPr marL="0" marR="0" lvl="0" indent="0" algn="ctr" rtl="0">
                <a:lnSpc>
                  <a:spcPct val="148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933" name="Google Shape;933;p57"/>
          <p:cNvGrpSpPr/>
          <p:nvPr/>
        </p:nvGrpSpPr>
        <p:grpSpPr>
          <a:xfrm>
            <a:off x="3290782" y="881362"/>
            <a:ext cx="5358390" cy="643288"/>
            <a:chOff x="0" y="-223503"/>
            <a:chExt cx="14289040" cy="1715433"/>
          </a:xfrm>
        </p:grpSpPr>
        <p:grpSp>
          <p:nvGrpSpPr>
            <p:cNvPr id="934" name="Google Shape;934;p57"/>
            <p:cNvGrpSpPr/>
            <p:nvPr/>
          </p:nvGrpSpPr>
          <p:grpSpPr>
            <a:xfrm>
              <a:off x="0" y="-223503"/>
              <a:ext cx="6936401" cy="1699509"/>
              <a:chOff x="0" y="-76200"/>
              <a:chExt cx="2364863" cy="579423"/>
            </a:xfrm>
          </p:grpSpPr>
          <p:sp>
            <p:nvSpPr>
              <p:cNvPr id="935" name="Google Shape;935;p57"/>
              <p:cNvSpPr/>
              <p:nvPr/>
            </p:nvSpPr>
            <p:spPr>
              <a:xfrm>
                <a:off x="0" y="0"/>
                <a:ext cx="2364863" cy="503223"/>
              </a:xfrm>
              <a:custGeom>
                <a:avLst/>
                <a:gdLst/>
                <a:ahLst/>
                <a:cxnLst/>
                <a:rect l="l" t="t" r="r" b="b"/>
                <a:pathLst>
                  <a:path w="2364863" h="503223" extrusionOk="0">
                    <a:moveTo>
                      <a:pt x="148817" y="0"/>
                    </a:moveTo>
                    <a:lnTo>
                      <a:pt x="2216046" y="0"/>
                    </a:lnTo>
                    <a:cubicBezTo>
                      <a:pt x="2255515" y="0"/>
                      <a:pt x="2293367" y="15679"/>
                      <a:pt x="2321276" y="43588"/>
                    </a:cubicBezTo>
                    <a:cubicBezTo>
                      <a:pt x="2349185" y="71496"/>
                      <a:pt x="2364863" y="109348"/>
                      <a:pt x="2364863" y="148817"/>
                    </a:cubicBezTo>
                    <a:lnTo>
                      <a:pt x="2364863" y="354405"/>
                    </a:lnTo>
                    <a:cubicBezTo>
                      <a:pt x="2364863" y="393874"/>
                      <a:pt x="2349185" y="431726"/>
                      <a:pt x="2321276" y="459635"/>
                    </a:cubicBezTo>
                    <a:cubicBezTo>
                      <a:pt x="2293367" y="487544"/>
                      <a:pt x="2255515" y="503223"/>
                      <a:pt x="2216046" y="503223"/>
                    </a:cubicBezTo>
                    <a:lnTo>
                      <a:pt x="148817" y="503223"/>
                    </a:lnTo>
                    <a:cubicBezTo>
                      <a:pt x="109348" y="503223"/>
                      <a:pt x="71496" y="487544"/>
                      <a:pt x="43588" y="459635"/>
                    </a:cubicBezTo>
                    <a:cubicBezTo>
                      <a:pt x="15679" y="431726"/>
                      <a:pt x="0" y="393874"/>
                      <a:pt x="0" y="354405"/>
                    </a:cubicBezTo>
                    <a:lnTo>
                      <a:pt x="0" y="148817"/>
                    </a:lnTo>
                    <a:cubicBezTo>
                      <a:pt x="0" y="109348"/>
                      <a:pt x="15679" y="71496"/>
                      <a:pt x="43588" y="43588"/>
                    </a:cubicBezTo>
                    <a:cubicBezTo>
                      <a:pt x="71496" y="15679"/>
                      <a:pt x="109348" y="0"/>
                      <a:pt x="148817"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936" name="Google Shape;936;p57"/>
              <p:cNvSpPr txBox="1"/>
              <p:nvPr/>
            </p:nvSpPr>
            <p:spPr>
              <a:xfrm>
                <a:off x="0" y="-76200"/>
                <a:ext cx="2364863" cy="579423"/>
              </a:xfrm>
              <a:prstGeom prst="rect">
                <a:avLst/>
              </a:prstGeom>
              <a:noFill/>
              <a:ln>
                <a:noFill/>
              </a:ln>
            </p:spPr>
            <p:txBody>
              <a:bodyPr spcFirstLastPara="1" wrap="square" lIns="23975" tIns="23975" rIns="23975" bIns="23975"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6F6F6"/>
                    </a:solidFill>
                    <a:latin typeface="Poppins" panose="00000800000000000000"/>
                    <a:ea typeface="Poppins" panose="00000800000000000000"/>
                    <a:cs typeface="Poppins" panose="00000800000000000000"/>
                    <a:sym typeface="Poppins" panose="00000800000000000000"/>
                  </a:rPr>
                  <a:t>How to combine tags？</a:t>
                </a:r>
                <a:endParaRPr sz="700"/>
              </a:p>
            </p:txBody>
          </p:sp>
        </p:grpSp>
        <p:grpSp>
          <p:nvGrpSpPr>
            <p:cNvPr id="937" name="Google Shape;937;p57"/>
            <p:cNvGrpSpPr/>
            <p:nvPr/>
          </p:nvGrpSpPr>
          <p:grpSpPr>
            <a:xfrm>
              <a:off x="7352639" y="-223503"/>
              <a:ext cx="6936401" cy="1715433"/>
              <a:chOff x="0" y="-76200"/>
              <a:chExt cx="2364863" cy="584852"/>
            </a:xfrm>
          </p:grpSpPr>
          <p:sp>
            <p:nvSpPr>
              <p:cNvPr id="938" name="Google Shape;938;p57"/>
              <p:cNvSpPr/>
              <p:nvPr/>
            </p:nvSpPr>
            <p:spPr>
              <a:xfrm>
                <a:off x="0" y="0"/>
                <a:ext cx="2364863" cy="508652"/>
              </a:xfrm>
              <a:custGeom>
                <a:avLst/>
                <a:gdLst/>
                <a:ahLst/>
                <a:cxnLst/>
                <a:rect l="l" t="t" r="r" b="b"/>
                <a:pathLst>
                  <a:path w="2364863" h="508652" extrusionOk="0">
                    <a:moveTo>
                      <a:pt x="148817" y="0"/>
                    </a:moveTo>
                    <a:lnTo>
                      <a:pt x="2216046" y="0"/>
                    </a:lnTo>
                    <a:cubicBezTo>
                      <a:pt x="2255515" y="0"/>
                      <a:pt x="2293367" y="15679"/>
                      <a:pt x="2321276" y="43588"/>
                    </a:cubicBezTo>
                    <a:cubicBezTo>
                      <a:pt x="2349185" y="71496"/>
                      <a:pt x="2364863" y="109348"/>
                      <a:pt x="2364863" y="148817"/>
                    </a:cubicBezTo>
                    <a:lnTo>
                      <a:pt x="2364863" y="359834"/>
                    </a:lnTo>
                    <a:cubicBezTo>
                      <a:pt x="2364863" y="399303"/>
                      <a:pt x="2349185" y="437155"/>
                      <a:pt x="2321276" y="465064"/>
                    </a:cubicBezTo>
                    <a:cubicBezTo>
                      <a:pt x="2293367" y="492973"/>
                      <a:pt x="2255515" y="508652"/>
                      <a:pt x="2216046" y="508652"/>
                    </a:cubicBezTo>
                    <a:lnTo>
                      <a:pt x="148817" y="508652"/>
                    </a:lnTo>
                    <a:cubicBezTo>
                      <a:pt x="109348" y="508652"/>
                      <a:pt x="71496" y="492973"/>
                      <a:pt x="43588" y="465064"/>
                    </a:cubicBezTo>
                    <a:cubicBezTo>
                      <a:pt x="15679" y="437155"/>
                      <a:pt x="0" y="399303"/>
                      <a:pt x="0" y="359834"/>
                    </a:cubicBezTo>
                    <a:lnTo>
                      <a:pt x="0" y="148817"/>
                    </a:lnTo>
                    <a:cubicBezTo>
                      <a:pt x="0" y="109348"/>
                      <a:pt x="15679" y="71496"/>
                      <a:pt x="43588" y="43588"/>
                    </a:cubicBezTo>
                    <a:cubicBezTo>
                      <a:pt x="71496" y="15679"/>
                      <a:pt x="109348" y="0"/>
                      <a:pt x="148817"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939" name="Google Shape;939;p57"/>
              <p:cNvSpPr txBox="1"/>
              <p:nvPr/>
            </p:nvSpPr>
            <p:spPr>
              <a:xfrm>
                <a:off x="0" y="-76200"/>
                <a:ext cx="2364863" cy="584852"/>
              </a:xfrm>
              <a:prstGeom prst="rect">
                <a:avLst/>
              </a:prstGeom>
              <a:noFill/>
              <a:ln>
                <a:noFill/>
              </a:ln>
            </p:spPr>
            <p:txBody>
              <a:bodyPr spcFirstLastPara="1" wrap="square" lIns="23975" tIns="23975" rIns="23975" bIns="23975"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6F6F6"/>
                    </a:solidFill>
                    <a:latin typeface="Poppins" panose="00000800000000000000"/>
                    <a:ea typeface="Poppins" panose="00000800000000000000"/>
                    <a:cs typeface="Poppins" panose="00000800000000000000"/>
                    <a:sym typeface="Poppins" panose="00000800000000000000"/>
                  </a:rPr>
                  <a:t>How many tags to use？</a:t>
                </a:r>
                <a:endParaRPr sz="700"/>
              </a:p>
            </p:txBody>
          </p:sp>
        </p:grpSp>
      </p:grpSp>
      <p:grpSp>
        <p:nvGrpSpPr>
          <p:cNvPr id="940" name="Google Shape;940;p57"/>
          <p:cNvGrpSpPr/>
          <p:nvPr/>
        </p:nvGrpSpPr>
        <p:grpSpPr>
          <a:xfrm>
            <a:off x="494828" y="881362"/>
            <a:ext cx="2601151" cy="643288"/>
            <a:chOff x="0" y="-76200"/>
            <a:chExt cx="2364863" cy="584852"/>
          </a:xfrm>
        </p:grpSpPr>
        <p:sp>
          <p:nvSpPr>
            <p:cNvPr id="941" name="Google Shape;941;p57"/>
            <p:cNvSpPr/>
            <p:nvPr/>
          </p:nvSpPr>
          <p:spPr>
            <a:xfrm>
              <a:off x="0" y="0"/>
              <a:ext cx="2364863" cy="508652"/>
            </a:xfrm>
            <a:custGeom>
              <a:avLst/>
              <a:gdLst/>
              <a:ahLst/>
              <a:cxnLst/>
              <a:rect l="l" t="t" r="r" b="b"/>
              <a:pathLst>
                <a:path w="2364863" h="508652" extrusionOk="0">
                  <a:moveTo>
                    <a:pt x="148817" y="0"/>
                  </a:moveTo>
                  <a:lnTo>
                    <a:pt x="2216046" y="0"/>
                  </a:lnTo>
                  <a:cubicBezTo>
                    <a:pt x="2255515" y="0"/>
                    <a:pt x="2293367" y="15679"/>
                    <a:pt x="2321276" y="43588"/>
                  </a:cubicBezTo>
                  <a:cubicBezTo>
                    <a:pt x="2349185" y="71496"/>
                    <a:pt x="2364863" y="109348"/>
                    <a:pt x="2364863" y="148817"/>
                  </a:cubicBezTo>
                  <a:lnTo>
                    <a:pt x="2364863" y="359834"/>
                  </a:lnTo>
                  <a:cubicBezTo>
                    <a:pt x="2364863" y="399303"/>
                    <a:pt x="2349185" y="437155"/>
                    <a:pt x="2321276" y="465064"/>
                  </a:cubicBezTo>
                  <a:cubicBezTo>
                    <a:pt x="2293367" y="492973"/>
                    <a:pt x="2255515" y="508652"/>
                    <a:pt x="2216046" y="508652"/>
                  </a:cubicBezTo>
                  <a:lnTo>
                    <a:pt x="148817" y="508652"/>
                  </a:lnTo>
                  <a:cubicBezTo>
                    <a:pt x="109348" y="508652"/>
                    <a:pt x="71496" y="492973"/>
                    <a:pt x="43588" y="465064"/>
                  </a:cubicBezTo>
                  <a:cubicBezTo>
                    <a:pt x="15679" y="437155"/>
                    <a:pt x="0" y="399303"/>
                    <a:pt x="0" y="359834"/>
                  </a:cubicBezTo>
                  <a:lnTo>
                    <a:pt x="0" y="148817"/>
                  </a:lnTo>
                  <a:cubicBezTo>
                    <a:pt x="0" y="109348"/>
                    <a:pt x="15679" y="71496"/>
                    <a:pt x="43588" y="43588"/>
                  </a:cubicBezTo>
                  <a:cubicBezTo>
                    <a:pt x="71496" y="15679"/>
                    <a:pt x="109348" y="0"/>
                    <a:pt x="148817" y="0"/>
                  </a:cubicBezTo>
                  <a:close/>
                </a:path>
              </a:pathLst>
            </a:custGeom>
            <a:solidFill>
              <a:srgbClr val="BB2117"/>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942" name="Google Shape;942;p57"/>
            <p:cNvSpPr txBox="1"/>
            <p:nvPr/>
          </p:nvSpPr>
          <p:spPr>
            <a:xfrm>
              <a:off x="0" y="-76200"/>
              <a:ext cx="2364863" cy="584852"/>
            </a:xfrm>
            <a:prstGeom prst="rect">
              <a:avLst/>
            </a:prstGeom>
            <a:noFill/>
            <a:ln>
              <a:noFill/>
            </a:ln>
          </p:spPr>
          <p:txBody>
            <a:bodyPr spcFirstLastPara="1" wrap="square" lIns="23975" tIns="23975" rIns="23975" bIns="23975" anchor="ctr" anchorCtr="0">
              <a:noAutofit/>
            </a:bodyPr>
            <a:lstStyle/>
            <a:p>
              <a:pPr marL="0" marR="0" lvl="0" indent="0" algn="ctr" rtl="0">
                <a:lnSpc>
                  <a:spcPct val="140000"/>
                </a:lnSpc>
                <a:spcBef>
                  <a:spcPts val="0"/>
                </a:spcBef>
                <a:spcAft>
                  <a:spcPts val="0"/>
                </a:spcAft>
                <a:buNone/>
              </a:pPr>
              <a:r>
                <a:rPr lang="en-GB" sz="1400" b="1" i="0" u="none" strike="noStrike" cap="none">
                  <a:solidFill>
                    <a:srgbClr val="F6F6F6"/>
                  </a:solidFill>
                  <a:latin typeface="Poppins" panose="00000800000000000000"/>
                  <a:ea typeface="Poppins" panose="00000800000000000000"/>
                  <a:cs typeface="Poppins" panose="00000800000000000000"/>
                  <a:sym typeface="Poppins" panose="00000800000000000000"/>
                </a:rPr>
                <a:t>What tags to use？</a:t>
              </a:r>
              <a:endParaRPr sz="700"/>
            </a:p>
          </p:txBody>
        </p:sp>
      </p:grpSp>
      <p:sp>
        <p:nvSpPr>
          <p:cNvPr id="943" name="Google Shape;943;p57"/>
          <p:cNvSpPr txBox="1"/>
          <p:nvPr/>
        </p:nvSpPr>
        <p:spPr>
          <a:xfrm>
            <a:off x="832337" y="2204039"/>
            <a:ext cx="1981209" cy="2253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300" b="1" i="0" u="none" strike="noStrike" cap="none">
                <a:solidFill>
                  <a:srgbClr val="F6F6F6"/>
                </a:solidFill>
                <a:latin typeface="Poppins" panose="00000800000000000000"/>
                <a:ea typeface="Poppins" panose="00000800000000000000"/>
                <a:cs typeface="Poppins" panose="00000800000000000000"/>
                <a:sym typeface="Poppins" panose="00000800000000000000"/>
              </a:rPr>
              <a:t>BORCELLE UNIVERSITY</a:t>
            </a:r>
            <a:endParaRPr sz="700"/>
          </a:p>
        </p:txBody>
      </p:sp>
      <p:sp>
        <p:nvSpPr>
          <p:cNvPr id="944" name="Google Shape;944;p57"/>
          <p:cNvSpPr txBox="1"/>
          <p:nvPr/>
        </p:nvSpPr>
        <p:spPr>
          <a:xfrm>
            <a:off x="3582103" y="2202602"/>
            <a:ext cx="1981209" cy="2253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300" b="1" i="0" u="none" strike="noStrike" cap="none">
                <a:solidFill>
                  <a:srgbClr val="F6F6F6"/>
                </a:solidFill>
                <a:latin typeface="Poppins" panose="00000800000000000000"/>
                <a:ea typeface="Poppins" panose="00000800000000000000"/>
                <a:cs typeface="Poppins" panose="00000800000000000000"/>
                <a:sym typeface="Poppins" panose="00000800000000000000"/>
              </a:rPr>
              <a:t>LICERIA UNIVERSITY</a:t>
            </a:r>
            <a:endParaRPr sz="700"/>
          </a:p>
        </p:txBody>
      </p:sp>
      <p:sp>
        <p:nvSpPr>
          <p:cNvPr id="945" name="Google Shape;945;p57"/>
          <p:cNvSpPr txBox="1"/>
          <p:nvPr/>
        </p:nvSpPr>
        <p:spPr>
          <a:xfrm>
            <a:off x="6330454" y="2204039"/>
            <a:ext cx="1981209" cy="2253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300" b="1" i="0" u="none" strike="noStrike" cap="none">
                <a:solidFill>
                  <a:srgbClr val="F6F6F6"/>
                </a:solidFill>
                <a:latin typeface="Poppins" panose="00000800000000000000"/>
                <a:ea typeface="Poppins" panose="00000800000000000000"/>
                <a:cs typeface="Poppins" panose="00000800000000000000"/>
                <a:sym typeface="Poppins" panose="00000800000000000000"/>
              </a:rPr>
              <a:t>WARDIERE UNIVERSITY</a:t>
            </a:r>
            <a:endParaRPr sz="700"/>
          </a:p>
        </p:txBody>
      </p:sp>
      <p:sp>
        <p:nvSpPr>
          <p:cNvPr id="946" name="Google Shape;946;p57"/>
          <p:cNvSpPr txBox="1"/>
          <p:nvPr/>
        </p:nvSpPr>
        <p:spPr>
          <a:xfrm>
            <a:off x="1263213" y="2751496"/>
            <a:ext cx="1119458" cy="2124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200" b="1" i="0" u="none" strike="noStrike" cap="none">
                <a:solidFill>
                  <a:srgbClr val="F6F6F6"/>
                </a:solidFill>
                <a:latin typeface="Poppins" panose="00000800000000000000"/>
                <a:ea typeface="Poppins" panose="00000800000000000000"/>
                <a:cs typeface="Poppins" panose="00000800000000000000"/>
                <a:sym typeface="Poppins" panose="00000800000000000000"/>
              </a:rPr>
              <a:t>2019 - 2020</a:t>
            </a:r>
            <a:endParaRPr sz="700"/>
          </a:p>
        </p:txBody>
      </p:sp>
      <p:sp>
        <p:nvSpPr>
          <p:cNvPr id="947" name="Google Shape;947;p57"/>
          <p:cNvSpPr txBox="1"/>
          <p:nvPr/>
        </p:nvSpPr>
        <p:spPr>
          <a:xfrm>
            <a:off x="727927" y="3058426"/>
            <a:ext cx="2190029" cy="62509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700" b="0" i="0" u="none" strike="noStrike" cap="none">
                <a:solidFill>
                  <a:srgbClr val="F6F6F6"/>
                </a:solidFill>
                <a:latin typeface="Poppins" panose="00000800000000000000"/>
                <a:ea typeface="Poppins" panose="00000800000000000000"/>
                <a:cs typeface="Poppins" panose="00000800000000000000"/>
                <a:sym typeface="Poppins" panose="00000800000000000000"/>
              </a:rPr>
              <a:t>Lorem ipsum dolor sit amet, consectetur adipiscing elit. Phasellus egestas lorem at felis mattis, nec pretium eros laoreet. Integer venenatis felis at sapien convallis facilisis. Proin luctus nulla a bibendum commodo.</a:t>
            </a:r>
            <a:endParaRPr sz="700"/>
          </a:p>
        </p:txBody>
      </p:sp>
      <p:sp>
        <p:nvSpPr>
          <p:cNvPr id="948" name="Google Shape;948;p57"/>
          <p:cNvSpPr txBox="1"/>
          <p:nvPr/>
        </p:nvSpPr>
        <p:spPr>
          <a:xfrm>
            <a:off x="4012979" y="2750059"/>
            <a:ext cx="1119458" cy="2124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200" b="1" i="0" u="none" strike="noStrike" cap="none">
                <a:solidFill>
                  <a:srgbClr val="F6F6F6"/>
                </a:solidFill>
                <a:latin typeface="Poppins" panose="00000800000000000000"/>
                <a:ea typeface="Poppins" panose="00000800000000000000"/>
                <a:cs typeface="Poppins" panose="00000800000000000000"/>
                <a:sym typeface="Poppins" panose="00000800000000000000"/>
              </a:rPr>
              <a:t>2019 - 2020</a:t>
            </a:r>
            <a:endParaRPr sz="700"/>
          </a:p>
        </p:txBody>
      </p:sp>
      <p:sp>
        <p:nvSpPr>
          <p:cNvPr id="949" name="Google Shape;949;p57"/>
          <p:cNvSpPr txBox="1"/>
          <p:nvPr/>
        </p:nvSpPr>
        <p:spPr>
          <a:xfrm>
            <a:off x="3477693" y="3056990"/>
            <a:ext cx="2190029" cy="62509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700" b="0" i="0" u="none" strike="noStrike" cap="none">
                <a:solidFill>
                  <a:srgbClr val="F6F6F6"/>
                </a:solidFill>
                <a:latin typeface="Poppins" panose="00000800000000000000"/>
                <a:ea typeface="Poppins" panose="00000800000000000000"/>
                <a:cs typeface="Poppins" panose="00000800000000000000"/>
                <a:sym typeface="Poppins" panose="00000800000000000000"/>
              </a:rPr>
              <a:t>Lorem ipsum dolor sit amet, consectetur adipiscing elit. Phasellus egestas lorem at felis mattis, nec pretium eros laoreet. Integer venenatis felis at sapien convallis facilisis. Proin luctus nulla a bibendum commodo.</a:t>
            </a:r>
            <a:endParaRPr sz="700"/>
          </a:p>
        </p:txBody>
      </p:sp>
      <p:sp>
        <p:nvSpPr>
          <p:cNvPr id="950" name="Google Shape;950;p57"/>
          <p:cNvSpPr txBox="1"/>
          <p:nvPr/>
        </p:nvSpPr>
        <p:spPr>
          <a:xfrm>
            <a:off x="6761330" y="2751496"/>
            <a:ext cx="1119457" cy="2124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200" b="1" i="0" u="none" strike="noStrike" cap="none">
                <a:solidFill>
                  <a:srgbClr val="F6F6F6"/>
                </a:solidFill>
                <a:latin typeface="Poppins" panose="00000800000000000000"/>
                <a:ea typeface="Poppins" panose="00000800000000000000"/>
                <a:cs typeface="Poppins" panose="00000800000000000000"/>
                <a:sym typeface="Poppins" panose="00000800000000000000"/>
              </a:rPr>
              <a:t>2019 - 2020</a:t>
            </a:r>
            <a:endParaRPr sz="700"/>
          </a:p>
        </p:txBody>
      </p:sp>
      <p:sp>
        <p:nvSpPr>
          <p:cNvPr id="951" name="Google Shape;951;p57"/>
          <p:cNvSpPr txBox="1"/>
          <p:nvPr/>
        </p:nvSpPr>
        <p:spPr>
          <a:xfrm>
            <a:off x="6226044" y="3058426"/>
            <a:ext cx="2190029" cy="62509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700" b="0" i="0" u="none" strike="noStrike" cap="none">
                <a:solidFill>
                  <a:srgbClr val="F6F6F6"/>
                </a:solidFill>
                <a:latin typeface="Poppins" panose="00000800000000000000"/>
                <a:ea typeface="Poppins" panose="00000800000000000000"/>
                <a:cs typeface="Poppins" panose="00000800000000000000"/>
                <a:sym typeface="Poppins" panose="00000800000000000000"/>
              </a:rPr>
              <a:t>Lorem ipsum dolor sit amet, consectetur adipiscing elit. Phasellus egestas lorem at felis mattis, nec pretium eros laoreet. Integer venenatis felis at sapien convallis facilisis. Proin luctus nulla a bibendum commodo.</a:t>
            </a:r>
            <a:endParaRPr sz="700"/>
          </a:p>
        </p:txBody>
      </p:sp>
      <p:sp>
        <p:nvSpPr>
          <p:cNvPr id="952" name="Google Shape;952;p57"/>
          <p:cNvSpPr txBox="1"/>
          <p:nvPr/>
        </p:nvSpPr>
        <p:spPr>
          <a:xfrm>
            <a:off x="514350" y="4441727"/>
            <a:ext cx="1283618" cy="19589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1100" b="0" i="0" u="none" strike="noStrike" cap="none">
                <a:solidFill>
                  <a:srgbClr val="000000"/>
                </a:solidFill>
                <a:latin typeface="Poppins" panose="00000800000000000000"/>
                <a:ea typeface="Poppins" panose="00000800000000000000"/>
                <a:cs typeface="Poppins" panose="00000800000000000000"/>
                <a:sym typeface="Poppins" panose="00000800000000000000"/>
              </a:rPr>
              <a:t>Olivia Wilson</a:t>
            </a:r>
            <a:endParaRPr sz="700"/>
          </a:p>
        </p:txBody>
      </p:sp>
      <p:sp>
        <p:nvSpPr>
          <p:cNvPr id="953" name="Google Shape;953;p57"/>
          <p:cNvSpPr txBox="1"/>
          <p:nvPr/>
        </p:nvSpPr>
        <p:spPr>
          <a:xfrm>
            <a:off x="8144560" y="495342"/>
            <a:ext cx="485090" cy="225822"/>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GB" sz="1200" b="1" i="0" u="none" strike="noStrike" cap="none">
                <a:solidFill>
                  <a:srgbClr val="000000"/>
                </a:solidFill>
                <a:latin typeface="Poppins" panose="00000800000000000000"/>
                <a:ea typeface="Poppins" panose="00000800000000000000"/>
                <a:cs typeface="Poppins" panose="00000800000000000000"/>
                <a:sym typeface="Poppins" panose="00000800000000000000"/>
              </a:rPr>
              <a:t>06</a:t>
            </a:r>
            <a:endParaRPr sz="700"/>
          </a:p>
        </p:txBody>
      </p:sp>
      <p:sp>
        <p:nvSpPr>
          <p:cNvPr id="954" name="Google Shape;954;p57"/>
          <p:cNvSpPr txBox="1"/>
          <p:nvPr/>
        </p:nvSpPr>
        <p:spPr>
          <a:xfrm>
            <a:off x="6914732" y="4462394"/>
            <a:ext cx="1714918" cy="154893"/>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GB" sz="800" b="0" i="0" u="none" strike="noStrike" cap="none">
                <a:solidFill>
                  <a:srgbClr val="000000"/>
                </a:solidFill>
                <a:latin typeface="Poppins" panose="00000800000000000000"/>
                <a:ea typeface="Poppins" panose="00000800000000000000"/>
                <a:cs typeface="Poppins" panose="00000800000000000000"/>
                <a:sym typeface="Poppins" panose="00000800000000000000"/>
              </a:rPr>
              <a:t>www.reallygreatsite.com</a:t>
            </a:r>
            <a:endParaRPr sz="700"/>
          </a:p>
        </p:txBody>
      </p:sp>
      <p:sp>
        <p:nvSpPr>
          <p:cNvPr id="955" name="Google Shape;955;p57"/>
          <p:cNvSpPr txBox="1"/>
          <p:nvPr/>
        </p:nvSpPr>
        <p:spPr>
          <a:xfrm>
            <a:off x="494829" y="386797"/>
            <a:ext cx="2857915" cy="48101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3200" b="1" i="0" u="none" strike="noStrike" cap="none">
                <a:solidFill>
                  <a:srgbClr val="000000"/>
                </a:solidFill>
                <a:latin typeface="Ultra"/>
                <a:ea typeface="Ultra"/>
                <a:cs typeface="Ultra"/>
                <a:sym typeface="Ultra"/>
              </a:rPr>
              <a:t>Tag strategy</a:t>
            </a:r>
            <a:endParaRPr sz="700"/>
          </a:p>
        </p:txBody>
      </p:sp>
    </p:spTree>
  </p:cSld>
  <p:clrMapOvr>
    <a:masterClrMapping/>
  </p:clrMapOvr>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17877</Words>
  <Application>WPS 演示</Application>
  <PresentationFormat/>
  <Paragraphs>897</Paragraphs>
  <Slides>43</Slides>
  <Notes>0</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43</vt:i4>
      </vt:variant>
    </vt:vector>
  </HeadingPairs>
  <TitlesOfParts>
    <vt:vector size="68" baseType="lpstr">
      <vt:lpstr>Arial</vt:lpstr>
      <vt:lpstr>宋体</vt:lpstr>
      <vt:lpstr>Wingdings</vt:lpstr>
      <vt:lpstr>Arial</vt:lpstr>
      <vt:lpstr>Calibri</vt:lpstr>
      <vt:lpstr>Helvetica Neue</vt:lpstr>
      <vt:lpstr>Ultra</vt:lpstr>
      <vt:lpstr>Arimo</vt:lpstr>
      <vt:lpstr>微软雅黑</vt:lpstr>
      <vt:lpstr>方正雅意黑 GB18030L2</vt:lpstr>
      <vt:lpstr>宋体</vt:lpstr>
      <vt:lpstr>Arial Unicode MS</vt:lpstr>
      <vt:lpstr>汉仪书宋二KW</vt:lpstr>
      <vt:lpstr>Roboto Mono</vt:lpstr>
      <vt:lpstr>Poppins</vt:lpstr>
      <vt:lpstr>Times New Roman</vt:lpstr>
      <vt:lpstr>Thonburi</vt:lpstr>
      <vt:lpstr>Arimo</vt:lpstr>
      <vt:lpstr>Poppins</vt:lpstr>
      <vt:lpstr>Roboto Mono</vt:lpstr>
      <vt:lpstr>Times New Roman</vt:lpstr>
      <vt:lpstr>Ultra</vt:lpstr>
      <vt:lpstr>苹方-简</vt:lpstr>
      <vt:lpstr>Simple Light</vt:lpstr>
      <vt:lpstr>Custom</vt:lpstr>
      <vt:lpstr>Youtube analysis - Micro creators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Data Suitability</vt:lpstr>
      <vt:lpstr>Sample Composition</vt:lpstr>
      <vt:lpstr>Preprocessing Pipeline</vt:lpstr>
      <vt:lpstr>Log Transform: Before vs. After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YouTube Market Segmentation: Uncovering Creator Dynamics</vt:lpstr>
      <vt:lpstr>The Creator Growth Roadmap: Strategic Pivot Points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Youtube analysis - Micro creators</dc:title>
  <dc:creator/>
  <cp:lastModifiedBy>kylinhwang</cp:lastModifiedBy>
  <cp:revision>1</cp:revision>
  <dcterms:created xsi:type="dcterms:W3CDTF">2026-10-07T01:39:18Z</dcterms:created>
  <dcterms:modified xsi:type="dcterms:W3CDTF">2026-10-07T01:39:18Z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62A5F8FDDD50008EC6A2C56ACAFD3C61_42</vt:lpwstr>
  </property>
  <property fmtid="{D5CDD505-2E9C-101B-9397-08002B2CF9AE}" pid="3" name="KSOProductBuildVer">
    <vt:lpwstr>2052-12.1.26046.26046</vt:lpwstr>
  </property>
</Properties>
</file>